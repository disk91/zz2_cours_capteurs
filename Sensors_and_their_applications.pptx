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</p:sldIdLst>
  <p:notesMasterIdLst>
    <p:notesMasterId r:id="rId33"/>
  </p:notesMasterIdLst>
  <p:sldSz cx="18288000" cy="10287000"/>
  <p:notesSz cx="10287000" cy="1828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notesMaster" Target="notesMasters/notesMaster1.xml"/><Relationship Id="rId34" Type="http://schemas.openxmlformats.org/officeDocument/2006/relationships/presProps" Target="presProps.xml"/><Relationship Id="rId35" Type="http://schemas.openxmlformats.org/officeDocument/2006/relationships/viewProps" Target="viewProps.xml"/><Relationship Id="rId36" Type="http://schemas.openxmlformats.org/officeDocument/2006/relationships/theme" Target="theme/theme1.xml"/><Relationship Id="rId3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image" Target="../media/image-1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8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049000" y="0"/>
            <a:ext cx="7239000" cy="10287000"/>
          </a:xfrm>
          <a:prstGeom prst="rect">
            <a:avLst/>
          </a:prstGeom>
          <a:solidFill>
            <a:srgbClr val="D7263D"/>
          </a:solidFill>
          <a:ln/>
        </p:spPr>
      </p:sp>
      <p:sp>
        <p:nvSpPr>
          <p:cNvPr id="3" name="Shape 1"/>
          <p:cNvSpPr/>
          <p:nvPr/>
        </p:nvSpPr>
        <p:spPr>
          <a:xfrm>
            <a:off x="14287500" y="1143000"/>
            <a:ext cx="2857500" cy="2857500"/>
          </a:xfrm>
          <a:prstGeom prst="ellipse">
            <a:avLst/>
          </a:prstGeom>
          <a:ln w="254000">
            <a:solidFill>
              <a:srgbClr val="FFB3A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6687800" y="4572000"/>
            <a:ext cx="685800" cy="685800"/>
          </a:xfrm>
          <a:prstGeom prst="ellipse">
            <a:avLst/>
          </a:prstGeom>
          <a:solidFill>
            <a:srgbClr val="FFF8F2"/>
          </a:solidFill>
          <a:ln/>
        </p:spPr>
      </p:sp>
      <p:sp>
        <p:nvSpPr>
          <p:cNvPr id="5" name="Shape 3"/>
          <p:cNvSpPr/>
          <p:nvPr/>
        </p:nvSpPr>
        <p:spPr>
          <a:xfrm>
            <a:off x="8763000" y="6096000"/>
            <a:ext cx="6477000" cy="6477000"/>
          </a:xfrm>
          <a:prstGeom prst="ellipse">
            <a:avLst/>
          </a:prstGeom>
          <a:solidFill>
            <a:srgbClr val="FF9E2C"/>
          </a:solidFill>
          <a:ln/>
        </p:spPr>
      </p:sp>
      <p:sp>
        <p:nvSpPr>
          <p:cNvPr id="6" name="Text 4"/>
          <p:cNvSpPr/>
          <p:nvPr/>
        </p:nvSpPr>
        <p:spPr>
          <a:xfrm>
            <a:off x="1333500" y="914400"/>
            <a:ext cx="4932119" cy="4048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D7263D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Sensors &amp; embedded systems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1333500" y="2326481"/>
            <a:ext cx="152400" cy="152400"/>
          </a:xfrm>
          <a:prstGeom prst="ellipse">
            <a:avLst/>
          </a:prstGeom>
          <a:solidFill>
            <a:srgbClr val="FF9E2C"/>
          </a:solidFill>
          <a:ln/>
        </p:spPr>
      </p:sp>
      <p:sp>
        <p:nvSpPr>
          <p:cNvPr id="8" name="Text 6"/>
          <p:cNvSpPr/>
          <p:nvPr/>
        </p:nvSpPr>
        <p:spPr>
          <a:xfrm>
            <a:off x="1638300" y="2264569"/>
            <a:ext cx="4420932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288" kern="0" dirty="0">
                <a:solidFill>
                  <a:srgbClr val="B81D35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COURSE 01 · INTRODUCTION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333500" y="2845594"/>
            <a:ext cx="8633460" cy="2571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79167"/>
              </a:lnSpc>
              <a:buNone/>
            </a:pPr>
            <a:r>
              <a:rPr lang="en-US" sz="10500" b="1" spc="-315" kern="0" dirty="0">
                <a:solidFill>
                  <a:srgbClr val="2B1216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Sensing the physical world</a:t>
            </a:r>
            <a:endParaRPr lang="en-US" sz="10500" dirty="0"/>
          </a:p>
        </p:txBody>
      </p:sp>
      <p:sp>
        <p:nvSpPr>
          <p:cNvPr id="10" name="Text 8"/>
          <p:cNvSpPr/>
          <p:nvPr/>
        </p:nvSpPr>
        <p:spPr>
          <a:xfrm>
            <a:off x="1333500" y="5760244"/>
            <a:ext cx="7456170" cy="23002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4396"/>
              </a:lnSpc>
              <a:buNone/>
            </a:pPr>
            <a:r>
              <a:rPr lang="en-US" sz="2850" dirty="0">
                <a:solidFill>
                  <a:srgbClr val="523236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Most electronic systems exist to capture information from the real world — a keystroke on a computer, a temperature or a position on a connected object — and react to it.</a:t>
            </a:r>
            <a:endParaRPr lang="en-US" sz="2850" dirty="0"/>
          </a:p>
        </p:txBody>
      </p:sp>
      <p:sp>
        <p:nvSpPr>
          <p:cNvPr id="11" name="Text 9"/>
          <p:cNvSpPr/>
          <p:nvPr/>
        </p:nvSpPr>
        <p:spPr>
          <a:xfrm>
            <a:off x="1333500" y="9096375"/>
            <a:ext cx="2768516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2B1216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Overview and use cases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8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" cy="10287000"/>
          </a:xfrm>
          <a:prstGeom prst="rect">
            <a:avLst/>
          </a:prstGeom>
          <a:solidFill>
            <a:srgbClr val="D7263D"/>
          </a:solidFill>
          <a:ln/>
        </p:spPr>
      </p:sp>
      <p:sp>
        <p:nvSpPr>
          <p:cNvPr id="3" name="Text 1"/>
          <p:cNvSpPr/>
          <p:nvPr/>
        </p:nvSpPr>
        <p:spPr>
          <a:xfrm>
            <a:off x="403845" y="609600"/>
            <a:ext cx="487635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3019"/>
              </a:lnSpc>
              <a:buNone/>
            </a:pPr>
            <a:r>
              <a:rPr lang="en-US" sz="3300" b="1" dirty="0">
                <a:solidFill>
                  <a:srgbClr val="FFF8F2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01</a:t>
            </a:r>
            <a:endParaRPr lang="en-US" sz="3300" dirty="0"/>
          </a:p>
        </p:txBody>
      </p:sp>
      <p:sp>
        <p:nvSpPr>
          <p:cNvPr id="4" name="Text 2"/>
          <p:cNvSpPr/>
          <p:nvPr/>
        </p:nvSpPr>
        <p:spPr>
          <a:xfrm rot="10800000">
            <a:off x="471488" y="1409700"/>
            <a:ext cx="352425" cy="1544092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 vert="eaVert">
            <a:normAutofit/>
          </a:bodyPr>
          <a:lstStyle/>
          <a:p>
            <a:pPr algn="l" indent="0" marL="0">
              <a:buNone/>
            </a:pPr>
            <a:r>
              <a:rPr lang="en-US" sz="1800" b="1" spc="288" kern="0" dirty="0">
                <a:solidFill>
                  <a:srgbClr val="FFD9D2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OVERVIEW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419100" y="8767763"/>
            <a:ext cx="381000" cy="381000"/>
          </a:xfrm>
          <a:prstGeom prst="ellipse">
            <a:avLst/>
          </a:prstGeom>
          <a:solidFill>
            <a:srgbClr val="FF9E2C"/>
          </a:solidFill>
          <a:ln/>
        </p:spPr>
      </p:sp>
      <p:sp>
        <p:nvSpPr>
          <p:cNvPr id="6" name="Text 4"/>
          <p:cNvSpPr/>
          <p:nvPr/>
        </p:nvSpPr>
        <p:spPr>
          <a:xfrm>
            <a:off x="472380" y="9453563"/>
            <a:ext cx="350565" cy="3381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FFF8F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02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17240250" y="-1047750"/>
            <a:ext cx="2095500" cy="2095500"/>
          </a:xfrm>
          <a:prstGeom prst="ellipse">
            <a:avLst/>
          </a:prstGeom>
          <a:solidFill>
            <a:srgbClr val="FF9E2C"/>
          </a:solidFill>
          <a:ln/>
        </p:spPr>
      </p:sp>
      <p:sp>
        <p:nvSpPr>
          <p:cNvPr id="8" name="Shape 6"/>
          <p:cNvSpPr/>
          <p:nvPr/>
        </p:nvSpPr>
        <p:spPr>
          <a:xfrm>
            <a:off x="2286000" y="1052513"/>
            <a:ext cx="152400" cy="152400"/>
          </a:xfrm>
          <a:prstGeom prst="ellipse">
            <a:avLst/>
          </a:prstGeom>
          <a:solidFill>
            <a:srgbClr val="FF9E2C"/>
          </a:solidFill>
          <a:ln/>
        </p:spPr>
      </p:sp>
      <p:sp>
        <p:nvSpPr>
          <p:cNvPr id="9" name="Text 7"/>
          <p:cNvSpPr/>
          <p:nvPr/>
        </p:nvSpPr>
        <p:spPr>
          <a:xfrm>
            <a:off x="2590800" y="990600"/>
            <a:ext cx="3259894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288" kern="0" dirty="0">
                <a:solidFill>
                  <a:srgbClr val="B81D35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COMMON USE CASES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2286000" y="1495425"/>
            <a:ext cx="14668500" cy="79816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7692"/>
              </a:lnSpc>
              <a:buNone/>
            </a:pPr>
            <a:r>
              <a:rPr lang="en-US" sz="5700" b="1" spc="-171" kern="0" dirty="0">
                <a:solidFill>
                  <a:srgbClr val="2B1216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Sensors are everywhere around us</a:t>
            </a:r>
            <a:endParaRPr lang="en-US" sz="5700" dirty="0"/>
          </a:p>
        </p:txBody>
      </p:sp>
      <p:sp>
        <p:nvSpPr>
          <p:cNvPr id="11" name="Shape 9"/>
          <p:cNvSpPr/>
          <p:nvPr/>
        </p:nvSpPr>
        <p:spPr>
          <a:xfrm>
            <a:off x="2286000" y="2788890"/>
            <a:ext cx="14859000" cy="19050"/>
          </a:xfrm>
          <a:prstGeom prst="rect">
            <a:avLst/>
          </a:prstGeom>
          <a:solidFill>
            <a:srgbClr val="EBD6CB"/>
          </a:solidFill>
          <a:ln/>
        </p:spPr>
      </p:sp>
      <p:sp>
        <p:nvSpPr>
          <p:cNvPr id="12" name="Shape 10"/>
          <p:cNvSpPr/>
          <p:nvPr/>
        </p:nvSpPr>
        <p:spPr>
          <a:xfrm>
            <a:off x="2286000" y="3808065"/>
            <a:ext cx="14859000" cy="19050"/>
          </a:xfrm>
          <a:prstGeom prst="rect">
            <a:avLst/>
          </a:prstGeom>
          <a:solidFill>
            <a:srgbClr val="EBD6CB"/>
          </a:solidFill>
          <a:ln/>
        </p:spPr>
      </p:sp>
      <p:sp>
        <p:nvSpPr>
          <p:cNvPr id="13" name="Shape 11"/>
          <p:cNvSpPr/>
          <p:nvPr/>
        </p:nvSpPr>
        <p:spPr>
          <a:xfrm>
            <a:off x="2286000" y="3231803"/>
            <a:ext cx="152400" cy="152400"/>
          </a:xfrm>
          <a:prstGeom prst="ellipse">
            <a:avLst/>
          </a:prstGeom>
          <a:solidFill>
            <a:srgbClr val="FF9E2C"/>
          </a:solidFill>
          <a:ln/>
        </p:spPr>
      </p:sp>
      <p:sp>
        <p:nvSpPr>
          <p:cNvPr id="14" name="Text 12"/>
          <p:cNvSpPr/>
          <p:nvPr/>
        </p:nvSpPr>
        <p:spPr>
          <a:xfrm>
            <a:off x="2705100" y="3055590"/>
            <a:ext cx="2518544" cy="5429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3300" b="1" spc="-66" kern="0" dirty="0">
                <a:solidFill>
                  <a:srgbClr val="2B1216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Temperature</a:t>
            </a:r>
            <a:endParaRPr lang="en-US" sz="3300" dirty="0"/>
          </a:p>
        </p:txBody>
      </p:sp>
      <p:sp>
        <p:nvSpPr>
          <p:cNvPr id="15" name="Text 13"/>
          <p:cNvSpPr/>
          <p:nvPr/>
        </p:nvSpPr>
        <p:spPr>
          <a:xfrm>
            <a:off x="8153400" y="3074640"/>
            <a:ext cx="9890760" cy="4495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2208"/>
              </a:lnSpc>
              <a:buNone/>
            </a:pPr>
            <a:r>
              <a:rPr lang="en-US" sz="2400" dirty="0">
                <a:solidFill>
                  <a:srgbClr val="523236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Environment, devices, industrial processes</a:t>
            </a:r>
            <a:endParaRPr lang="en-US" sz="2400" dirty="0"/>
          </a:p>
        </p:txBody>
      </p:sp>
      <p:sp>
        <p:nvSpPr>
          <p:cNvPr id="16" name="Shape 14"/>
          <p:cNvSpPr/>
          <p:nvPr/>
        </p:nvSpPr>
        <p:spPr>
          <a:xfrm>
            <a:off x="2286000" y="4827240"/>
            <a:ext cx="14859000" cy="19050"/>
          </a:xfrm>
          <a:prstGeom prst="rect">
            <a:avLst/>
          </a:prstGeom>
          <a:solidFill>
            <a:srgbClr val="EBD6CB"/>
          </a:solidFill>
          <a:ln/>
        </p:spPr>
      </p:sp>
      <p:sp>
        <p:nvSpPr>
          <p:cNvPr id="17" name="Shape 15"/>
          <p:cNvSpPr/>
          <p:nvPr/>
        </p:nvSpPr>
        <p:spPr>
          <a:xfrm>
            <a:off x="2286000" y="4250978"/>
            <a:ext cx="152400" cy="152400"/>
          </a:xfrm>
          <a:prstGeom prst="ellipse">
            <a:avLst/>
          </a:prstGeom>
          <a:solidFill>
            <a:srgbClr val="FF9E2C"/>
          </a:solidFill>
          <a:ln/>
        </p:spPr>
      </p:sp>
      <p:sp>
        <p:nvSpPr>
          <p:cNvPr id="18" name="Text 16"/>
          <p:cNvSpPr/>
          <p:nvPr/>
        </p:nvSpPr>
        <p:spPr>
          <a:xfrm>
            <a:off x="2705100" y="4074765"/>
            <a:ext cx="1803574" cy="5429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3300" b="1" spc="-66" kern="0" dirty="0">
                <a:solidFill>
                  <a:srgbClr val="2B1216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Humidity</a:t>
            </a:r>
            <a:endParaRPr lang="en-US" sz="3300" dirty="0"/>
          </a:p>
        </p:txBody>
      </p:sp>
      <p:sp>
        <p:nvSpPr>
          <p:cNvPr id="19" name="Text 17"/>
          <p:cNvSpPr/>
          <p:nvPr/>
        </p:nvSpPr>
        <p:spPr>
          <a:xfrm>
            <a:off x="8153400" y="4093815"/>
            <a:ext cx="9890760" cy="4495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2208"/>
              </a:lnSpc>
              <a:buNone/>
            </a:pPr>
            <a:r>
              <a:rPr lang="en-US" sz="2400" dirty="0">
                <a:solidFill>
                  <a:srgbClr val="523236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Weather, agriculture, building comfort</a:t>
            </a:r>
            <a:endParaRPr lang="en-US" sz="2400" dirty="0"/>
          </a:p>
        </p:txBody>
      </p:sp>
      <p:sp>
        <p:nvSpPr>
          <p:cNvPr id="20" name="Shape 18"/>
          <p:cNvSpPr/>
          <p:nvPr/>
        </p:nvSpPr>
        <p:spPr>
          <a:xfrm>
            <a:off x="2286000" y="5846415"/>
            <a:ext cx="14859000" cy="19050"/>
          </a:xfrm>
          <a:prstGeom prst="rect">
            <a:avLst/>
          </a:prstGeom>
          <a:solidFill>
            <a:srgbClr val="EBD6CB"/>
          </a:solidFill>
          <a:ln/>
        </p:spPr>
      </p:sp>
      <p:sp>
        <p:nvSpPr>
          <p:cNvPr id="21" name="Shape 19"/>
          <p:cNvSpPr/>
          <p:nvPr/>
        </p:nvSpPr>
        <p:spPr>
          <a:xfrm>
            <a:off x="2286000" y="5270153"/>
            <a:ext cx="152400" cy="152400"/>
          </a:xfrm>
          <a:prstGeom prst="ellipse">
            <a:avLst/>
          </a:prstGeom>
          <a:solidFill>
            <a:srgbClr val="FF9E2C"/>
          </a:solidFill>
          <a:ln/>
        </p:spPr>
      </p:sp>
      <p:sp>
        <p:nvSpPr>
          <p:cNvPr id="22" name="Text 20"/>
          <p:cNvSpPr/>
          <p:nvPr/>
        </p:nvSpPr>
        <p:spPr>
          <a:xfrm>
            <a:off x="2705100" y="5093940"/>
            <a:ext cx="2002780" cy="5429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3300" b="1" spc="-66" kern="0" dirty="0">
                <a:solidFill>
                  <a:srgbClr val="2B1216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Air quality</a:t>
            </a:r>
            <a:endParaRPr lang="en-US" sz="3300" dirty="0"/>
          </a:p>
        </p:txBody>
      </p:sp>
      <p:sp>
        <p:nvSpPr>
          <p:cNvPr id="23" name="Text 21"/>
          <p:cNvSpPr/>
          <p:nvPr/>
        </p:nvSpPr>
        <p:spPr>
          <a:xfrm>
            <a:off x="8153400" y="5112990"/>
            <a:ext cx="9890760" cy="4495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2208"/>
              </a:lnSpc>
              <a:buNone/>
            </a:pPr>
            <a:r>
              <a:rPr lang="en-US" sz="2400" dirty="0">
                <a:solidFill>
                  <a:srgbClr val="523236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Pollution, CO₂ and particles, indoors and out</a:t>
            </a:r>
            <a:endParaRPr lang="en-US" sz="2400" dirty="0"/>
          </a:p>
        </p:txBody>
      </p:sp>
      <p:sp>
        <p:nvSpPr>
          <p:cNvPr id="24" name="Shape 22"/>
          <p:cNvSpPr/>
          <p:nvPr/>
        </p:nvSpPr>
        <p:spPr>
          <a:xfrm>
            <a:off x="2286000" y="6865590"/>
            <a:ext cx="14859000" cy="19050"/>
          </a:xfrm>
          <a:prstGeom prst="rect">
            <a:avLst/>
          </a:prstGeom>
          <a:solidFill>
            <a:srgbClr val="EBD6CB"/>
          </a:solidFill>
          <a:ln/>
        </p:spPr>
      </p:sp>
      <p:sp>
        <p:nvSpPr>
          <p:cNvPr id="25" name="Shape 23"/>
          <p:cNvSpPr/>
          <p:nvPr/>
        </p:nvSpPr>
        <p:spPr>
          <a:xfrm>
            <a:off x="2286000" y="6289328"/>
            <a:ext cx="152400" cy="152400"/>
          </a:xfrm>
          <a:prstGeom prst="ellipse">
            <a:avLst/>
          </a:prstGeom>
          <a:solidFill>
            <a:srgbClr val="FF9E2C"/>
          </a:solidFill>
          <a:ln/>
        </p:spPr>
      </p:sp>
      <p:sp>
        <p:nvSpPr>
          <p:cNvPr id="26" name="Text 24"/>
          <p:cNvSpPr/>
          <p:nvPr/>
        </p:nvSpPr>
        <p:spPr>
          <a:xfrm>
            <a:off x="2705100" y="6113115"/>
            <a:ext cx="865510" cy="5429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3300" b="1" spc="-66" kern="0" dirty="0">
                <a:solidFill>
                  <a:srgbClr val="2B1216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GPS</a:t>
            </a:r>
            <a:endParaRPr lang="en-US" sz="3300" dirty="0"/>
          </a:p>
        </p:txBody>
      </p:sp>
      <p:sp>
        <p:nvSpPr>
          <p:cNvPr id="27" name="Text 25"/>
          <p:cNvSpPr/>
          <p:nvPr/>
        </p:nvSpPr>
        <p:spPr>
          <a:xfrm>
            <a:off x="8153400" y="6132165"/>
            <a:ext cx="9890760" cy="4495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2208"/>
              </a:lnSpc>
              <a:buNone/>
            </a:pPr>
            <a:r>
              <a:rPr lang="en-US" sz="2400" dirty="0">
                <a:solidFill>
                  <a:srgbClr val="523236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Locating and tracking an object</a:t>
            </a:r>
            <a:endParaRPr lang="en-US" sz="2400" dirty="0"/>
          </a:p>
        </p:txBody>
      </p:sp>
      <p:sp>
        <p:nvSpPr>
          <p:cNvPr id="28" name="Shape 26"/>
          <p:cNvSpPr/>
          <p:nvPr/>
        </p:nvSpPr>
        <p:spPr>
          <a:xfrm>
            <a:off x="2286000" y="7884765"/>
            <a:ext cx="14859000" cy="19050"/>
          </a:xfrm>
          <a:prstGeom prst="rect">
            <a:avLst/>
          </a:prstGeom>
          <a:solidFill>
            <a:srgbClr val="EBD6CB"/>
          </a:solidFill>
          <a:ln/>
        </p:spPr>
      </p:sp>
      <p:sp>
        <p:nvSpPr>
          <p:cNvPr id="29" name="Shape 27"/>
          <p:cNvSpPr/>
          <p:nvPr/>
        </p:nvSpPr>
        <p:spPr>
          <a:xfrm>
            <a:off x="2286000" y="7308503"/>
            <a:ext cx="152400" cy="152400"/>
          </a:xfrm>
          <a:prstGeom prst="ellipse">
            <a:avLst/>
          </a:prstGeom>
          <a:solidFill>
            <a:srgbClr val="FF9E2C"/>
          </a:solidFill>
          <a:ln/>
        </p:spPr>
      </p:sp>
      <p:sp>
        <p:nvSpPr>
          <p:cNvPr id="30" name="Text 28"/>
          <p:cNvSpPr/>
          <p:nvPr/>
        </p:nvSpPr>
        <p:spPr>
          <a:xfrm>
            <a:off x="2705100" y="7132290"/>
            <a:ext cx="2901069" cy="5429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3300" b="1" spc="-66" kern="0" dirty="0">
                <a:solidFill>
                  <a:srgbClr val="2B1216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Accelerometer</a:t>
            </a:r>
            <a:endParaRPr lang="en-US" sz="3300" dirty="0"/>
          </a:p>
        </p:txBody>
      </p:sp>
      <p:sp>
        <p:nvSpPr>
          <p:cNvPr id="31" name="Text 29"/>
          <p:cNvSpPr/>
          <p:nvPr/>
        </p:nvSpPr>
        <p:spPr>
          <a:xfrm>
            <a:off x="8153400" y="7151340"/>
            <a:ext cx="9890760" cy="4495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2208"/>
              </a:lnSpc>
              <a:buNone/>
            </a:pPr>
            <a:r>
              <a:rPr lang="en-US" sz="2400" dirty="0">
                <a:solidFill>
                  <a:srgbClr val="523236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Detecting movement and behaviours such as driving patterns</a:t>
            </a:r>
            <a:endParaRPr lang="en-US" sz="2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8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" cy="10287000"/>
          </a:xfrm>
          <a:prstGeom prst="rect">
            <a:avLst/>
          </a:prstGeom>
          <a:solidFill>
            <a:srgbClr val="D7263D"/>
          </a:solidFill>
          <a:ln/>
        </p:spPr>
      </p:sp>
      <p:sp>
        <p:nvSpPr>
          <p:cNvPr id="3" name="Text 1"/>
          <p:cNvSpPr/>
          <p:nvPr/>
        </p:nvSpPr>
        <p:spPr>
          <a:xfrm>
            <a:off x="403845" y="609600"/>
            <a:ext cx="487635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3019"/>
              </a:lnSpc>
              <a:buNone/>
            </a:pPr>
            <a:r>
              <a:rPr lang="en-US" sz="3300" b="1" dirty="0">
                <a:solidFill>
                  <a:srgbClr val="FFF8F2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01</a:t>
            </a:r>
            <a:endParaRPr lang="en-US" sz="3300" dirty="0"/>
          </a:p>
        </p:txBody>
      </p:sp>
      <p:sp>
        <p:nvSpPr>
          <p:cNvPr id="4" name="Text 2"/>
          <p:cNvSpPr/>
          <p:nvPr/>
        </p:nvSpPr>
        <p:spPr>
          <a:xfrm rot="10800000">
            <a:off x="471488" y="1409700"/>
            <a:ext cx="352425" cy="1544092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 vert="eaVert">
            <a:normAutofit/>
          </a:bodyPr>
          <a:lstStyle/>
          <a:p>
            <a:pPr algn="l" indent="0" marL="0">
              <a:buNone/>
            </a:pPr>
            <a:r>
              <a:rPr lang="en-US" sz="1800" b="1" spc="288" kern="0" dirty="0">
                <a:solidFill>
                  <a:srgbClr val="FFD9D2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OVERVIEW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419100" y="8767763"/>
            <a:ext cx="381000" cy="381000"/>
          </a:xfrm>
          <a:prstGeom prst="ellipse">
            <a:avLst/>
          </a:prstGeom>
          <a:solidFill>
            <a:srgbClr val="FF9E2C"/>
          </a:solidFill>
          <a:ln/>
        </p:spPr>
      </p:sp>
      <p:sp>
        <p:nvSpPr>
          <p:cNvPr id="6" name="Text 4"/>
          <p:cNvSpPr/>
          <p:nvPr/>
        </p:nvSpPr>
        <p:spPr>
          <a:xfrm>
            <a:off x="472380" y="9453563"/>
            <a:ext cx="350565" cy="3381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FFF8F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03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17240250" y="-1047750"/>
            <a:ext cx="2095500" cy="2095500"/>
          </a:xfrm>
          <a:prstGeom prst="ellipse">
            <a:avLst/>
          </a:prstGeom>
          <a:solidFill>
            <a:srgbClr val="FF9E2C"/>
          </a:solidFill>
          <a:ln/>
        </p:spPr>
      </p:sp>
      <p:sp>
        <p:nvSpPr>
          <p:cNvPr id="8" name="Shape 6"/>
          <p:cNvSpPr/>
          <p:nvPr/>
        </p:nvSpPr>
        <p:spPr>
          <a:xfrm>
            <a:off x="2286000" y="1052513"/>
            <a:ext cx="152400" cy="152400"/>
          </a:xfrm>
          <a:prstGeom prst="ellipse">
            <a:avLst/>
          </a:prstGeom>
          <a:solidFill>
            <a:srgbClr val="FF9E2C"/>
          </a:solidFill>
          <a:ln/>
        </p:spPr>
      </p:sp>
      <p:sp>
        <p:nvSpPr>
          <p:cNvPr id="9" name="Text 7"/>
          <p:cNvSpPr/>
          <p:nvPr/>
        </p:nvSpPr>
        <p:spPr>
          <a:xfrm>
            <a:off x="2590800" y="990600"/>
            <a:ext cx="4806881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288" kern="0" dirty="0">
                <a:solidFill>
                  <a:srgbClr val="B81D35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CHOOSING THE RIGHT SENSOR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2286000" y="1495425"/>
            <a:ext cx="14668500" cy="79816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7692"/>
              </a:lnSpc>
              <a:buNone/>
            </a:pPr>
            <a:r>
              <a:rPr lang="en-US" sz="5700" b="1" spc="-171" kern="0" dirty="0">
                <a:solidFill>
                  <a:srgbClr val="2B1216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Same family, very different sensors</a:t>
            </a:r>
            <a:endParaRPr lang="en-US" sz="5700" dirty="0"/>
          </a:p>
        </p:txBody>
      </p:sp>
      <p:sp>
        <p:nvSpPr>
          <p:cNvPr id="11" name="Text 9"/>
          <p:cNvSpPr/>
          <p:nvPr/>
        </p:nvSpPr>
        <p:spPr>
          <a:xfrm>
            <a:off x="2286000" y="2636490"/>
            <a:ext cx="12753975" cy="942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4396"/>
              </a:lnSpc>
              <a:buNone/>
            </a:pPr>
            <a:r>
              <a:rPr lang="en-US" sz="2850" dirty="0">
                <a:solidFill>
                  <a:srgbClr val="2B1216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The application decides which characteristics matter. Compare sensors on five criteria:</a:t>
            </a:r>
            <a:endParaRPr lang="en-US" sz="2850" dirty="0"/>
          </a:p>
        </p:txBody>
      </p:sp>
      <p:sp>
        <p:nvSpPr>
          <p:cNvPr id="12" name="Shape 10"/>
          <p:cNvSpPr/>
          <p:nvPr/>
        </p:nvSpPr>
        <p:spPr>
          <a:xfrm>
            <a:off x="2286000" y="4150965"/>
            <a:ext cx="685800" cy="95250"/>
          </a:xfrm>
          <a:prstGeom prst="roundRect">
            <a:avLst>
              <a:gd name="adj" fmla="val 50000"/>
            </a:avLst>
          </a:prstGeom>
          <a:solidFill>
            <a:srgbClr val="FF9E2C"/>
          </a:solidFill>
          <a:ln/>
        </p:spPr>
      </p:sp>
      <p:sp>
        <p:nvSpPr>
          <p:cNvPr id="13" name="Text 11"/>
          <p:cNvSpPr/>
          <p:nvPr/>
        </p:nvSpPr>
        <p:spPr>
          <a:xfrm>
            <a:off x="2286000" y="4398615"/>
            <a:ext cx="4777740" cy="542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300" b="1" spc="-66" kern="0" dirty="0">
                <a:solidFill>
                  <a:srgbClr val="2B1216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Precision</a:t>
            </a:r>
            <a:endParaRPr lang="en-US" sz="3300" dirty="0"/>
          </a:p>
        </p:txBody>
      </p:sp>
      <p:sp>
        <p:nvSpPr>
          <p:cNvPr id="14" name="Text 12"/>
          <p:cNvSpPr/>
          <p:nvPr/>
        </p:nvSpPr>
        <p:spPr>
          <a:xfrm>
            <a:off x="2286000" y="5055840"/>
            <a:ext cx="4473702" cy="7581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2836"/>
              </a:lnSpc>
              <a:buNone/>
            </a:pPr>
            <a:r>
              <a:rPr lang="en-US" sz="2100" dirty="0">
                <a:solidFill>
                  <a:srgbClr val="523236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How close a reading is to the true value</a:t>
            </a:r>
            <a:endParaRPr lang="en-US" sz="2100" dirty="0"/>
          </a:p>
        </p:txBody>
      </p:sp>
      <p:sp>
        <p:nvSpPr>
          <p:cNvPr id="15" name="Shape 13"/>
          <p:cNvSpPr/>
          <p:nvPr/>
        </p:nvSpPr>
        <p:spPr>
          <a:xfrm>
            <a:off x="7543800" y="4150965"/>
            <a:ext cx="685800" cy="95250"/>
          </a:xfrm>
          <a:prstGeom prst="roundRect">
            <a:avLst>
              <a:gd name="adj" fmla="val 50000"/>
            </a:avLst>
          </a:prstGeom>
          <a:solidFill>
            <a:srgbClr val="FF9E2C"/>
          </a:solidFill>
          <a:ln/>
        </p:spPr>
      </p:sp>
      <p:sp>
        <p:nvSpPr>
          <p:cNvPr id="16" name="Text 14"/>
          <p:cNvSpPr/>
          <p:nvPr/>
        </p:nvSpPr>
        <p:spPr>
          <a:xfrm>
            <a:off x="7543800" y="4398615"/>
            <a:ext cx="4777740" cy="542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300" b="1" spc="-66" kern="0" dirty="0">
                <a:solidFill>
                  <a:srgbClr val="2B1216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Operating range</a:t>
            </a:r>
            <a:endParaRPr lang="en-US" sz="3300" dirty="0"/>
          </a:p>
        </p:txBody>
      </p:sp>
      <p:sp>
        <p:nvSpPr>
          <p:cNvPr id="17" name="Text 15"/>
          <p:cNvSpPr/>
          <p:nvPr/>
        </p:nvSpPr>
        <p:spPr>
          <a:xfrm>
            <a:off x="7543800" y="5055840"/>
            <a:ext cx="4473702" cy="7581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2836"/>
              </a:lnSpc>
              <a:buNone/>
            </a:pPr>
            <a:r>
              <a:rPr lang="en-US" sz="2100" dirty="0">
                <a:solidFill>
                  <a:srgbClr val="523236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The span of values it can measure reliably</a:t>
            </a:r>
            <a:endParaRPr lang="en-US" sz="2100" dirty="0"/>
          </a:p>
        </p:txBody>
      </p:sp>
      <p:sp>
        <p:nvSpPr>
          <p:cNvPr id="18" name="Shape 16"/>
          <p:cNvSpPr/>
          <p:nvPr/>
        </p:nvSpPr>
        <p:spPr>
          <a:xfrm>
            <a:off x="12801600" y="4150965"/>
            <a:ext cx="685800" cy="95250"/>
          </a:xfrm>
          <a:prstGeom prst="roundRect">
            <a:avLst>
              <a:gd name="adj" fmla="val 50000"/>
            </a:avLst>
          </a:prstGeom>
          <a:solidFill>
            <a:srgbClr val="FF9E2C"/>
          </a:solidFill>
          <a:ln/>
        </p:spPr>
      </p:sp>
      <p:sp>
        <p:nvSpPr>
          <p:cNvPr id="19" name="Text 17"/>
          <p:cNvSpPr/>
          <p:nvPr/>
        </p:nvSpPr>
        <p:spPr>
          <a:xfrm>
            <a:off x="12801600" y="4398615"/>
            <a:ext cx="4777740" cy="542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300" b="1" spc="-66" kern="0" dirty="0">
                <a:solidFill>
                  <a:srgbClr val="2B1216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Response time</a:t>
            </a:r>
            <a:endParaRPr lang="en-US" sz="3300" dirty="0"/>
          </a:p>
        </p:txBody>
      </p:sp>
      <p:sp>
        <p:nvSpPr>
          <p:cNvPr id="20" name="Text 18"/>
          <p:cNvSpPr/>
          <p:nvPr/>
        </p:nvSpPr>
        <p:spPr>
          <a:xfrm>
            <a:off x="12801600" y="5055840"/>
            <a:ext cx="4777740" cy="3981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2836"/>
              </a:lnSpc>
              <a:buNone/>
            </a:pPr>
            <a:r>
              <a:rPr lang="en-US" sz="2100" dirty="0">
                <a:solidFill>
                  <a:srgbClr val="523236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How quickly it reacts to a change</a:t>
            </a:r>
            <a:endParaRPr lang="en-US" sz="2100" dirty="0"/>
          </a:p>
        </p:txBody>
      </p:sp>
      <p:sp>
        <p:nvSpPr>
          <p:cNvPr id="21" name="Shape 19"/>
          <p:cNvSpPr/>
          <p:nvPr/>
        </p:nvSpPr>
        <p:spPr>
          <a:xfrm>
            <a:off x="2286000" y="6309271"/>
            <a:ext cx="685800" cy="95250"/>
          </a:xfrm>
          <a:prstGeom prst="roundRect">
            <a:avLst>
              <a:gd name="adj" fmla="val 50000"/>
            </a:avLst>
          </a:prstGeom>
          <a:solidFill>
            <a:srgbClr val="FF9E2C"/>
          </a:solidFill>
          <a:ln/>
        </p:spPr>
      </p:sp>
      <p:sp>
        <p:nvSpPr>
          <p:cNvPr id="22" name="Text 20"/>
          <p:cNvSpPr/>
          <p:nvPr/>
        </p:nvSpPr>
        <p:spPr>
          <a:xfrm>
            <a:off x="2286000" y="6556921"/>
            <a:ext cx="4777740" cy="542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300" b="1" spc="-66" kern="0" dirty="0">
                <a:solidFill>
                  <a:srgbClr val="2B1216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Acquisition frequency</a:t>
            </a:r>
            <a:endParaRPr lang="en-US" sz="3300" dirty="0"/>
          </a:p>
        </p:txBody>
      </p:sp>
      <p:sp>
        <p:nvSpPr>
          <p:cNvPr id="23" name="Text 21"/>
          <p:cNvSpPr/>
          <p:nvPr/>
        </p:nvSpPr>
        <p:spPr>
          <a:xfrm>
            <a:off x="2286000" y="7214146"/>
            <a:ext cx="4473702" cy="7581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2836"/>
              </a:lnSpc>
              <a:buNone/>
            </a:pPr>
            <a:r>
              <a:rPr lang="en-US" sz="2100" dirty="0">
                <a:solidFill>
                  <a:srgbClr val="523236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How many readings it delivers per second</a:t>
            </a:r>
            <a:endParaRPr lang="en-US" sz="2100" dirty="0"/>
          </a:p>
        </p:txBody>
      </p:sp>
      <p:sp>
        <p:nvSpPr>
          <p:cNvPr id="24" name="Shape 22"/>
          <p:cNvSpPr/>
          <p:nvPr/>
        </p:nvSpPr>
        <p:spPr>
          <a:xfrm>
            <a:off x="7543800" y="6309271"/>
            <a:ext cx="685800" cy="95250"/>
          </a:xfrm>
          <a:prstGeom prst="roundRect">
            <a:avLst>
              <a:gd name="adj" fmla="val 50000"/>
            </a:avLst>
          </a:prstGeom>
          <a:solidFill>
            <a:srgbClr val="FF9E2C"/>
          </a:solidFill>
          <a:ln/>
        </p:spPr>
      </p:sp>
      <p:sp>
        <p:nvSpPr>
          <p:cNvPr id="25" name="Text 23"/>
          <p:cNvSpPr/>
          <p:nvPr/>
        </p:nvSpPr>
        <p:spPr>
          <a:xfrm>
            <a:off x="7543800" y="6556921"/>
            <a:ext cx="4777740" cy="542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300" b="1" spc="-66" kern="0" dirty="0">
                <a:solidFill>
                  <a:srgbClr val="2B1216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Output format</a:t>
            </a:r>
            <a:endParaRPr lang="en-US" sz="3300" dirty="0"/>
          </a:p>
        </p:txBody>
      </p:sp>
      <p:sp>
        <p:nvSpPr>
          <p:cNvPr id="26" name="Text 24"/>
          <p:cNvSpPr/>
          <p:nvPr/>
        </p:nvSpPr>
        <p:spPr>
          <a:xfrm>
            <a:off x="7543800" y="7214146"/>
            <a:ext cx="4473702" cy="7581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2836"/>
              </a:lnSpc>
              <a:buNone/>
            </a:pPr>
            <a:r>
              <a:rPr lang="en-US" sz="2100" dirty="0">
                <a:solidFill>
                  <a:srgbClr val="523236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Analog voltage or digital bus such as I²C, SPI or UART</a:t>
            </a:r>
            <a:endParaRPr lang="en-US" sz="2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8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" cy="10287000"/>
          </a:xfrm>
          <a:prstGeom prst="rect">
            <a:avLst/>
          </a:prstGeom>
          <a:solidFill>
            <a:srgbClr val="D7263D"/>
          </a:solidFill>
          <a:ln/>
        </p:spPr>
      </p:sp>
      <p:sp>
        <p:nvSpPr>
          <p:cNvPr id="3" name="Text 1"/>
          <p:cNvSpPr/>
          <p:nvPr/>
        </p:nvSpPr>
        <p:spPr>
          <a:xfrm>
            <a:off x="351606" y="609600"/>
            <a:ext cx="592113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3019"/>
              </a:lnSpc>
              <a:buNone/>
            </a:pPr>
            <a:r>
              <a:rPr lang="en-US" sz="3300" b="1" dirty="0">
                <a:solidFill>
                  <a:srgbClr val="FFF8F2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02</a:t>
            </a:r>
            <a:endParaRPr lang="en-US" sz="3300" dirty="0"/>
          </a:p>
        </p:txBody>
      </p:sp>
      <p:sp>
        <p:nvSpPr>
          <p:cNvPr id="4" name="Text 2"/>
          <p:cNvSpPr/>
          <p:nvPr/>
        </p:nvSpPr>
        <p:spPr>
          <a:xfrm rot="10800000">
            <a:off x="471488" y="1409700"/>
            <a:ext cx="352425" cy="1513731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 vert="eaVert">
            <a:normAutofit/>
          </a:bodyPr>
          <a:lstStyle/>
          <a:p>
            <a:pPr algn="l" indent="0" marL="0">
              <a:buNone/>
            </a:pPr>
            <a:r>
              <a:rPr lang="en-US" sz="1800" b="1" spc="288" kern="0" dirty="0">
                <a:solidFill>
                  <a:srgbClr val="FFD9D2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EXAMPLES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419100" y="8767763"/>
            <a:ext cx="381000" cy="381000"/>
          </a:xfrm>
          <a:prstGeom prst="ellipse">
            <a:avLst/>
          </a:prstGeom>
          <a:solidFill>
            <a:srgbClr val="F0508A"/>
          </a:solidFill>
          <a:ln/>
        </p:spPr>
      </p:sp>
      <p:sp>
        <p:nvSpPr>
          <p:cNvPr id="6" name="Text 4"/>
          <p:cNvSpPr/>
          <p:nvPr/>
        </p:nvSpPr>
        <p:spPr>
          <a:xfrm>
            <a:off x="472380" y="9453563"/>
            <a:ext cx="350565" cy="3381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FFF8F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04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17240250" y="-1047750"/>
            <a:ext cx="2095500" cy="2095500"/>
          </a:xfrm>
          <a:prstGeom prst="ellipse">
            <a:avLst/>
          </a:prstGeom>
          <a:solidFill>
            <a:srgbClr val="F0508A"/>
          </a:solidFill>
          <a:ln/>
        </p:spPr>
      </p:sp>
      <p:sp>
        <p:nvSpPr>
          <p:cNvPr id="8" name="Shape 6"/>
          <p:cNvSpPr/>
          <p:nvPr/>
        </p:nvSpPr>
        <p:spPr>
          <a:xfrm>
            <a:off x="2286000" y="1052513"/>
            <a:ext cx="152400" cy="152400"/>
          </a:xfrm>
          <a:prstGeom prst="ellipse">
            <a:avLst/>
          </a:prstGeom>
          <a:solidFill>
            <a:srgbClr val="F0508A"/>
          </a:solidFill>
          <a:ln/>
        </p:spPr>
      </p:sp>
      <p:sp>
        <p:nvSpPr>
          <p:cNvPr id="9" name="Text 7"/>
          <p:cNvSpPr/>
          <p:nvPr/>
        </p:nvSpPr>
        <p:spPr>
          <a:xfrm>
            <a:off x="2590800" y="990600"/>
            <a:ext cx="3864560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288" kern="0" dirty="0">
                <a:solidFill>
                  <a:srgbClr val="B81D35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EXAMPLE: TEMPERATURE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2286000" y="1495425"/>
            <a:ext cx="14668500" cy="79816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7692"/>
              </a:lnSpc>
              <a:buNone/>
            </a:pPr>
            <a:r>
              <a:rPr lang="en-US" sz="5700" b="1" spc="-171" kern="0" dirty="0">
                <a:solidFill>
                  <a:srgbClr val="2B1216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The use case sets the precision</a:t>
            </a:r>
            <a:endParaRPr lang="en-US" sz="5700" dirty="0"/>
          </a:p>
        </p:txBody>
      </p:sp>
      <p:sp>
        <p:nvSpPr>
          <p:cNvPr id="11" name="Text 9"/>
          <p:cNvSpPr/>
          <p:nvPr/>
        </p:nvSpPr>
        <p:spPr>
          <a:xfrm>
            <a:off x="2286000" y="2941290"/>
            <a:ext cx="7156133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1667"/>
              </a:lnSpc>
              <a:buNone/>
            </a:pPr>
            <a:r>
              <a:rPr lang="en-US" sz="3000" b="1" spc="-60" kern="0" dirty="0">
                <a:solidFill>
                  <a:srgbClr val="2B1216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Processor monitoring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2286000" y="3627090"/>
            <a:ext cx="7156133" cy="105154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79403"/>
              </a:lnSpc>
              <a:buNone/>
            </a:pPr>
            <a:r>
              <a:rPr lang="en-US" sz="8400" b="1" spc="-336" kern="0" dirty="0">
                <a:solidFill>
                  <a:srgbClr val="D7263D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± a few °C</a:t>
            </a:r>
            <a:endParaRPr lang="en-US" sz="8400" dirty="0"/>
          </a:p>
        </p:txBody>
      </p:sp>
      <p:sp>
        <p:nvSpPr>
          <p:cNvPr id="13" name="Shape 11"/>
          <p:cNvSpPr/>
          <p:nvPr/>
        </p:nvSpPr>
        <p:spPr>
          <a:xfrm>
            <a:off x="2286000" y="5040585"/>
            <a:ext cx="152400" cy="152400"/>
          </a:xfrm>
          <a:prstGeom prst="ellipse">
            <a:avLst/>
          </a:prstGeom>
          <a:solidFill>
            <a:srgbClr val="F0508A"/>
          </a:solidFill>
          <a:ln/>
        </p:spPr>
      </p:sp>
      <p:sp>
        <p:nvSpPr>
          <p:cNvPr id="14" name="Text 12"/>
          <p:cNvSpPr/>
          <p:nvPr/>
        </p:nvSpPr>
        <p:spPr>
          <a:xfrm>
            <a:off x="2705100" y="4907235"/>
            <a:ext cx="3726470" cy="4647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6364"/>
              </a:lnSpc>
              <a:buNone/>
            </a:pPr>
            <a:r>
              <a:rPr lang="en-US" sz="2400" dirty="0">
                <a:solidFill>
                  <a:srgbClr val="523236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Goal: detect overheating</a:t>
            </a:r>
            <a:endParaRPr lang="en-US" sz="2400" dirty="0"/>
          </a:p>
        </p:txBody>
      </p:sp>
      <p:sp>
        <p:nvSpPr>
          <p:cNvPr id="15" name="Shape 13"/>
          <p:cNvSpPr/>
          <p:nvPr/>
        </p:nvSpPr>
        <p:spPr>
          <a:xfrm>
            <a:off x="2286000" y="5733976"/>
            <a:ext cx="152400" cy="152400"/>
          </a:xfrm>
          <a:prstGeom prst="ellipse">
            <a:avLst/>
          </a:prstGeom>
          <a:solidFill>
            <a:srgbClr val="F0508A"/>
          </a:solidFill>
          <a:ln/>
        </p:spPr>
      </p:sp>
      <p:sp>
        <p:nvSpPr>
          <p:cNvPr id="16" name="Text 14"/>
          <p:cNvSpPr/>
          <p:nvPr/>
        </p:nvSpPr>
        <p:spPr>
          <a:xfrm>
            <a:off x="2705100" y="5600626"/>
            <a:ext cx="5873948" cy="4647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6364"/>
              </a:lnSpc>
              <a:buNone/>
            </a:pPr>
            <a:r>
              <a:rPr lang="en-US" sz="2400" dirty="0">
                <a:solidFill>
                  <a:srgbClr val="523236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An error of a few degrees is acceptable</a:t>
            </a:r>
            <a:endParaRPr lang="en-US" sz="2400" dirty="0"/>
          </a:p>
        </p:txBody>
      </p:sp>
      <p:sp>
        <p:nvSpPr>
          <p:cNvPr id="17" name="Shape 15"/>
          <p:cNvSpPr/>
          <p:nvPr/>
        </p:nvSpPr>
        <p:spPr>
          <a:xfrm>
            <a:off x="9705975" y="2941290"/>
            <a:ext cx="19050" cy="6155085"/>
          </a:xfrm>
          <a:prstGeom prst="rect">
            <a:avLst/>
          </a:prstGeom>
          <a:solidFill>
            <a:srgbClr val="EBD6CB"/>
          </a:solidFill>
          <a:ln/>
        </p:spPr>
      </p:sp>
      <p:sp>
        <p:nvSpPr>
          <p:cNvPr id="18" name="Text 16"/>
          <p:cNvSpPr/>
          <p:nvPr/>
        </p:nvSpPr>
        <p:spPr>
          <a:xfrm>
            <a:off x="10639425" y="2941290"/>
            <a:ext cx="7156133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1667"/>
              </a:lnSpc>
              <a:buNone/>
            </a:pPr>
            <a:r>
              <a:rPr lang="en-US" sz="3000" b="1" spc="-60" kern="0" dirty="0">
                <a:solidFill>
                  <a:srgbClr val="2B1216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Weather monitoring</a:t>
            </a:r>
            <a:endParaRPr lang="en-US" sz="3000" dirty="0"/>
          </a:p>
        </p:txBody>
      </p:sp>
      <p:sp>
        <p:nvSpPr>
          <p:cNvPr id="19" name="Text 17"/>
          <p:cNvSpPr/>
          <p:nvPr/>
        </p:nvSpPr>
        <p:spPr>
          <a:xfrm>
            <a:off x="10639425" y="3627090"/>
            <a:ext cx="7156133" cy="105154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79403"/>
              </a:lnSpc>
              <a:buNone/>
            </a:pPr>
            <a:r>
              <a:rPr lang="en-US" sz="8400" b="1" spc="-336" kern="0" dirty="0">
                <a:solidFill>
                  <a:srgbClr val="D7263D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± 0.1 °C</a:t>
            </a:r>
            <a:endParaRPr lang="en-US" sz="8400" dirty="0"/>
          </a:p>
        </p:txBody>
      </p:sp>
      <p:sp>
        <p:nvSpPr>
          <p:cNvPr id="20" name="Shape 18"/>
          <p:cNvSpPr/>
          <p:nvPr/>
        </p:nvSpPr>
        <p:spPr>
          <a:xfrm>
            <a:off x="10639425" y="5040585"/>
            <a:ext cx="152400" cy="152400"/>
          </a:xfrm>
          <a:prstGeom prst="ellipse">
            <a:avLst/>
          </a:prstGeom>
          <a:solidFill>
            <a:srgbClr val="F0508A"/>
          </a:solidFill>
          <a:ln/>
        </p:spPr>
      </p:sp>
      <p:sp>
        <p:nvSpPr>
          <p:cNvPr id="21" name="Text 19"/>
          <p:cNvSpPr/>
          <p:nvPr/>
        </p:nvSpPr>
        <p:spPr>
          <a:xfrm>
            <a:off x="11058525" y="4907235"/>
            <a:ext cx="4913293" cy="4647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6364"/>
              </a:lnSpc>
              <a:buNone/>
            </a:pPr>
            <a:r>
              <a:rPr lang="en-US" sz="2400" dirty="0">
                <a:solidFill>
                  <a:srgbClr val="523236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Goal: record small, real variations</a:t>
            </a:r>
            <a:endParaRPr lang="en-US" sz="2400" dirty="0"/>
          </a:p>
        </p:txBody>
      </p:sp>
      <p:sp>
        <p:nvSpPr>
          <p:cNvPr id="22" name="Shape 20"/>
          <p:cNvSpPr/>
          <p:nvPr/>
        </p:nvSpPr>
        <p:spPr>
          <a:xfrm>
            <a:off x="10639425" y="5733976"/>
            <a:ext cx="152400" cy="152400"/>
          </a:xfrm>
          <a:prstGeom prst="ellipse">
            <a:avLst/>
          </a:prstGeom>
          <a:solidFill>
            <a:srgbClr val="F0508A"/>
          </a:solidFill>
          <a:ln/>
        </p:spPr>
      </p:sp>
      <p:sp>
        <p:nvSpPr>
          <p:cNvPr id="23" name="Text 21"/>
          <p:cNvSpPr/>
          <p:nvPr/>
        </p:nvSpPr>
        <p:spPr>
          <a:xfrm>
            <a:off x="11058525" y="5600626"/>
            <a:ext cx="6269069" cy="8914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6364"/>
              </a:lnSpc>
              <a:buNone/>
            </a:pPr>
            <a:r>
              <a:rPr lang="en-US" sz="2400" dirty="0">
                <a:solidFill>
                  <a:srgbClr val="523236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Readings must stay consistent across many sensors</a:t>
            </a:r>
            <a:endParaRPr lang="en-US" sz="2400" dirty="0"/>
          </a:p>
        </p:txBody>
      </p:sp>
      <p:sp>
        <p:nvSpPr>
          <p:cNvPr id="24" name="Text 22"/>
          <p:cNvSpPr/>
          <p:nvPr/>
        </p:nvSpPr>
        <p:spPr>
          <a:xfrm>
            <a:off x="2286000" y="9096375"/>
            <a:ext cx="16344900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7D6164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Indicative orders of magnitude; meteorological stations typically target about 0.1 °C.</a:t>
            </a:r>
            <a:endParaRPr lang="en-US" sz="1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8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" cy="10287000"/>
          </a:xfrm>
          <a:prstGeom prst="rect">
            <a:avLst/>
          </a:prstGeom>
          <a:solidFill>
            <a:srgbClr val="D7263D"/>
          </a:solidFill>
          <a:ln/>
        </p:spPr>
      </p:sp>
      <p:sp>
        <p:nvSpPr>
          <p:cNvPr id="3" name="Text 1"/>
          <p:cNvSpPr/>
          <p:nvPr/>
        </p:nvSpPr>
        <p:spPr>
          <a:xfrm>
            <a:off x="351606" y="609600"/>
            <a:ext cx="592113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3019"/>
              </a:lnSpc>
              <a:buNone/>
            </a:pPr>
            <a:r>
              <a:rPr lang="en-US" sz="3300" b="1" dirty="0">
                <a:solidFill>
                  <a:srgbClr val="FFF8F2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02</a:t>
            </a:r>
            <a:endParaRPr lang="en-US" sz="3300" dirty="0"/>
          </a:p>
        </p:txBody>
      </p:sp>
      <p:sp>
        <p:nvSpPr>
          <p:cNvPr id="4" name="Text 2"/>
          <p:cNvSpPr/>
          <p:nvPr/>
        </p:nvSpPr>
        <p:spPr>
          <a:xfrm rot="10800000">
            <a:off x="471488" y="1409700"/>
            <a:ext cx="352425" cy="1513731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 vert="eaVert">
            <a:normAutofit/>
          </a:bodyPr>
          <a:lstStyle/>
          <a:p>
            <a:pPr algn="l" indent="0" marL="0">
              <a:buNone/>
            </a:pPr>
            <a:r>
              <a:rPr lang="en-US" sz="1800" b="1" spc="288" kern="0" dirty="0">
                <a:solidFill>
                  <a:srgbClr val="FFD9D2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EXAMPLES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419100" y="8767763"/>
            <a:ext cx="381000" cy="381000"/>
          </a:xfrm>
          <a:prstGeom prst="ellipse">
            <a:avLst/>
          </a:prstGeom>
          <a:solidFill>
            <a:srgbClr val="F0508A"/>
          </a:solidFill>
          <a:ln/>
        </p:spPr>
      </p:sp>
      <p:sp>
        <p:nvSpPr>
          <p:cNvPr id="6" name="Text 4"/>
          <p:cNvSpPr/>
          <p:nvPr/>
        </p:nvSpPr>
        <p:spPr>
          <a:xfrm>
            <a:off x="472380" y="9453563"/>
            <a:ext cx="350565" cy="3381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FFF8F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05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17240250" y="-1047750"/>
            <a:ext cx="2095500" cy="2095500"/>
          </a:xfrm>
          <a:prstGeom prst="ellipse">
            <a:avLst/>
          </a:prstGeom>
          <a:solidFill>
            <a:srgbClr val="F0508A"/>
          </a:solidFill>
          <a:ln/>
        </p:spPr>
      </p:sp>
      <p:sp>
        <p:nvSpPr>
          <p:cNvPr id="8" name="Shape 6"/>
          <p:cNvSpPr/>
          <p:nvPr/>
        </p:nvSpPr>
        <p:spPr>
          <a:xfrm>
            <a:off x="2286000" y="1052513"/>
            <a:ext cx="152400" cy="152400"/>
          </a:xfrm>
          <a:prstGeom prst="ellipse">
            <a:avLst/>
          </a:prstGeom>
          <a:solidFill>
            <a:srgbClr val="F0508A"/>
          </a:solidFill>
          <a:ln/>
        </p:spPr>
      </p:sp>
      <p:sp>
        <p:nvSpPr>
          <p:cNvPr id="9" name="Text 7"/>
          <p:cNvSpPr/>
          <p:nvPr/>
        </p:nvSpPr>
        <p:spPr>
          <a:xfrm>
            <a:off x="2590800" y="990600"/>
            <a:ext cx="4511955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288" kern="0" dirty="0">
                <a:solidFill>
                  <a:srgbClr val="B81D35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EXAMPLE: ACCELEROMETERS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2286000" y="1495425"/>
            <a:ext cx="13735050" cy="15582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7692"/>
              </a:lnSpc>
              <a:buNone/>
            </a:pPr>
            <a:r>
              <a:rPr lang="en-US" sz="5700" b="1" spc="-171" kern="0" dirty="0">
                <a:solidFill>
                  <a:srgbClr val="2B1216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Speed requirements vary by orders of magnitude</a:t>
            </a:r>
            <a:endParaRPr lang="en-US" sz="5700" dirty="0"/>
          </a:p>
        </p:txBody>
      </p:sp>
      <p:sp>
        <p:nvSpPr>
          <p:cNvPr id="11" name="Text 9"/>
          <p:cNvSpPr/>
          <p:nvPr/>
        </p:nvSpPr>
        <p:spPr>
          <a:xfrm>
            <a:off x="2286000" y="3701355"/>
            <a:ext cx="7156133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1667"/>
              </a:lnSpc>
              <a:buNone/>
            </a:pPr>
            <a:r>
              <a:rPr lang="en-US" sz="3000" b="1" spc="-60" kern="0" dirty="0">
                <a:solidFill>
                  <a:srgbClr val="2B1216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Orientation detection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2286000" y="4387155"/>
            <a:ext cx="7156133" cy="105154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79403"/>
              </a:lnSpc>
              <a:buNone/>
            </a:pPr>
            <a:r>
              <a:rPr lang="en-US" sz="8400" b="1" spc="-336" kern="0" dirty="0">
                <a:solidFill>
                  <a:srgbClr val="D7263D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6 states</a:t>
            </a:r>
            <a:endParaRPr lang="en-US" sz="8400" dirty="0"/>
          </a:p>
        </p:txBody>
      </p:sp>
      <p:sp>
        <p:nvSpPr>
          <p:cNvPr id="13" name="Shape 11"/>
          <p:cNvSpPr/>
          <p:nvPr/>
        </p:nvSpPr>
        <p:spPr>
          <a:xfrm>
            <a:off x="2286000" y="5800651"/>
            <a:ext cx="152400" cy="152400"/>
          </a:xfrm>
          <a:prstGeom prst="ellipse">
            <a:avLst/>
          </a:prstGeom>
          <a:solidFill>
            <a:srgbClr val="F0508A"/>
          </a:solidFill>
          <a:ln/>
        </p:spPr>
      </p:sp>
      <p:sp>
        <p:nvSpPr>
          <p:cNvPr id="14" name="Text 12"/>
          <p:cNvSpPr/>
          <p:nvPr/>
        </p:nvSpPr>
        <p:spPr>
          <a:xfrm>
            <a:off x="2705100" y="5667301"/>
            <a:ext cx="4729118" cy="4647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6364"/>
              </a:lnSpc>
              <a:buNone/>
            </a:pPr>
            <a:r>
              <a:rPr lang="en-US" sz="2400" dirty="0">
                <a:solidFill>
                  <a:srgbClr val="523236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Up, down, left, right, front, back</a:t>
            </a:r>
            <a:endParaRPr lang="en-US" sz="2400" dirty="0"/>
          </a:p>
        </p:txBody>
      </p:sp>
      <p:sp>
        <p:nvSpPr>
          <p:cNvPr id="15" name="Shape 13"/>
          <p:cNvSpPr/>
          <p:nvPr/>
        </p:nvSpPr>
        <p:spPr>
          <a:xfrm>
            <a:off x="2286000" y="6494041"/>
            <a:ext cx="152400" cy="152400"/>
          </a:xfrm>
          <a:prstGeom prst="ellipse">
            <a:avLst/>
          </a:prstGeom>
          <a:solidFill>
            <a:srgbClr val="F0508A"/>
          </a:solidFill>
          <a:ln/>
        </p:spPr>
      </p:sp>
      <p:sp>
        <p:nvSpPr>
          <p:cNvPr id="16" name="Text 14"/>
          <p:cNvSpPr/>
          <p:nvPr/>
        </p:nvSpPr>
        <p:spPr>
          <a:xfrm>
            <a:off x="2705100" y="6360691"/>
            <a:ext cx="4759732" cy="4647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6364"/>
              </a:lnSpc>
              <a:buNone/>
            </a:pPr>
            <a:r>
              <a:rPr lang="en-US" sz="2400" dirty="0">
                <a:solidFill>
                  <a:srgbClr val="523236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A low acquisition rate is enough</a:t>
            </a:r>
            <a:endParaRPr lang="en-US" sz="2400" dirty="0"/>
          </a:p>
        </p:txBody>
      </p:sp>
      <p:sp>
        <p:nvSpPr>
          <p:cNvPr id="17" name="Shape 15"/>
          <p:cNvSpPr/>
          <p:nvPr/>
        </p:nvSpPr>
        <p:spPr>
          <a:xfrm>
            <a:off x="9705975" y="3701355"/>
            <a:ext cx="19050" cy="5671245"/>
          </a:xfrm>
          <a:prstGeom prst="rect">
            <a:avLst/>
          </a:prstGeom>
          <a:solidFill>
            <a:srgbClr val="EBD6CB"/>
          </a:solidFill>
          <a:ln/>
        </p:spPr>
      </p:sp>
      <p:sp>
        <p:nvSpPr>
          <p:cNvPr id="18" name="Text 16"/>
          <p:cNvSpPr/>
          <p:nvPr/>
        </p:nvSpPr>
        <p:spPr>
          <a:xfrm>
            <a:off x="10639425" y="3701355"/>
            <a:ext cx="7156133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1667"/>
              </a:lnSpc>
              <a:buNone/>
            </a:pPr>
            <a:r>
              <a:rPr lang="en-US" sz="3000" b="1" spc="-60" kern="0" dirty="0">
                <a:solidFill>
                  <a:srgbClr val="2B1216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Drone flight control</a:t>
            </a:r>
            <a:endParaRPr lang="en-US" sz="3000" dirty="0"/>
          </a:p>
        </p:txBody>
      </p:sp>
      <p:sp>
        <p:nvSpPr>
          <p:cNvPr id="19" name="Text 17"/>
          <p:cNvSpPr/>
          <p:nvPr/>
        </p:nvSpPr>
        <p:spPr>
          <a:xfrm>
            <a:off x="10639425" y="4387155"/>
            <a:ext cx="7156133" cy="105154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79403"/>
              </a:lnSpc>
              <a:buNone/>
            </a:pPr>
            <a:r>
              <a:rPr lang="en-US" sz="8400" b="1" spc="-336" kern="0" dirty="0">
                <a:solidFill>
                  <a:srgbClr val="D7263D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10 Hz → 1 kHz</a:t>
            </a:r>
            <a:endParaRPr lang="en-US" sz="8400" dirty="0"/>
          </a:p>
        </p:txBody>
      </p:sp>
      <p:sp>
        <p:nvSpPr>
          <p:cNvPr id="20" name="Shape 18"/>
          <p:cNvSpPr/>
          <p:nvPr/>
        </p:nvSpPr>
        <p:spPr>
          <a:xfrm>
            <a:off x="10639425" y="5800651"/>
            <a:ext cx="152400" cy="152400"/>
          </a:xfrm>
          <a:prstGeom prst="ellipse">
            <a:avLst/>
          </a:prstGeom>
          <a:solidFill>
            <a:srgbClr val="F0508A"/>
          </a:solidFill>
          <a:ln/>
        </p:spPr>
      </p:sp>
      <p:sp>
        <p:nvSpPr>
          <p:cNvPr id="21" name="Text 19"/>
          <p:cNvSpPr/>
          <p:nvPr/>
        </p:nvSpPr>
        <p:spPr>
          <a:xfrm>
            <a:off x="11058525" y="5667301"/>
            <a:ext cx="6269069" cy="8914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6364"/>
              </a:lnSpc>
              <a:buNone/>
            </a:pPr>
            <a:r>
              <a:rPr lang="en-US" sz="2400" dirty="0">
                <a:solidFill>
                  <a:srgbClr val="523236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Measures the full acceleration vector accurately</a:t>
            </a:r>
            <a:endParaRPr lang="en-US" sz="2400" dirty="0"/>
          </a:p>
        </p:txBody>
      </p:sp>
      <p:sp>
        <p:nvSpPr>
          <p:cNvPr id="22" name="Shape 20"/>
          <p:cNvSpPr/>
          <p:nvPr/>
        </p:nvSpPr>
        <p:spPr>
          <a:xfrm>
            <a:off x="10639425" y="6920731"/>
            <a:ext cx="152400" cy="152400"/>
          </a:xfrm>
          <a:prstGeom prst="ellipse">
            <a:avLst/>
          </a:prstGeom>
          <a:solidFill>
            <a:srgbClr val="F0508A"/>
          </a:solidFill>
          <a:ln/>
        </p:spPr>
      </p:sp>
      <p:sp>
        <p:nvSpPr>
          <p:cNvPr id="23" name="Text 21"/>
          <p:cNvSpPr/>
          <p:nvPr/>
        </p:nvSpPr>
        <p:spPr>
          <a:xfrm>
            <a:off x="11058525" y="6787381"/>
            <a:ext cx="6269069" cy="8914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6364"/>
              </a:lnSpc>
              <a:buNone/>
            </a:pPr>
            <a:r>
              <a:rPr lang="en-US" sz="2400" dirty="0">
                <a:solidFill>
                  <a:srgbClr val="523236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Reacts fast enough to compensate for gravity, wind and movement</a:t>
            </a:r>
            <a:endParaRPr lang="en-US" sz="2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8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" cy="10287000"/>
          </a:xfrm>
          <a:prstGeom prst="rect">
            <a:avLst/>
          </a:prstGeom>
          <a:solidFill>
            <a:srgbClr val="D7263D"/>
          </a:solidFill>
          <a:ln/>
        </p:spPr>
      </p:sp>
      <p:sp>
        <p:nvSpPr>
          <p:cNvPr id="3" name="Text 1"/>
          <p:cNvSpPr/>
          <p:nvPr/>
        </p:nvSpPr>
        <p:spPr>
          <a:xfrm>
            <a:off x="350788" y="609600"/>
            <a:ext cx="59375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3019"/>
              </a:lnSpc>
              <a:buNone/>
            </a:pPr>
            <a:r>
              <a:rPr lang="en-US" sz="3300" b="1" dirty="0">
                <a:solidFill>
                  <a:srgbClr val="FFF8F2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03</a:t>
            </a:r>
            <a:endParaRPr lang="en-US" sz="3300" dirty="0"/>
          </a:p>
        </p:txBody>
      </p:sp>
      <p:sp>
        <p:nvSpPr>
          <p:cNvPr id="4" name="Text 2"/>
          <p:cNvSpPr/>
          <p:nvPr/>
        </p:nvSpPr>
        <p:spPr>
          <a:xfrm rot="10800000">
            <a:off x="471488" y="1409700"/>
            <a:ext cx="352425" cy="2201242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 vert="eaVert">
            <a:normAutofit/>
          </a:bodyPr>
          <a:lstStyle/>
          <a:p>
            <a:pPr algn="l" indent="0" marL="0">
              <a:buNone/>
            </a:pPr>
            <a:r>
              <a:rPr lang="en-US" sz="1800" b="1" spc="288" kern="0" dirty="0">
                <a:solidFill>
                  <a:srgbClr val="FFD9D2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ARCHITECTURE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419100" y="8767763"/>
            <a:ext cx="381000" cy="381000"/>
          </a:xfrm>
          <a:prstGeom prst="ellipse">
            <a:avLst/>
          </a:prstGeom>
          <a:solidFill>
            <a:srgbClr val="FF6F59"/>
          </a:solidFill>
          <a:ln/>
        </p:spPr>
      </p:sp>
      <p:sp>
        <p:nvSpPr>
          <p:cNvPr id="6" name="Text 4"/>
          <p:cNvSpPr/>
          <p:nvPr/>
        </p:nvSpPr>
        <p:spPr>
          <a:xfrm>
            <a:off x="472380" y="9453563"/>
            <a:ext cx="350565" cy="3381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FFF8F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06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17240250" y="-1047750"/>
            <a:ext cx="2095500" cy="2095500"/>
          </a:xfrm>
          <a:prstGeom prst="ellipse">
            <a:avLst/>
          </a:prstGeom>
          <a:solidFill>
            <a:srgbClr val="FF6F59"/>
          </a:solidFill>
          <a:ln/>
        </p:spPr>
      </p:sp>
      <p:sp>
        <p:nvSpPr>
          <p:cNvPr id="8" name="Shape 6"/>
          <p:cNvSpPr/>
          <p:nvPr/>
        </p:nvSpPr>
        <p:spPr>
          <a:xfrm>
            <a:off x="2286000" y="1052513"/>
            <a:ext cx="152400" cy="152400"/>
          </a:xfrm>
          <a:prstGeom prst="ellipse">
            <a:avLst/>
          </a:prstGeom>
          <a:solidFill>
            <a:srgbClr val="FF6F59"/>
          </a:solidFill>
          <a:ln/>
        </p:spPr>
      </p:sp>
      <p:sp>
        <p:nvSpPr>
          <p:cNvPr id="9" name="Text 7"/>
          <p:cNvSpPr/>
          <p:nvPr/>
        </p:nvSpPr>
        <p:spPr>
          <a:xfrm>
            <a:off x="2590800" y="990600"/>
            <a:ext cx="2726851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288" kern="0" dirty="0">
                <a:solidFill>
                  <a:srgbClr val="B81D35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INSIDE A SENSOR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2286000" y="1495425"/>
            <a:ext cx="13735050" cy="15582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7692"/>
              </a:lnSpc>
              <a:buNone/>
            </a:pPr>
            <a:r>
              <a:rPr lang="en-US" sz="5700" b="1" spc="-171" kern="0" dirty="0">
                <a:solidFill>
                  <a:srgbClr val="2B1216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Sensors now process data before reporting it</a:t>
            </a:r>
            <a:endParaRPr lang="en-US" sz="5700" dirty="0"/>
          </a:p>
        </p:txBody>
      </p:sp>
      <p:sp>
        <p:nvSpPr>
          <p:cNvPr id="11" name="Shape 9"/>
          <p:cNvSpPr/>
          <p:nvPr/>
        </p:nvSpPr>
        <p:spPr>
          <a:xfrm>
            <a:off x="2286000" y="3425130"/>
            <a:ext cx="152400" cy="152400"/>
          </a:xfrm>
          <a:prstGeom prst="ellipse">
            <a:avLst/>
          </a:prstGeom>
          <a:solidFill>
            <a:srgbClr val="FF6F59"/>
          </a:solidFill>
          <a:ln/>
        </p:spPr>
      </p:sp>
      <p:sp>
        <p:nvSpPr>
          <p:cNvPr id="12" name="Text 10"/>
          <p:cNvSpPr/>
          <p:nvPr/>
        </p:nvSpPr>
        <p:spPr>
          <a:xfrm>
            <a:off x="2667000" y="3320355"/>
            <a:ext cx="6136164" cy="7581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2836"/>
              </a:lnSpc>
              <a:buNone/>
            </a:pPr>
            <a:r>
              <a:rPr lang="en-US" sz="2100" dirty="0">
                <a:solidFill>
                  <a:srgbClr val="523236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Physical quantities are analog at the source: pressure, temperature, force, acceleration</a:t>
            </a:r>
            <a:endParaRPr lang="en-US" sz="2100" dirty="0"/>
          </a:p>
        </p:txBody>
      </p:sp>
      <p:sp>
        <p:nvSpPr>
          <p:cNvPr id="13" name="Shape 11"/>
          <p:cNvSpPr/>
          <p:nvPr/>
        </p:nvSpPr>
        <p:spPr>
          <a:xfrm>
            <a:off x="2286000" y="4316611"/>
            <a:ext cx="152400" cy="152400"/>
          </a:xfrm>
          <a:prstGeom prst="ellipse">
            <a:avLst/>
          </a:prstGeom>
          <a:solidFill>
            <a:srgbClr val="FF6F59"/>
          </a:solidFill>
          <a:ln/>
        </p:spPr>
      </p:sp>
      <p:sp>
        <p:nvSpPr>
          <p:cNvPr id="14" name="Text 12"/>
          <p:cNvSpPr/>
          <p:nvPr/>
        </p:nvSpPr>
        <p:spPr>
          <a:xfrm>
            <a:off x="2667000" y="4211836"/>
            <a:ext cx="6136164" cy="111814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2836"/>
              </a:lnSpc>
              <a:buNone/>
            </a:pPr>
            <a:r>
              <a:rPr lang="en-US" sz="2100" dirty="0">
                <a:solidFill>
                  <a:srgbClr val="523236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Simple sensors expose them as a change in resistance, current or voltage, read by the processor</a:t>
            </a:r>
            <a:endParaRPr lang="en-US" sz="2100" dirty="0"/>
          </a:p>
        </p:txBody>
      </p:sp>
      <p:sp>
        <p:nvSpPr>
          <p:cNvPr id="15" name="Shape 13"/>
          <p:cNvSpPr/>
          <p:nvPr/>
        </p:nvSpPr>
        <p:spPr>
          <a:xfrm>
            <a:off x="2286000" y="5568107"/>
            <a:ext cx="152400" cy="152400"/>
          </a:xfrm>
          <a:prstGeom prst="ellipse">
            <a:avLst/>
          </a:prstGeom>
          <a:solidFill>
            <a:srgbClr val="FF6F59"/>
          </a:solidFill>
          <a:ln/>
        </p:spPr>
      </p:sp>
      <p:sp>
        <p:nvSpPr>
          <p:cNvPr id="16" name="Text 14"/>
          <p:cNvSpPr/>
          <p:nvPr/>
        </p:nvSpPr>
        <p:spPr>
          <a:xfrm>
            <a:off x="2667000" y="5463332"/>
            <a:ext cx="6136164" cy="111814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2836"/>
              </a:lnSpc>
              <a:buNone/>
            </a:pPr>
            <a:r>
              <a:rPr lang="en-US" sz="2100" dirty="0">
                <a:solidFill>
                  <a:srgbClr val="523236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Integrating the ADC inside the sensor reduces noise and the transformations applied to the signal</a:t>
            </a:r>
            <a:endParaRPr lang="en-US" sz="2100" dirty="0"/>
          </a:p>
        </p:txBody>
      </p:sp>
      <p:sp>
        <p:nvSpPr>
          <p:cNvPr id="17" name="Shape 15"/>
          <p:cNvSpPr/>
          <p:nvPr/>
        </p:nvSpPr>
        <p:spPr>
          <a:xfrm>
            <a:off x="2286000" y="6819602"/>
            <a:ext cx="152400" cy="152400"/>
          </a:xfrm>
          <a:prstGeom prst="ellipse">
            <a:avLst/>
          </a:prstGeom>
          <a:solidFill>
            <a:srgbClr val="FF6F59"/>
          </a:solidFill>
          <a:ln/>
        </p:spPr>
      </p:sp>
      <p:sp>
        <p:nvSpPr>
          <p:cNvPr id="18" name="Text 16"/>
          <p:cNvSpPr/>
          <p:nvPr/>
        </p:nvSpPr>
        <p:spPr>
          <a:xfrm>
            <a:off x="2667000" y="6714827"/>
            <a:ext cx="6136164" cy="7581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2836"/>
              </a:lnSpc>
              <a:buNone/>
            </a:pPr>
            <a:r>
              <a:rPr lang="en-US" sz="2100" dirty="0">
                <a:solidFill>
                  <a:srgbClr val="523236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A small dedicated block drives this conversion — a tiny processor, not user-programmable</a:t>
            </a:r>
            <a:endParaRPr lang="en-US" sz="2100" dirty="0"/>
          </a:p>
        </p:txBody>
      </p:sp>
      <p:sp>
        <p:nvSpPr>
          <p:cNvPr id="19" name="Shape 17"/>
          <p:cNvSpPr/>
          <p:nvPr/>
        </p:nvSpPr>
        <p:spPr>
          <a:xfrm>
            <a:off x="2286000" y="7711083"/>
            <a:ext cx="152400" cy="152400"/>
          </a:xfrm>
          <a:prstGeom prst="ellipse">
            <a:avLst/>
          </a:prstGeom>
          <a:solidFill>
            <a:srgbClr val="FF6F59"/>
          </a:solidFill>
          <a:ln/>
        </p:spPr>
      </p:sp>
      <p:sp>
        <p:nvSpPr>
          <p:cNvPr id="20" name="Text 18"/>
          <p:cNvSpPr/>
          <p:nvPr/>
        </p:nvSpPr>
        <p:spPr>
          <a:xfrm>
            <a:off x="2667000" y="7606308"/>
            <a:ext cx="6136164" cy="111814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2836"/>
              </a:lnSpc>
              <a:buNone/>
            </a:pPr>
            <a:r>
              <a:rPr lang="en-US" sz="2100" dirty="0">
                <a:solidFill>
                  <a:srgbClr val="2B1216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New sensors embed real processing, even neural networks, so the host can sleep until an event matters</a:t>
            </a:r>
            <a:endParaRPr lang="en-US" sz="2100" dirty="0"/>
          </a:p>
        </p:txBody>
      </p:sp>
      <p:sp>
        <p:nvSpPr>
          <p:cNvPr id="21" name="Shape 19"/>
          <p:cNvSpPr/>
          <p:nvPr/>
        </p:nvSpPr>
        <p:spPr>
          <a:xfrm>
            <a:off x="9538841" y="3320355"/>
            <a:ext cx="7606159" cy="3662362"/>
          </a:xfrm>
          <a:prstGeom prst="roundRect">
            <a:avLst>
              <a:gd name="adj" fmla="val 4161"/>
            </a:avLst>
          </a:prstGeom>
          <a:ln w="28575">
            <a:solidFill>
              <a:srgbClr val="2B121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872216" y="3539430"/>
            <a:ext cx="1968951" cy="4048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spc="-48" kern="0" dirty="0">
                <a:solidFill>
                  <a:srgbClr val="2B1216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IIS3DWB10IS</a:t>
            </a:r>
            <a:endParaRPr lang="en-US" sz="2400" dirty="0"/>
          </a:p>
        </p:txBody>
      </p:sp>
      <p:sp>
        <p:nvSpPr>
          <p:cNvPr id="23" name="Text 21"/>
          <p:cNvSpPr/>
          <p:nvPr/>
        </p:nvSpPr>
        <p:spPr>
          <a:xfrm>
            <a:off x="15302805" y="3591818"/>
            <a:ext cx="1659701" cy="3381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7D616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one package</a:t>
            </a:r>
            <a:endParaRPr lang="en-US" sz="1800" dirty="0"/>
          </a:p>
        </p:txBody>
      </p:sp>
      <p:sp>
        <p:nvSpPr>
          <p:cNvPr id="24" name="Shape 22"/>
          <p:cNvSpPr/>
          <p:nvPr/>
        </p:nvSpPr>
        <p:spPr>
          <a:xfrm>
            <a:off x="9872216" y="4039493"/>
            <a:ext cx="6939409" cy="571500"/>
          </a:xfrm>
          <a:prstGeom prst="roundRect">
            <a:avLst>
              <a:gd name="adj" fmla="val 20000"/>
            </a:avLst>
          </a:prstGeom>
          <a:solidFill>
            <a:srgbClr val="FCEEE4"/>
          </a:solidFill>
          <a:ln/>
        </p:spPr>
      </p:sp>
      <p:sp>
        <p:nvSpPr>
          <p:cNvPr id="25" name="Text 23"/>
          <p:cNvSpPr/>
          <p:nvPr/>
        </p:nvSpPr>
        <p:spPr>
          <a:xfrm>
            <a:off x="10100816" y="4153793"/>
            <a:ext cx="2828925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2B1216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Sensing element</a:t>
            </a:r>
            <a:endParaRPr lang="en-US" sz="2250" dirty="0"/>
          </a:p>
        </p:txBody>
      </p:sp>
      <p:sp>
        <p:nvSpPr>
          <p:cNvPr id="26" name="Text 24"/>
          <p:cNvSpPr/>
          <p:nvPr/>
        </p:nvSpPr>
        <p:spPr>
          <a:xfrm>
            <a:off x="12901166" y="4175224"/>
            <a:ext cx="4050045" cy="3381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52323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MEMS · 3 axes</a:t>
            </a:r>
            <a:endParaRPr lang="en-US" sz="1800" dirty="0"/>
          </a:p>
        </p:txBody>
      </p:sp>
      <p:sp>
        <p:nvSpPr>
          <p:cNvPr id="27" name="Shape 25"/>
          <p:cNvSpPr/>
          <p:nvPr/>
        </p:nvSpPr>
        <p:spPr>
          <a:xfrm>
            <a:off x="10253216" y="4610993"/>
            <a:ext cx="28575" cy="133350"/>
          </a:xfrm>
          <a:prstGeom prst="rect">
            <a:avLst/>
          </a:prstGeom>
          <a:solidFill>
            <a:srgbClr val="2B1216"/>
          </a:solidFill>
          <a:ln/>
        </p:spPr>
      </p:sp>
      <p:sp>
        <p:nvSpPr>
          <p:cNvPr id="28" name="Shape 26"/>
          <p:cNvSpPr/>
          <p:nvPr/>
        </p:nvSpPr>
        <p:spPr>
          <a:xfrm>
            <a:off x="9872216" y="4744343"/>
            <a:ext cx="6939409" cy="571500"/>
          </a:xfrm>
          <a:prstGeom prst="roundRect">
            <a:avLst>
              <a:gd name="adj" fmla="val 20000"/>
            </a:avLst>
          </a:prstGeom>
          <a:solidFill>
            <a:srgbClr val="FCEEE4"/>
          </a:solidFill>
          <a:ln/>
        </p:spPr>
      </p:sp>
      <p:sp>
        <p:nvSpPr>
          <p:cNvPr id="29" name="Text 27"/>
          <p:cNvSpPr/>
          <p:nvPr/>
        </p:nvSpPr>
        <p:spPr>
          <a:xfrm>
            <a:off x="10100816" y="4858643"/>
            <a:ext cx="2828925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2B1216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ADC</a:t>
            </a:r>
            <a:endParaRPr lang="en-US" sz="2250" dirty="0"/>
          </a:p>
        </p:txBody>
      </p:sp>
      <p:sp>
        <p:nvSpPr>
          <p:cNvPr id="30" name="Text 28"/>
          <p:cNvSpPr/>
          <p:nvPr/>
        </p:nvSpPr>
        <p:spPr>
          <a:xfrm>
            <a:off x="12901166" y="4880074"/>
            <a:ext cx="4050045" cy="3381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52323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analog → digital</a:t>
            </a:r>
            <a:endParaRPr lang="en-US" sz="1800" dirty="0"/>
          </a:p>
        </p:txBody>
      </p:sp>
      <p:sp>
        <p:nvSpPr>
          <p:cNvPr id="31" name="Shape 29"/>
          <p:cNvSpPr/>
          <p:nvPr/>
        </p:nvSpPr>
        <p:spPr>
          <a:xfrm>
            <a:off x="10253216" y="5315843"/>
            <a:ext cx="28575" cy="133350"/>
          </a:xfrm>
          <a:prstGeom prst="rect">
            <a:avLst/>
          </a:prstGeom>
          <a:solidFill>
            <a:srgbClr val="2B1216"/>
          </a:solidFill>
          <a:ln/>
        </p:spPr>
      </p:sp>
      <p:sp>
        <p:nvSpPr>
          <p:cNvPr id="32" name="Shape 30"/>
          <p:cNvSpPr/>
          <p:nvPr/>
        </p:nvSpPr>
        <p:spPr>
          <a:xfrm>
            <a:off x="9872216" y="5449193"/>
            <a:ext cx="6939409" cy="571500"/>
          </a:xfrm>
          <a:prstGeom prst="roundRect">
            <a:avLst>
              <a:gd name="adj" fmla="val 20000"/>
            </a:avLst>
          </a:prstGeom>
          <a:solidFill>
            <a:srgbClr val="FFD9D2"/>
          </a:solidFill>
          <a:ln/>
        </p:spPr>
      </p:sp>
      <p:sp>
        <p:nvSpPr>
          <p:cNvPr id="33" name="Text 31"/>
          <p:cNvSpPr/>
          <p:nvPr/>
        </p:nvSpPr>
        <p:spPr>
          <a:xfrm>
            <a:off x="10100816" y="5563493"/>
            <a:ext cx="2828925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2B1216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Digital processing</a:t>
            </a:r>
            <a:endParaRPr lang="en-US" sz="2250" dirty="0"/>
          </a:p>
        </p:txBody>
      </p:sp>
      <p:sp>
        <p:nvSpPr>
          <p:cNvPr id="34" name="Text 32"/>
          <p:cNvSpPr/>
          <p:nvPr/>
        </p:nvSpPr>
        <p:spPr>
          <a:xfrm>
            <a:off x="12901166" y="5584924"/>
            <a:ext cx="4050045" cy="3381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52323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filtering · FIFO buffer</a:t>
            </a:r>
            <a:endParaRPr lang="en-US" sz="1800" dirty="0"/>
          </a:p>
        </p:txBody>
      </p:sp>
      <p:sp>
        <p:nvSpPr>
          <p:cNvPr id="35" name="Shape 33"/>
          <p:cNvSpPr/>
          <p:nvPr/>
        </p:nvSpPr>
        <p:spPr>
          <a:xfrm>
            <a:off x="10253216" y="6020693"/>
            <a:ext cx="28575" cy="133350"/>
          </a:xfrm>
          <a:prstGeom prst="rect">
            <a:avLst/>
          </a:prstGeom>
          <a:solidFill>
            <a:srgbClr val="2B1216"/>
          </a:solidFill>
          <a:ln/>
        </p:spPr>
      </p:sp>
      <p:sp>
        <p:nvSpPr>
          <p:cNvPr id="36" name="Shape 34"/>
          <p:cNvSpPr/>
          <p:nvPr/>
        </p:nvSpPr>
        <p:spPr>
          <a:xfrm>
            <a:off x="9872216" y="6154043"/>
            <a:ext cx="6939409" cy="571500"/>
          </a:xfrm>
          <a:prstGeom prst="roundRect">
            <a:avLst>
              <a:gd name="adj" fmla="val 20000"/>
            </a:avLst>
          </a:prstGeom>
          <a:solidFill>
            <a:srgbClr val="D7263D"/>
          </a:solidFill>
          <a:ln/>
        </p:spPr>
      </p:sp>
      <p:sp>
        <p:nvSpPr>
          <p:cNvPr id="37" name="Text 35"/>
          <p:cNvSpPr/>
          <p:nvPr/>
        </p:nvSpPr>
        <p:spPr>
          <a:xfrm>
            <a:off x="10100816" y="6268343"/>
            <a:ext cx="2828925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FFF8F2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ISPU</a:t>
            </a:r>
            <a:endParaRPr lang="en-US" sz="2250" dirty="0"/>
          </a:p>
        </p:txBody>
      </p:sp>
      <p:sp>
        <p:nvSpPr>
          <p:cNvPr id="38" name="Text 36"/>
          <p:cNvSpPr/>
          <p:nvPr/>
        </p:nvSpPr>
        <p:spPr>
          <a:xfrm>
            <a:off x="12901166" y="6289774"/>
            <a:ext cx="4050045" cy="3381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FFF8F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 code · neural networks</a:t>
            </a:r>
            <a:endParaRPr lang="en-US" sz="1800" dirty="0"/>
          </a:p>
        </p:txBody>
      </p:sp>
      <p:sp>
        <p:nvSpPr>
          <p:cNvPr id="39" name="Shape 37"/>
          <p:cNvSpPr/>
          <p:nvPr/>
        </p:nvSpPr>
        <p:spPr>
          <a:xfrm>
            <a:off x="9957941" y="6982718"/>
            <a:ext cx="28575" cy="304800"/>
          </a:xfrm>
          <a:prstGeom prst="rect">
            <a:avLst/>
          </a:prstGeom>
          <a:solidFill>
            <a:srgbClr val="2B1216"/>
          </a:solidFill>
          <a:ln/>
        </p:spPr>
      </p:sp>
      <p:sp>
        <p:nvSpPr>
          <p:cNvPr id="40" name="Text 38"/>
          <p:cNvSpPr/>
          <p:nvPr/>
        </p:nvSpPr>
        <p:spPr>
          <a:xfrm>
            <a:off x="10177016" y="6985099"/>
            <a:ext cx="4526280" cy="3381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7D616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SPI / I3C · interrupt on event</a:t>
            </a:r>
            <a:endParaRPr lang="en-US" sz="1800" dirty="0"/>
          </a:p>
        </p:txBody>
      </p:sp>
      <p:sp>
        <p:nvSpPr>
          <p:cNvPr id="41" name="Shape 39"/>
          <p:cNvSpPr/>
          <p:nvPr/>
        </p:nvSpPr>
        <p:spPr>
          <a:xfrm>
            <a:off x="9538841" y="7287518"/>
            <a:ext cx="7606159" cy="628650"/>
          </a:xfrm>
          <a:prstGeom prst="roundRect">
            <a:avLst>
              <a:gd name="adj" fmla="val 18182"/>
            </a:avLst>
          </a:prstGeom>
          <a:ln w="28575">
            <a:solidFill>
              <a:srgbClr val="FFB3A6"/>
            </a:solidFill>
            <a:prstDash val="dash"/>
          </a:ln>
        </p:spPr>
      </p:sp>
      <p:sp>
        <p:nvSpPr>
          <p:cNvPr id="42" name="Text 40"/>
          <p:cNvSpPr/>
          <p:nvPr/>
        </p:nvSpPr>
        <p:spPr>
          <a:xfrm>
            <a:off x="9796016" y="7430393"/>
            <a:ext cx="2828925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2B1216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Host processor</a:t>
            </a:r>
            <a:endParaRPr lang="en-US" sz="2250" dirty="0"/>
          </a:p>
        </p:txBody>
      </p:sp>
      <p:sp>
        <p:nvSpPr>
          <p:cNvPr id="43" name="Text 41"/>
          <p:cNvSpPr/>
          <p:nvPr/>
        </p:nvSpPr>
        <p:spPr>
          <a:xfrm>
            <a:off x="12596366" y="7451824"/>
            <a:ext cx="4720605" cy="3381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52323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sleeps until woken</a:t>
            </a:r>
            <a:endParaRPr lang="en-US" sz="1800" dirty="0"/>
          </a:p>
        </p:txBody>
      </p:sp>
      <p:sp>
        <p:nvSpPr>
          <p:cNvPr id="44" name="Text 42"/>
          <p:cNvSpPr/>
          <p:nvPr/>
        </p:nvSpPr>
        <p:spPr>
          <a:xfrm>
            <a:off x="2286000" y="9096375"/>
            <a:ext cx="16344900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7D6164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Simplified view. ISPU: intelligent sensor processing unit. Source: STMicroelectronics, IIS3DWB10IS product page.</a:t>
            </a:r>
            <a:endParaRPr lang="en-US" sz="1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8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" cy="10287000"/>
          </a:xfrm>
          <a:prstGeom prst="rect">
            <a:avLst/>
          </a:prstGeom>
          <a:solidFill>
            <a:srgbClr val="D7263D"/>
          </a:solidFill>
          <a:ln/>
        </p:spPr>
      </p:sp>
      <p:sp>
        <p:nvSpPr>
          <p:cNvPr id="3" name="Text 1"/>
          <p:cNvSpPr/>
          <p:nvPr/>
        </p:nvSpPr>
        <p:spPr>
          <a:xfrm>
            <a:off x="350788" y="609600"/>
            <a:ext cx="59375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3019"/>
              </a:lnSpc>
              <a:buNone/>
            </a:pPr>
            <a:r>
              <a:rPr lang="en-US" sz="3300" b="1" dirty="0">
                <a:solidFill>
                  <a:srgbClr val="FFF8F2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03</a:t>
            </a:r>
            <a:endParaRPr lang="en-US" sz="3300" dirty="0"/>
          </a:p>
        </p:txBody>
      </p:sp>
      <p:sp>
        <p:nvSpPr>
          <p:cNvPr id="4" name="Text 2"/>
          <p:cNvSpPr/>
          <p:nvPr/>
        </p:nvSpPr>
        <p:spPr>
          <a:xfrm rot="10800000">
            <a:off x="471488" y="1409700"/>
            <a:ext cx="352425" cy="2201242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 vert="eaVert">
            <a:normAutofit/>
          </a:bodyPr>
          <a:lstStyle/>
          <a:p>
            <a:pPr algn="l" indent="0" marL="0">
              <a:buNone/>
            </a:pPr>
            <a:r>
              <a:rPr lang="en-US" sz="1800" b="1" spc="288" kern="0" dirty="0">
                <a:solidFill>
                  <a:srgbClr val="FFD9D2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ARCHITECTURE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419100" y="8767763"/>
            <a:ext cx="381000" cy="381000"/>
          </a:xfrm>
          <a:prstGeom prst="ellipse">
            <a:avLst/>
          </a:prstGeom>
          <a:solidFill>
            <a:srgbClr val="FF6F59"/>
          </a:solidFill>
          <a:ln/>
        </p:spPr>
      </p:sp>
      <p:sp>
        <p:nvSpPr>
          <p:cNvPr id="6" name="Text 4"/>
          <p:cNvSpPr/>
          <p:nvPr/>
        </p:nvSpPr>
        <p:spPr>
          <a:xfrm>
            <a:off x="472380" y="9453563"/>
            <a:ext cx="350565" cy="3381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FFF8F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07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17240250" y="-1047750"/>
            <a:ext cx="2095500" cy="2095500"/>
          </a:xfrm>
          <a:prstGeom prst="ellipse">
            <a:avLst/>
          </a:prstGeom>
          <a:solidFill>
            <a:srgbClr val="FF6F59"/>
          </a:solidFill>
          <a:ln/>
        </p:spPr>
      </p:sp>
      <p:sp>
        <p:nvSpPr>
          <p:cNvPr id="8" name="Shape 6"/>
          <p:cNvSpPr/>
          <p:nvPr/>
        </p:nvSpPr>
        <p:spPr>
          <a:xfrm>
            <a:off x="2286000" y="1052513"/>
            <a:ext cx="152400" cy="152400"/>
          </a:xfrm>
          <a:prstGeom prst="ellipse">
            <a:avLst/>
          </a:prstGeom>
          <a:solidFill>
            <a:srgbClr val="FF6F59"/>
          </a:solidFill>
          <a:ln/>
        </p:spPr>
      </p:sp>
      <p:sp>
        <p:nvSpPr>
          <p:cNvPr id="9" name="Text 7"/>
          <p:cNvSpPr/>
          <p:nvPr/>
        </p:nvSpPr>
        <p:spPr>
          <a:xfrm>
            <a:off x="2590800" y="990600"/>
            <a:ext cx="2312335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288" kern="0" dirty="0">
                <a:solidFill>
                  <a:srgbClr val="B81D35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SENSOR TYPES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2286000" y="1495425"/>
            <a:ext cx="14668500" cy="79816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7692"/>
              </a:lnSpc>
              <a:buNone/>
            </a:pPr>
            <a:r>
              <a:rPr lang="en-US" sz="5700" b="1" spc="-171" kern="0" dirty="0">
                <a:solidFill>
                  <a:srgbClr val="2B1216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From raw signal to on-chip decision</a:t>
            </a:r>
            <a:endParaRPr lang="en-US" sz="5700" dirty="0"/>
          </a:p>
        </p:txBody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-2755" b="-2755"/>
          <a:stretch/>
        </p:blipFill>
        <p:spPr>
          <a:xfrm>
            <a:off x="2286000" y="2712690"/>
            <a:ext cx="2171700" cy="2667000"/>
          </a:xfrm>
          <a:prstGeom prst="rect">
            <a:avLst/>
          </a:prstGeom>
        </p:spPr>
      </p:pic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-11981" b="-11981"/>
          <a:stretch/>
        </p:blipFill>
        <p:spPr>
          <a:xfrm>
            <a:off x="4610100" y="2712690"/>
            <a:ext cx="2171700" cy="266700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2286000" y="5570190"/>
            <a:ext cx="2388870" cy="3381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7D616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Temperature</a:t>
            </a:r>
            <a:endParaRPr lang="en-US" sz="1800" dirty="0"/>
          </a:p>
        </p:txBody>
      </p:sp>
      <p:sp>
        <p:nvSpPr>
          <p:cNvPr id="14" name="Text 10"/>
          <p:cNvSpPr/>
          <p:nvPr/>
        </p:nvSpPr>
        <p:spPr>
          <a:xfrm>
            <a:off x="4610100" y="5570190"/>
            <a:ext cx="2388870" cy="3381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7D616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Light</a:t>
            </a:r>
            <a:endParaRPr lang="en-US" sz="1800" dirty="0"/>
          </a:p>
        </p:txBody>
      </p:sp>
      <p:sp>
        <p:nvSpPr>
          <p:cNvPr id="15" name="Shape 11"/>
          <p:cNvSpPr/>
          <p:nvPr/>
        </p:nvSpPr>
        <p:spPr>
          <a:xfrm>
            <a:off x="2286000" y="6175028"/>
            <a:ext cx="685800" cy="95250"/>
          </a:xfrm>
          <a:prstGeom prst="roundRect">
            <a:avLst>
              <a:gd name="adj" fmla="val 50000"/>
            </a:avLst>
          </a:prstGeom>
          <a:solidFill>
            <a:srgbClr val="FF6F59"/>
          </a:solidFill>
          <a:ln/>
        </p:spPr>
      </p:sp>
      <p:sp>
        <p:nvSpPr>
          <p:cNvPr id="16" name="Text 12"/>
          <p:cNvSpPr/>
          <p:nvPr/>
        </p:nvSpPr>
        <p:spPr>
          <a:xfrm>
            <a:off x="2286000" y="6460778"/>
            <a:ext cx="4945380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288" kern="0" dirty="0">
                <a:solidFill>
                  <a:srgbClr val="B81D35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ANALOG</a:t>
            </a:r>
            <a:endParaRPr lang="en-US" sz="1800" dirty="0"/>
          </a:p>
        </p:txBody>
      </p:sp>
      <p:sp>
        <p:nvSpPr>
          <p:cNvPr id="17" name="Text 13"/>
          <p:cNvSpPr/>
          <p:nvPr/>
        </p:nvSpPr>
        <p:spPr>
          <a:xfrm>
            <a:off x="2286000" y="6927503"/>
            <a:ext cx="4630674" cy="9181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7170"/>
              </a:lnSpc>
              <a:buNone/>
            </a:pPr>
            <a:r>
              <a:rPr lang="en-US" sz="3300" b="1" spc="-66" kern="0" dirty="0">
                <a:solidFill>
                  <a:srgbClr val="2B1216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The processor measures the signal</a:t>
            </a:r>
            <a:endParaRPr lang="en-US" sz="3300" dirty="0"/>
          </a:p>
        </p:txBody>
      </p:sp>
      <p:sp>
        <p:nvSpPr>
          <p:cNvPr id="18" name="Text 14"/>
          <p:cNvSpPr/>
          <p:nvPr/>
        </p:nvSpPr>
        <p:spPr>
          <a:xfrm>
            <a:off x="2286000" y="7998023"/>
            <a:ext cx="4630674" cy="7581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2836"/>
              </a:lnSpc>
              <a:buNone/>
            </a:pPr>
            <a:r>
              <a:rPr lang="en-US" sz="2100" dirty="0">
                <a:solidFill>
                  <a:srgbClr val="523236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Output is a resistance or voltage; the MCU must convert it</a:t>
            </a:r>
            <a:endParaRPr lang="en-US" sz="2100" dirty="0"/>
          </a:p>
        </p:txBody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rcRect l="0" r="0" t="-74073" b="-74073"/>
          <a:stretch/>
        </p:blipFill>
        <p:spPr>
          <a:xfrm>
            <a:off x="7467600" y="2712690"/>
            <a:ext cx="2171700" cy="2667000"/>
          </a:xfrm>
          <a:prstGeom prst="rect">
            <a:avLst/>
          </a:prstGeom>
        </p:spPr>
      </p:pic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rcRect l="0" r="0" t="-12783" b="-12783"/>
          <a:stretch/>
        </p:blipFill>
        <p:spPr>
          <a:xfrm>
            <a:off x="9791700" y="2712690"/>
            <a:ext cx="2171700" cy="2667000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7467600" y="5570190"/>
            <a:ext cx="2388870" cy="3381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7D616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Temperature</a:t>
            </a:r>
            <a:endParaRPr lang="en-US" sz="1800" dirty="0"/>
          </a:p>
        </p:txBody>
      </p:sp>
      <p:sp>
        <p:nvSpPr>
          <p:cNvPr id="22" name="Text 16"/>
          <p:cNvSpPr/>
          <p:nvPr/>
        </p:nvSpPr>
        <p:spPr>
          <a:xfrm>
            <a:off x="9791700" y="5570190"/>
            <a:ext cx="2388870" cy="3381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7D616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Accelerometer</a:t>
            </a:r>
            <a:endParaRPr lang="en-US" sz="1800" dirty="0"/>
          </a:p>
        </p:txBody>
      </p:sp>
      <p:sp>
        <p:nvSpPr>
          <p:cNvPr id="23" name="Shape 17"/>
          <p:cNvSpPr/>
          <p:nvPr/>
        </p:nvSpPr>
        <p:spPr>
          <a:xfrm>
            <a:off x="7467600" y="6175028"/>
            <a:ext cx="685800" cy="95250"/>
          </a:xfrm>
          <a:prstGeom prst="roundRect">
            <a:avLst>
              <a:gd name="adj" fmla="val 50000"/>
            </a:avLst>
          </a:prstGeom>
          <a:solidFill>
            <a:srgbClr val="FF6F59"/>
          </a:solidFill>
          <a:ln/>
        </p:spPr>
      </p:sp>
      <p:sp>
        <p:nvSpPr>
          <p:cNvPr id="24" name="Text 18"/>
          <p:cNvSpPr/>
          <p:nvPr/>
        </p:nvSpPr>
        <p:spPr>
          <a:xfrm>
            <a:off x="7467600" y="6460778"/>
            <a:ext cx="4945380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288" kern="0" dirty="0">
                <a:solidFill>
                  <a:srgbClr val="B81D35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DISCRETE DIGITAL</a:t>
            </a:r>
            <a:endParaRPr lang="en-US" sz="1800" dirty="0"/>
          </a:p>
        </p:txBody>
      </p:sp>
      <p:sp>
        <p:nvSpPr>
          <p:cNvPr id="25" name="Text 19"/>
          <p:cNvSpPr/>
          <p:nvPr/>
        </p:nvSpPr>
        <p:spPr>
          <a:xfrm>
            <a:off x="7467600" y="6927503"/>
            <a:ext cx="4630674" cy="9181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7170"/>
              </a:lnSpc>
              <a:buNone/>
            </a:pPr>
            <a:r>
              <a:rPr lang="en-US" sz="3300" b="1" spc="-66" kern="0" dirty="0">
                <a:solidFill>
                  <a:srgbClr val="2B1216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The sensor sends a value</a:t>
            </a:r>
            <a:endParaRPr lang="en-US" sz="3300" dirty="0"/>
          </a:p>
        </p:txBody>
      </p:sp>
      <p:sp>
        <p:nvSpPr>
          <p:cNvPr id="26" name="Text 20"/>
          <p:cNvSpPr/>
          <p:nvPr/>
        </p:nvSpPr>
        <p:spPr>
          <a:xfrm>
            <a:off x="7467600" y="7998023"/>
            <a:ext cx="4630674" cy="7581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2836"/>
              </a:lnSpc>
              <a:buNone/>
            </a:pPr>
            <a:r>
              <a:rPr lang="en-US" sz="2100" dirty="0">
                <a:solidFill>
                  <a:srgbClr val="523236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Small PCB modules with built-in ADC; readings arrive over I²C or SPI</a:t>
            </a:r>
            <a:endParaRPr lang="en-US" sz="2100" dirty="0"/>
          </a:p>
        </p:txBody>
      </p:sp>
      <p:pic>
        <p:nvPicPr>
          <p:cNvPr id="27" name="Image 4" descr="preencoded.png">    </p:cNvPr>
          <p:cNvPicPr>
            <a:picLocks noChangeAspect="1"/>
          </p:cNvPicPr>
          <p:nvPr/>
        </p:nvPicPr>
        <p:blipFill>
          <a:blip r:embed="rId5"/>
          <a:srcRect l="0" r="0" t="-32377" b="-32377"/>
          <a:stretch/>
        </p:blipFill>
        <p:spPr>
          <a:xfrm>
            <a:off x="12649200" y="2712690"/>
            <a:ext cx="2171700" cy="2667000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12649200" y="5570190"/>
            <a:ext cx="4945380" cy="3381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7D616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ST IIS3DWB10IS, with ISPU</a:t>
            </a:r>
            <a:endParaRPr lang="en-US" sz="1800" dirty="0"/>
          </a:p>
        </p:txBody>
      </p:sp>
      <p:sp>
        <p:nvSpPr>
          <p:cNvPr id="29" name="Shape 22"/>
          <p:cNvSpPr/>
          <p:nvPr/>
        </p:nvSpPr>
        <p:spPr>
          <a:xfrm>
            <a:off x="12649200" y="6175028"/>
            <a:ext cx="685800" cy="95250"/>
          </a:xfrm>
          <a:prstGeom prst="roundRect">
            <a:avLst>
              <a:gd name="adj" fmla="val 50000"/>
            </a:avLst>
          </a:prstGeom>
          <a:solidFill>
            <a:srgbClr val="FF6F59"/>
          </a:solidFill>
          <a:ln/>
        </p:spPr>
      </p:sp>
      <p:sp>
        <p:nvSpPr>
          <p:cNvPr id="30" name="Text 23"/>
          <p:cNvSpPr/>
          <p:nvPr/>
        </p:nvSpPr>
        <p:spPr>
          <a:xfrm>
            <a:off x="12649200" y="6460778"/>
            <a:ext cx="4945380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288" kern="0" dirty="0">
                <a:solidFill>
                  <a:srgbClr val="B81D35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SMART SENSOR</a:t>
            </a:r>
            <a:endParaRPr lang="en-US" sz="1800" dirty="0"/>
          </a:p>
        </p:txBody>
      </p:sp>
      <p:sp>
        <p:nvSpPr>
          <p:cNvPr id="31" name="Text 24"/>
          <p:cNvSpPr/>
          <p:nvPr/>
        </p:nvSpPr>
        <p:spPr>
          <a:xfrm>
            <a:off x="12649200" y="6927503"/>
            <a:ext cx="4630674" cy="9181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7170"/>
              </a:lnSpc>
              <a:buNone/>
            </a:pPr>
            <a:r>
              <a:rPr lang="en-US" sz="3300" b="1" spc="-66" kern="0" dirty="0">
                <a:solidFill>
                  <a:srgbClr val="2B1216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The sensor makes a decision</a:t>
            </a:r>
            <a:endParaRPr lang="en-US" sz="3300" dirty="0"/>
          </a:p>
        </p:txBody>
      </p:sp>
      <p:sp>
        <p:nvSpPr>
          <p:cNvPr id="32" name="Text 25"/>
          <p:cNvSpPr/>
          <p:nvPr/>
        </p:nvSpPr>
        <p:spPr>
          <a:xfrm>
            <a:off x="12649200" y="7998023"/>
            <a:ext cx="4630674" cy="7581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2836"/>
              </a:lnSpc>
              <a:buNone/>
            </a:pPr>
            <a:r>
              <a:rPr lang="en-US" sz="2100" dirty="0">
                <a:solidFill>
                  <a:srgbClr val="523236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Runs filtering and neural networks inside; wakes the host only on events</a:t>
            </a:r>
            <a:endParaRPr lang="en-US" sz="2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D726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3429000" y="3238500"/>
            <a:ext cx="11811000" cy="11811000"/>
          </a:xfrm>
          <a:prstGeom prst="ellipse">
            <a:avLst/>
          </a:prstGeom>
          <a:solidFill>
            <a:srgbClr val="94172D"/>
          </a:solidFill>
          <a:ln/>
        </p:spPr>
      </p:sp>
      <p:sp>
        <p:nvSpPr>
          <p:cNvPr id="3" name="Shape 1"/>
          <p:cNvSpPr/>
          <p:nvPr/>
        </p:nvSpPr>
        <p:spPr>
          <a:xfrm>
            <a:off x="16421100" y="1143000"/>
            <a:ext cx="533400" cy="533400"/>
          </a:xfrm>
          <a:prstGeom prst="ellipse">
            <a:avLst/>
          </a:prstGeom>
          <a:solidFill>
            <a:srgbClr val="FF9E2C"/>
          </a:solidFill>
          <a:ln/>
        </p:spPr>
      </p:sp>
      <p:sp>
        <p:nvSpPr>
          <p:cNvPr id="4" name="Text 2"/>
          <p:cNvSpPr/>
          <p:nvPr/>
        </p:nvSpPr>
        <p:spPr>
          <a:xfrm>
            <a:off x="9525000" y="4014788"/>
            <a:ext cx="8172450" cy="1104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3582"/>
              </a:lnSpc>
              <a:buNone/>
            </a:pPr>
            <a:r>
              <a:rPr lang="en-US" sz="8400" b="1" spc="-252" kern="0" dirty="0">
                <a:solidFill>
                  <a:srgbClr val="FFF8F2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The RP2040</a:t>
            </a:r>
            <a:endParaRPr lang="en-US" sz="8400" dirty="0"/>
          </a:p>
        </p:txBody>
      </p:sp>
      <p:sp>
        <p:nvSpPr>
          <p:cNvPr id="5" name="Text 3"/>
          <p:cNvSpPr/>
          <p:nvPr/>
        </p:nvSpPr>
        <p:spPr>
          <a:xfrm>
            <a:off x="9525000" y="5462588"/>
            <a:ext cx="7063740" cy="8477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3659"/>
              </a:lnSpc>
              <a:buNone/>
            </a:pPr>
            <a:r>
              <a:rPr lang="en-US" sz="2550" dirty="0">
                <a:solidFill>
                  <a:srgbClr val="FFD9D2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The microcontroller, its interfaces, and the setup we use in practical sessions.</a:t>
            </a:r>
            <a:endParaRPr lang="en-US" sz="25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8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" cy="10287000"/>
          </a:xfrm>
          <a:prstGeom prst="rect">
            <a:avLst/>
          </a:prstGeom>
          <a:solidFill>
            <a:srgbClr val="D7263D"/>
          </a:solidFill>
          <a:ln/>
        </p:spPr>
      </p:sp>
      <p:sp>
        <p:nvSpPr>
          <p:cNvPr id="3" name="Text 1"/>
          <p:cNvSpPr/>
          <p:nvPr/>
        </p:nvSpPr>
        <p:spPr>
          <a:xfrm>
            <a:off x="343644" y="609600"/>
            <a:ext cx="608112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3019"/>
              </a:lnSpc>
              <a:buNone/>
            </a:pPr>
            <a:r>
              <a:rPr lang="en-US" sz="3300" b="1" dirty="0">
                <a:solidFill>
                  <a:srgbClr val="FFF8F2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04</a:t>
            </a:r>
            <a:endParaRPr lang="en-US" sz="3300" dirty="0"/>
          </a:p>
        </p:txBody>
      </p:sp>
      <p:sp>
        <p:nvSpPr>
          <p:cNvPr id="4" name="Text 2"/>
          <p:cNvSpPr/>
          <p:nvPr/>
        </p:nvSpPr>
        <p:spPr>
          <a:xfrm rot="10800000">
            <a:off x="471488" y="1409700"/>
            <a:ext cx="352425" cy="1116285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 vert="eaVert">
            <a:normAutofit/>
          </a:bodyPr>
          <a:lstStyle/>
          <a:p>
            <a:pPr algn="l" indent="0" marL="0">
              <a:buNone/>
            </a:pPr>
            <a:r>
              <a:rPr lang="en-US" sz="1800" b="1" spc="288" kern="0" dirty="0">
                <a:solidFill>
                  <a:srgbClr val="FFD9D2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RP2040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419100" y="8767763"/>
            <a:ext cx="381000" cy="381000"/>
          </a:xfrm>
          <a:prstGeom prst="ellipse">
            <a:avLst/>
          </a:prstGeom>
          <a:solidFill>
            <a:srgbClr val="FF9E2C"/>
          </a:solidFill>
          <a:ln/>
        </p:spPr>
      </p:sp>
      <p:sp>
        <p:nvSpPr>
          <p:cNvPr id="6" name="Text 4"/>
          <p:cNvSpPr/>
          <p:nvPr/>
        </p:nvSpPr>
        <p:spPr>
          <a:xfrm>
            <a:off x="472380" y="9453563"/>
            <a:ext cx="350565" cy="3381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FFF8F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09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17240250" y="-1047750"/>
            <a:ext cx="2095500" cy="2095500"/>
          </a:xfrm>
          <a:prstGeom prst="ellipse">
            <a:avLst/>
          </a:prstGeom>
          <a:solidFill>
            <a:srgbClr val="FF9E2C"/>
          </a:solidFill>
          <a:ln/>
        </p:spPr>
      </p:sp>
      <p:sp>
        <p:nvSpPr>
          <p:cNvPr id="8" name="Shape 6"/>
          <p:cNvSpPr/>
          <p:nvPr/>
        </p:nvSpPr>
        <p:spPr>
          <a:xfrm>
            <a:off x="2286000" y="1052513"/>
            <a:ext cx="152400" cy="152400"/>
          </a:xfrm>
          <a:prstGeom prst="ellipse">
            <a:avLst/>
          </a:prstGeom>
          <a:solidFill>
            <a:srgbClr val="FF9E2C"/>
          </a:solidFill>
          <a:ln/>
        </p:spPr>
      </p:sp>
      <p:sp>
        <p:nvSpPr>
          <p:cNvPr id="9" name="Text 7"/>
          <p:cNvSpPr/>
          <p:nvPr/>
        </p:nvSpPr>
        <p:spPr>
          <a:xfrm>
            <a:off x="2590800" y="990600"/>
            <a:ext cx="3853919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288" kern="0" dirty="0">
                <a:solidFill>
                  <a:srgbClr val="B81D35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OUR MICROCONTROLLER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2286000" y="1495425"/>
            <a:ext cx="14668500" cy="79816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7692"/>
              </a:lnSpc>
              <a:buNone/>
            </a:pPr>
            <a:r>
              <a:rPr lang="en-US" sz="5700" b="1" spc="-171" kern="0" dirty="0">
                <a:solidFill>
                  <a:srgbClr val="2B1216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The RP2040 runs every practical session</a:t>
            </a:r>
            <a:endParaRPr lang="en-US" sz="5700" dirty="0"/>
          </a:p>
        </p:txBody>
      </p:sp>
      <p:sp>
        <p:nvSpPr>
          <p:cNvPr id="11" name="Text 9"/>
          <p:cNvSpPr/>
          <p:nvPr/>
        </p:nvSpPr>
        <p:spPr>
          <a:xfrm>
            <a:off x="2286000" y="2636490"/>
            <a:ext cx="12753975" cy="942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4396"/>
              </a:lnSpc>
              <a:buNone/>
            </a:pPr>
            <a:r>
              <a:rPr lang="en-US" sz="2850" dirty="0">
                <a:solidFill>
                  <a:srgbClr val="2B1216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A low-cost microcontroller designed by Raspberry Pi, best known from the Raspberry Pi Pico board.</a:t>
            </a:r>
            <a:endParaRPr lang="en-US" sz="2850" dirty="0"/>
          </a:p>
        </p:txBody>
      </p:sp>
      <p:sp>
        <p:nvSpPr>
          <p:cNvPr id="12" name="Shape 10"/>
          <p:cNvSpPr/>
          <p:nvPr/>
        </p:nvSpPr>
        <p:spPr>
          <a:xfrm>
            <a:off x="2286000" y="4455765"/>
            <a:ext cx="685800" cy="95250"/>
          </a:xfrm>
          <a:prstGeom prst="roundRect">
            <a:avLst>
              <a:gd name="adj" fmla="val 50000"/>
            </a:avLst>
          </a:prstGeom>
          <a:solidFill>
            <a:srgbClr val="FF9E2C"/>
          </a:solidFill>
          <a:ln/>
        </p:spPr>
      </p:sp>
      <p:sp>
        <p:nvSpPr>
          <p:cNvPr id="13" name="Text 11"/>
          <p:cNvSpPr/>
          <p:nvPr/>
        </p:nvSpPr>
        <p:spPr>
          <a:xfrm>
            <a:off x="2286000" y="4703415"/>
            <a:ext cx="3520440" cy="105154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79403"/>
              </a:lnSpc>
              <a:buNone/>
            </a:pPr>
            <a:r>
              <a:rPr lang="en-US" sz="8400" b="1" spc="-336" kern="0" dirty="0">
                <a:solidFill>
                  <a:srgbClr val="D7263D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2</a:t>
            </a:r>
            <a:endParaRPr lang="en-US" sz="8400" dirty="0"/>
          </a:p>
        </p:txBody>
      </p:sp>
      <p:sp>
        <p:nvSpPr>
          <p:cNvPr id="14" name="Text 12"/>
          <p:cNvSpPr/>
          <p:nvPr/>
        </p:nvSpPr>
        <p:spPr>
          <a:xfrm>
            <a:off x="2286000" y="5869260"/>
            <a:ext cx="3520440" cy="38479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8657"/>
              </a:lnSpc>
              <a:buNone/>
            </a:pPr>
            <a:r>
              <a:rPr lang="en-US" sz="2100" dirty="0">
                <a:solidFill>
                  <a:srgbClr val="523236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Arm Cortex-M0+ cores</a:t>
            </a:r>
            <a:endParaRPr lang="en-US" sz="2100" dirty="0"/>
          </a:p>
        </p:txBody>
      </p:sp>
      <p:sp>
        <p:nvSpPr>
          <p:cNvPr id="15" name="Shape 13"/>
          <p:cNvSpPr/>
          <p:nvPr/>
        </p:nvSpPr>
        <p:spPr>
          <a:xfrm>
            <a:off x="6172200" y="4455765"/>
            <a:ext cx="685800" cy="95250"/>
          </a:xfrm>
          <a:prstGeom prst="roundRect">
            <a:avLst>
              <a:gd name="adj" fmla="val 50000"/>
            </a:avLst>
          </a:prstGeom>
          <a:solidFill>
            <a:srgbClr val="FF9E2C"/>
          </a:solidFill>
          <a:ln/>
        </p:spPr>
      </p:sp>
      <p:sp>
        <p:nvSpPr>
          <p:cNvPr id="16" name="Text 14"/>
          <p:cNvSpPr/>
          <p:nvPr/>
        </p:nvSpPr>
        <p:spPr>
          <a:xfrm>
            <a:off x="6172200" y="4703415"/>
            <a:ext cx="3520440" cy="105154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79403"/>
              </a:lnSpc>
              <a:buNone/>
            </a:pPr>
            <a:r>
              <a:rPr lang="en-US" sz="8400" b="1" spc="-336" kern="0" dirty="0">
                <a:solidFill>
                  <a:srgbClr val="D7263D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133</a:t>
            </a:r>
            <a:endParaRPr lang="en-US" sz="8400" dirty="0"/>
          </a:p>
        </p:txBody>
      </p:sp>
      <p:sp>
        <p:nvSpPr>
          <p:cNvPr id="17" name="Text 15"/>
          <p:cNvSpPr/>
          <p:nvPr/>
        </p:nvSpPr>
        <p:spPr>
          <a:xfrm>
            <a:off x="6172200" y="5869260"/>
            <a:ext cx="3296412" cy="7314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8657"/>
              </a:lnSpc>
              <a:buNone/>
            </a:pPr>
            <a:r>
              <a:rPr lang="en-US" sz="2100" dirty="0">
                <a:solidFill>
                  <a:srgbClr val="523236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MHz maximum clock speed</a:t>
            </a:r>
            <a:endParaRPr lang="en-US" sz="2100" dirty="0"/>
          </a:p>
        </p:txBody>
      </p:sp>
      <p:sp>
        <p:nvSpPr>
          <p:cNvPr id="18" name="Shape 16"/>
          <p:cNvSpPr/>
          <p:nvPr/>
        </p:nvSpPr>
        <p:spPr>
          <a:xfrm>
            <a:off x="10058400" y="4455765"/>
            <a:ext cx="685800" cy="95250"/>
          </a:xfrm>
          <a:prstGeom prst="roundRect">
            <a:avLst>
              <a:gd name="adj" fmla="val 50000"/>
            </a:avLst>
          </a:prstGeom>
          <a:solidFill>
            <a:srgbClr val="FF9E2C"/>
          </a:solidFill>
          <a:ln/>
        </p:spPr>
      </p:sp>
      <p:sp>
        <p:nvSpPr>
          <p:cNvPr id="19" name="Text 17"/>
          <p:cNvSpPr/>
          <p:nvPr/>
        </p:nvSpPr>
        <p:spPr>
          <a:xfrm>
            <a:off x="10058400" y="4703415"/>
            <a:ext cx="3520440" cy="105154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79403"/>
              </a:lnSpc>
              <a:buNone/>
            </a:pPr>
            <a:r>
              <a:rPr lang="en-US" sz="8400" b="1" spc="-336" kern="0" dirty="0">
                <a:solidFill>
                  <a:srgbClr val="D7263D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264</a:t>
            </a:r>
            <a:endParaRPr lang="en-US" sz="8400" dirty="0"/>
          </a:p>
        </p:txBody>
      </p:sp>
      <p:sp>
        <p:nvSpPr>
          <p:cNvPr id="20" name="Text 18"/>
          <p:cNvSpPr/>
          <p:nvPr/>
        </p:nvSpPr>
        <p:spPr>
          <a:xfrm>
            <a:off x="10058400" y="5869260"/>
            <a:ext cx="3296412" cy="10781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8657"/>
              </a:lnSpc>
              <a:buNone/>
            </a:pPr>
            <a:r>
              <a:rPr lang="en-US" sz="2100" dirty="0">
                <a:solidFill>
                  <a:srgbClr val="523236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KB of on-chip SRAM; program stored in external flash</a:t>
            </a:r>
            <a:endParaRPr lang="en-US" sz="2100" dirty="0"/>
          </a:p>
        </p:txBody>
      </p:sp>
      <p:sp>
        <p:nvSpPr>
          <p:cNvPr id="21" name="Shape 19"/>
          <p:cNvSpPr/>
          <p:nvPr/>
        </p:nvSpPr>
        <p:spPr>
          <a:xfrm>
            <a:off x="13944600" y="4455765"/>
            <a:ext cx="685800" cy="95250"/>
          </a:xfrm>
          <a:prstGeom prst="roundRect">
            <a:avLst>
              <a:gd name="adj" fmla="val 50000"/>
            </a:avLst>
          </a:prstGeom>
          <a:solidFill>
            <a:srgbClr val="FF9E2C"/>
          </a:solidFill>
          <a:ln/>
        </p:spPr>
      </p:sp>
      <p:sp>
        <p:nvSpPr>
          <p:cNvPr id="22" name="Text 20"/>
          <p:cNvSpPr/>
          <p:nvPr/>
        </p:nvSpPr>
        <p:spPr>
          <a:xfrm>
            <a:off x="13944600" y="4703415"/>
            <a:ext cx="3520440" cy="105154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79403"/>
              </a:lnSpc>
              <a:buNone/>
            </a:pPr>
            <a:r>
              <a:rPr lang="en-US" sz="8400" b="1" spc="-336" kern="0" dirty="0">
                <a:solidFill>
                  <a:srgbClr val="D7263D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30</a:t>
            </a:r>
            <a:endParaRPr lang="en-US" sz="8400" dirty="0"/>
          </a:p>
        </p:txBody>
      </p:sp>
      <p:sp>
        <p:nvSpPr>
          <p:cNvPr id="23" name="Text 21"/>
          <p:cNvSpPr/>
          <p:nvPr/>
        </p:nvSpPr>
        <p:spPr>
          <a:xfrm>
            <a:off x="13944600" y="5869260"/>
            <a:ext cx="3296412" cy="7314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8657"/>
              </a:lnSpc>
              <a:buNone/>
            </a:pPr>
            <a:r>
              <a:rPr lang="en-US" sz="2100" dirty="0">
                <a:solidFill>
                  <a:srgbClr val="523236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GPIO pins, 4 of them usable as analog inputs</a:t>
            </a:r>
            <a:endParaRPr lang="en-US" sz="2100" dirty="0"/>
          </a:p>
        </p:txBody>
      </p:sp>
      <p:sp>
        <p:nvSpPr>
          <p:cNvPr id="24" name="Text 22"/>
          <p:cNvSpPr/>
          <p:nvPr/>
        </p:nvSpPr>
        <p:spPr>
          <a:xfrm>
            <a:off x="2286000" y="9096375"/>
            <a:ext cx="16344900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7D6164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Source: Raspberry Pi, RP2040 datasheet.</a:t>
            </a:r>
            <a:endParaRPr lang="en-US" sz="1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8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" cy="10287000"/>
          </a:xfrm>
          <a:prstGeom prst="rect">
            <a:avLst/>
          </a:prstGeom>
          <a:solidFill>
            <a:srgbClr val="D7263D"/>
          </a:solidFill>
          <a:ln/>
        </p:spPr>
      </p:sp>
      <p:sp>
        <p:nvSpPr>
          <p:cNvPr id="3" name="Text 1"/>
          <p:cNvSpPr/>
          <p:nvPr/>
        </p:nvSpPr>
        <p:spPr>
          <a:xfrm>
            <a:off x="343644" y="609600"/>
            <a:ext cx="608112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3019"/>
              </a:lnSpc>
              <a:buNone/>
            </a:pPr>
            <a:r>
              <a:rPr lang="en-US" sz="3300" b="1" dirty="0">
                <a:solidFill>
                  <a:srgbClr val="FFF8F2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04</a:t>
            </a:r>
            <a:endParaRPr lang="en-US" sz="3300" dirty="0"/>
          </a:p>
        </p:txBody>
      </p:sp>
      <p:sp>
        <p:nvSpPr>
          <p:cNvPr id="4" name="Text 2"/>
          <p:cNvSpPr/>
          <p:nvPr/>
        </p:nvSpPr>
        <p:spPr>
          <a:xfrm rot="10800000">
            <a:off x="471488" y="1409700"/>
            <a:ext cx="352425" cy="1116285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 vert="eaVert">
            <a:normAutofit/>
          </a:bodyPr>
          <a:lstStyle/>
          <a:p>
            <a:pPr algn="l" indent="0" marL="0">
              <a:buNone/>
            </a:pPr>
            <a:r>
              <a:rPr lang="en-US" sz="1800" b="1" spc="288" kern="0" dirty="0">
                <a:solidFill>
                  <a:srgbClr val="FFD9D2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RP2040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419100" y="8767763"/>
            <a:ext cx="381000" cy="381000"/>
          </a:xfrm>
          <a:prstGeom prst="ellipse">
            <a:avLst/>
          </a:prstGeom>
          <a:solidFill>
            <a:srgbClr val="FF9E2C"/>
          </a:solidFill>
          <a:ln/>
        </p:spPr>
      </p:sp>
      <p:sp>
        <p:nvSpPr>
          <p:cNvPr id="6" name="Text 4"/>
          <p:cNvSpPr/>
          <p:nvPr/>
        </p:nvSpPr>
        <p:spPr>
          <a:xfrm>
            <a:off x="472380" y="9453563"/>
            <a:ext cx="350565" cy="3381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FFF8F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10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17240250" y="-1047750"/>
            <a:ext cx="2095500" cy="2095500"/>
          </a:xfrm>
          <a:prstGeom prst="ellipse">
            <a:avLst/>
          </a:prstGeom>
          <a:solidFill>
            <a:srgbClr val="FF9E2C"/>
          </a:solidFill>
          <a:ln/>
        </p:spPr>
      </p:sp>
      <p:sp>
        <p:nvSpPr>
          <p:cNvPr id="8" name="Shape 6"/>
          <p:cNvSpPr/>
          <p:nvPr/>
        </p:nvSpPr>
        <p:spPr>
          <a:xfrm>
            <a:off x="2286000" y="1052513"/>
            <a:ext cx="152400" cy="152400"/>
          </a:xfrm>
          <a:prstGeom prst="ellipse">
            <a:avLst/>
          </a:prstGeom>
          <a:solidFill>
            <a:srgbClr val="FF9E2C"/>
          </a:solidFill>
          <a:ln/>
        </p:spPr>
      </p:sp>
      <p:sp>
        <p:nvSpPr>
          <p:cNvPr id="9" name="Text 7"/>
          <p:cNvSpPr/>
          <p:nvPr/>
        </p:nvSpPr>
        <p:spPr>
          <a:xfrm>
            <a:off x="2590800" y="990600"/>
            <a:ext cx="2379457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288" kern="0" dirty="0">
                <a:solidFill>
                  <a:srgbClr val="B81D35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ARCHITECTURE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2286000" y="1495425"/>
            <a:ext cx="14668500" cy="79816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7692"/>
              </a:lnSpc>
              <a:buNone/>
            </a:pPr>
            <a:r>
              <a:rPr lang="en-US" sz="5700" b="1" spc="-171" kern="0" dirty="0">
                <a:solidFill>
                  <a:srgbClr val="2B1216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Two cores and flexible peripherals</a:t>
            </a:r>
            <a:endParaRPr lang="en-US" sz="5700" dirty="0"/>
          </a:p>
        </p:txBody>
      </p:sp>
      <p:sp>
        <p:nvSpPr>
          <p:cNvPr id="11" name="Shape 9"/>
          <p:cNvSpPr/>
          <p:nvPr/>
        </p:nvSpPr>
        <p:spPr>
          <a:xfrm>
            <a:off x="2286000" y="2560290"/>
            <a:ext cx="4864075" cy="1071563"/>
          </a:xfrm>
          <a:prstGeom prst="roundRect">
            <a:avLst>
              <a:gd name="adj" fmla="val 10667"/>
            </a:avLst>
          </a:prstGeom>
          <a:solidFill>
            <a:srgbClr val="D7263D"/>
          </a:solidFill>
          <a:ln/>
        </p:spPr>
      </p:sp>
      <p:sp>
        <p:nvSpPr>
          <p:cNvPr id="12" name="Text 10"/>
          <p:cNvSpPr/>
          <p:nvPr/>
        </p:nvSpPr>
        <p:spPr>
          <a:xfrm>
            <a:off x="2552700" y="2712690"/>
            <a:ext cx="4763743" cy="4476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FFF8F2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Core 0</a:t>
            </a:r>
            <a:endParaRPr lang="en-US" sz="2700" dirty="0"/>
          </a:p>
        </p:txBody>
      </p:sp>
      <p:sp>
        <p:nvSpPr>
          <p:cNvPr id="13" name="Text 11"/>
          <p:cNvSpPr/>
          <p:nvPr/>
        </p:nvSpPr>
        <p:spPr>
          <a:xfrm>
            <a:off x="2552700" y="3179415"/>
            <a:ext cx="4763743" cy="3381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FFF8F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Cortex-M0+ · 133 MHz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7283425" y="2560290"/>
            <a:ext cx="4864075" cy="1071563"/>
          </a:xfrm>
          <a:prstGeom prst="roundRect">
            <a:avLst>
              <a:gd name="adj" fmla="val 10667"/>
            </a:avLst>
          </a:prstGeom>
          <a:solidFill>
            <a:srgbClr val="D7263D"/>
          </a:solidFill>
          <a:ln/>
        </p:spPr>
      </p:sp>
      <p:sp>
        <p:nvSpPr>
          <p:cNvPr id="15" name="Text 13"/>
          <p:cNvSpPr/>
          <p:nvPr/>
        </p:nvSpPr>
        <p:spPr>
          <a:xfrm>
            <a:off x="7550125" y="2712690"/>
            <a:ext cx="4763743" cy="4476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FFF8F2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Core 1</a:t>
            </a:r>
            <a:endParaRPr lang="en-US" sz="2700" dirty="0"/>
          </a:p>
        </p:txBody>
      </p:sp>
      <p:sp>
        <p:nvSpPr>
          <p:cNvPr id="16" name="Text 14"/>
          <p:cNvSpPr/>
          <p:nvPr/>
        </p:nvSpPr>
        <p:spPr>
          <a:xfrm>
            <a:off x="7550125" y="3179415"/>
            <a:ext cx="4763743" cy="3381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FFF8F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Cortex-M0+ · 133 MHz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12280850" y="2560290"/>
            <a:ext cx="4864075" cy="1071563"/>
          </a:xfrm>
          <a:prstGeom prst="roundRect">
            <a:avLst>
              <a:gd name="adj" fmla="val 10667"/>
            </a:avLst>
          </a:prstGeom>
          <a:solidFill>
            <a:srgbClr val="FFD9D2"/>
          </a:solidFill>
          <a:ln/>
        </p:spPr>
      </p:sp>
      <p:sp>
        <p:nvSpPr>
          <p:cNvPr id="18" name="Text 16"/>
          <p:cNvSpPr/>
          <p:nvPr/>
        </p:nvSpPr>
        <p:spPr>
          <a:xfrm>
            <a:off x="12547550" y="2712690"/>
            <a:ext cx="4763743" cy="4476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2B1216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DMA</a:t>
            </a:r>
            <a:endParaRPr lang="en-US" sz="2700" dirty="0"/>
          </a:p>
        </p:txBody>
      </p:sp>
      <p:sp>
        <p:nvSpPr>
          <p:cNvPr id="19" name="Text 17"/>
          <p:cNvSpPr/>
          <p:nvPr/>
        </p:nvSpPr>
        <p:spPr>
          <a:xfrm>
            <a:off x="12547550" y="3179415"/>
            <a:ext cx="4763743" cy="3381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52323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moves data without the CPU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2286000" y="3765203"/>
            <a:ext cx="14859000" cy="609600"/>
          </a:xfrm>
          <a:prstGeom prst="roundRect">
            <a:avLst>
              <a:gd name="adj" fmla="val 18750"/>
            </a:avLst>
          </a:prstGeom>
          <a:solidFill>
            <a:srgbClr val="2B1216"/>
          </a:solidFill>
          <a:ln/>
        </p:spPr>
      </p:sp>
      <p:sp>
        <p:nvSpPr>
          <p:cNvPr id="21" name="Text 19"/>
          <p:cNvSpPr/>
          <p:nvPr/>
        </p:nvSpPr>
        <p:spPr>
          <a:xfrm>
            <a:off x="2552700" y="3898553"/>
            <a:ext cx="1533153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FFF8F2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Bus fabric</a:t>
            </a:r>
            <a:endParaRPr lang="en-US" sz="2250" dirty="0"/>
          </a:p>
        </p:txBody>
      </p:sp>
      <p:sp>
        <p:nvSpPr>
          <p:cNvPr id="22" name="Text 20"/>
          <p:cNvSpPr/>
          <p:nvPr/>
        </p:nvSpPr>
        <p:spPr>
          <a:xfrm>
            <a:off x="11666190" y="3931890"/>
            <a:ext cx="5733321" cy="3381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FFF8F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connects cores, memory and peripherals</a:t>
            </a:r>
            <a:endParaRPr lang="en-US" sz="1800" dirty="0"/>
          </a:p>
        </p:txBody>
      </p:sp>
      <p:sp>
        <p:nvSpPr>
          <p:cNvPr id="23" name="Shape 21"/>
          <p:cNvSpPr/>
          <p:nvPr/>
        </p:nvSpPr>
        <p:spPr>
          <a:xfrm>
            <a:off x="2286000" y="4508153"/>
            <a:ext cx="3614738" cy="1071563"/>
          </a:xfrm>
          <a:prstGeom prst="roundRect">
            <a:avLst>
              <a:gd name="adj" fmla="val 10667"/>
            </a:avLst>
          </a:prstGeom>
          <a:solidFill>
            <a:srgbClr val="FCEEE4"/>
          </a:solidFill>
          <a:ln/>
        </p:spPr>
      </p:sp>
      <p:sp>
        <p:nvSpPr>
          <p:cNvPr id="24" name="Text 22"/>
          <p:cNvSpPr/>
          <p:nvPr/>
        </p:nvSpPr>
        <p:spPr>
          <a:xfrm>
            <a:off x="2552700" y="4660553"/>
            <a:ext cx="3389471" cy="4476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2B1216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SRAM</a:t>
            </a:r>
            <a:endParaRPr lang="en-US" sz="2700" dirty="0"/>
          </a:p>
        </p:txBody>
      </p:sp>
      <p:sp>
        <p:nvSpPr>
          <p:cNvPr id="25" name="Text 23"/>
          <p:cNvSpPr/>
          <p:nvPr/>
        </p:nvSpPr>
        <p:spPr>
          <a:xfrm>
            <a:off x="2552700" y="5127278"/>
            <a:ext cx="3389471" cy="3381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52323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264 KB · 6 banks</a:t>
            </a:r>
            <a:endParaRPr lang="en-US" sz="1800" dirty="0"/>
          </a:p>
        </p:txBody>
      </p:sp>
      <p:sp>
        <p:nvSpPr>
          <p:cNvPr id="26" name="Shape 24"/>
          <p:cNvSpPr/>
          <p:nvPr/>
        </p:nvSpPr>
        <p:spPr>
          <a:xfrm>
            <a:off x="6034088" y="4508153"/>
            <a:ext cx="3614738" cy="1071563"/>
          </a:xfrm>
          <a:prstGeom prst="roundRect">
            <a:avLst>
              <a:gd name="adj" fmla="val 10667"/>
            </a:avLst>
          </a:prstGeom>
          <a:solidFill>
            <a:srgbClr val="FCEEE4"/>
          </a:solidFill>
          <a:ln/>
        </p:spPr>
      </p:sp>
      <p:sp>
        <p:nvSpPr>
          <p:cNvPr id="27" name="Text 25"/>
          <p:cNvSpPr/>
          <p:nvPr/>
        </p:nvSpPr>
        <p:spPr>
          <a:xfrm>
            <a:off x="6300788" y="4660553"/>
            <a:ext cx="3389471" cy="4476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2B1216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Flash interface</a:t>
            </a:r>
            <a:endParaRPr lang="en-US" sz="2700" dirty="0"/>
          </a:p>
        </p:txBody>
      </p:sp>
      <p:sp>
        <p:nvSpPr>
          <p:cNvPr id="28" name="Text 26"/>
          <p:cNvSpPr/>
          <p:nvPr/>
        </p:nvSpPr>
        <p:spPr>
          <a:xfrm>
            <a:off x="6300788" y="5127278"/>
            <a:ext cx="3389471" cy="3381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52323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QSPI · external</a:t>
            </a:r>
            <a:endParaRPr lang="en-US" sz="1800" dirty="0"/>
          </a:p>
        </p:txBody>
      </p:sp>
      <p:sp>
        <p:nvSpPr>
          <p:cNvPr id="29" name="Shape 27"/>
          <p:cNvSpPr/>
          <p:nvPr/>
        </p:nvSpPr>
        <p:spPr>
          <a:xfrm>
            <a:off x="9782175" y="4508153"/>
            <a:ext cx="3614738" cy="1071563"/>
          </a:xfrm>
          <a:prstGeom prst="roundRect">
            <a:avLst>
              <a:gd name="adj" fmla="val 10667"/>
            </a:avLst>
          </a:prstGeom>
          <a:solidFill>
            <a:srgbClr val="FCEEE4"/>
          </a:solidFill>
          <a:ln/>
        </p:spPr>
      </p:sp>
      <p:sp>
        <p:nvSpPr>
          <p:cNvPr id="30" name="Text 28"/>
          <p:cNvSpPr/>
          <p:nvPr/>
        </p:nvSpPr>
        <p:spPr>
          <a:xfrm>
            <a:off x="10048875" y="4660553"/>
            <a:ext cx="3389471" cy="4476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2B1216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USB 1.1</a:t>
            </a:r>
            <a:endParaRPr lang="en-US" sz="2700" dirty="0"/>
          </a:p>
        </p:txBody>
      </p:sp>
      <p:sp>
        <p:nvSpPr>
          <p:cNvPr id="31" name="Text 29"/>
          <p:cNvSpPr/>
          <p:nvPr/>
        </p:nvSpPr>
        <p:spPr>
          <a:xfrm>
            <a:off x="10048875" y="5127278"/>
            <a:ext cx="3389471" cy="3381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52323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device or host</a:t>
            </a:r>
            <a:endParaRPr lang="en-US" sz="1800" dirty="0"/>
          </a:p>
        </p:txBody>
      </p:sp>
      <p:sp>
        <p:nvSpPr>
          <p:cNvPr id="32" name="Shape 30"/>
          <p:cNvSpPr/>
          <p:nvPr/>
        </p:nvSpPr>
        <p:spPr>
          <a:xfrm>
            <a:off x="13530263" y="4508153"/>
            <a:ext cx="3614738" cy="1071563"/>
          </a:xfrm>
          <a:prstGeom prst="roundRect">
            <a:avLst>
              <a:gd name="adj" fmla="val 10667"/>
            </a:avLst>
          </a:prstGeom>
          <a:solidFill>
            <a:srgbClr val="FCEEE4"/>
          </a:solidFill>
          <a:ln/>
        </p:spPr>
      </p:sp>
      <p:sp>
        <p:nvSpPr>
          <p:cNvPr id="33" name="Text 31"/>
          <p:cNvSpPr/>
          <p:nvPr/>
        </p:nvSpPr>
        <p:spPr>
          <a:xfrm>
            <a:off x="13796963" y="4660553"/>
            <a:ext cx="3389471" cy="4476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2B1216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PIO</a:t>
            </a:r>
            <a:endParaRPr lang="en-US" sz="2700" dirty="0"/>
          </a:p>
        </p:txBody>
      </p:sp>
      <p:sp>
        <p:nvSpPr>
          <p:cNvPr id="34" name="Text 32"/>
          <p:cNvSpPr/>
          <p:nvPr/>
        </p:nvSpPr>
        <p:spPr>
          <a:xfrm>
            <a:off x="13796963" y="5127278"/>
            <a:ext cx="3389471" cy="3381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52323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8 state machines</a:t>
            </a:r>
            <a:endParaRPr lang="en-US" sz="1800" dirty="0"/>
          </a:p>
        </p:txBody>
      </p:sp>
      <p:sp>
        <p:nvSpPr>
          <p:cNvPr id="35" name="Shape 33"/>
          <p:cNvSpPr/>
          <p:nvPr/>
        </p:nvSpPr>
        <p:spPr>
          <a:xfrm>
            <a:off x="2286000" y="5713065"/>
            <a:ext cx="14859000" cy="1395413"/>
          </a:xfrm>
          <a:prstGeom prst="roundRect">
            <a:avLst>
              <a:gd name="adj" fmla="val 8191"/>
            </a:avLst>
          </a:prstGeom>
          <a:ln w="28575">
            <a:solidFill>
              <a:srgbClr val="2B1216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2581275" y="5932140"/>
            <a:ext cx="15695295" cy="4476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2B1216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Peripherals</a:t>
            </a:r>
            <a:endParaRPr lang="en-US" sz="2700" dirty="0"/>
          </a:p>
        </p:txBody>
      </p:sp>
      <p:sp>
        <p:nvSpPr>
          <p:cNvPr id="37" name="Shape 35"/>
          <p:cNvSpPr/>
          <p:nvPr/>
        </p:nvSpPr>
        <p:spPr>
          <a:xfrm>
            <a:off x="2581275" y="6475065"/>
            <a:ext cx="2301255" cy="414338"/>
          </a:xfrm>
          <a:prstGeom prst="roundRect">
            <a:avLst>
              <a:gd name="adj" fmla="val 50000"/>
            </a:avLst>
          </a:prstGeom>
          <a:solidFill>
            <a:srgbClr val="FF9E2C"/>
          </a:solidFill>
          <a:ln/>
        </p:spPr>
      </p:sp>
      <p:sp>
        <p:nvSpPr>
          <p:cNvPr id="38" name="Text 36"/>
          <p:cNvSpPr/>
          <p:nvPr/>
        </p:nvSpPr>
        <p:spPr>
          <a:xfrm>
            <a:off x="2771775" y="6532215"/>
            <a:ext cx="1996455" cy="3381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2B121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ADC · 4 inputs</a:t>
            </a:r>
            <a:endParaRPr lang="en-US" sz="1800" dirty="0"/>
          </a:p>
        </p:txBody>
      </p:sp>
      <p:sp>
        <p:nvSpPr>
          <p:cNvPr id="39" name="Shape 37"/>
          <p:cNvSpPr/>
          <p:nvPr/>
        </p:nvSpPr>
        <p:spPr>
          <a:xfrm>
            <a:off x="5015880" y="6475065"/>
            <a:ext cx="1204020" cy="414338"/>
          </a:xfrm>
          <a:prstGeom prst="roundRect">
            <a:avLst>
              <a:gd name="adj" fmla="val 50000"/>
            </a:avLst>
          </a:prstGeom>
          <a:solidFill>
            <a:srgbClr val="FF9E2C"/>
          </a:solidFill>
          <a:ln/>
        </p:spPr>
      </p:sp>
      <p:sp>
        <p:nvSpPr>
          <p:cNvPr id="40" name="Text 38"/>
          <p:cNvSpPr/>
          <p:nvPr/>
        </p:nvSpPr>
        <p:spPr>
          <a:xfrm>
            <a:off x="5206380" y="6532215"/>
            <a:ext cx="899220" cy="3381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2B121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I²C ×2</a:t>
            </a:r>
            <a:endParaRPr lang="en-US" sz="1800" dirty="0"/>
          </a:p>
        </p:txBody>
      </p:sp>
      <p:sp>
        <p:nvSpPr>
          <p:cNvPr id="41" name="Shape 39"/>
          <p:cNvSpPr/>
          <p:nvPr/>
        </p:nvSpPr>
        <p:spPr>
          <a:xfrm>
            <a:off x="6353249" y="6475065"/>
            <a:ext cx="1204020" cy="414338"/>
          </a:xfrm>
          <a:prstGeom prst="roundRect">
            <a:avLst>
              <a:gd name="adj" fmla="val 50000"/>
            </a:avLst>
          </a:prstGeom>
          <a:solidFill>
            <a:srgbClr val="FF9E2C"/>
          </a:solidFill>
          <a:ln/>
        </p:spPr>
      </p:sp>
      <p:sp>
        <p:nvSpPr>
          <p:cNvPr id="42" name="Text 40"/>
          <p:cNvSpPr/>
          <p:nvPr/>
        </p:nvSpPr>
        <p:spPr>
          <a:xfrm>
            <a:off x="6543749" y="6532215"/>
            <a:ext cx="899220" cy="3381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2B121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SPI ×2</a:t>
            </a:r>
            <a:endParaRPr lang="en-US" sz="1800" dirty="0"/>
          </a:p>
        </p:txBody>
      </p:sp>
      <p:sp>
        <p:nvSpPr>
          <p:cNvPr id="43" name="Shape 41"/>
          <p:cNvSpPr/>
          <p:nvPr/>
        </p:nvSpPr>
        <p:spPr>
          <a:xfrm>
            <a:off x="7690619" y="6475065"/>
            <a:ext cx="1341165" cy="414338"/>
          </a:xfrm>
          <a:prstGeom prst="roundRect">
            <a:avLst>
              <a:gd name="adj" fmla="val 50000"/>
            </a:avLst>
          </a:prstGeom>
          <a:solidFill>
            <a:srgbClr val="FF9E2C"/>
          </a:solidFill>
          <a:ln/>
        </p:spPr>
      </p:sp>
      <p:sp>
        <p:nvSpPr>
          <p:cNvPr id="44" name="Text 42"/>
          <p:cNvSpPr/>
          <p:nvPr/>
        </p:nvSpPr>
        <p:spPr>
          <a:xfrm>
            <a:off x="7881119" y="6532215"/>
            <a:ext cx="1036365" cy="3381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2B121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UART ×2</a:t>
            </a:r>
            <a:endParaRPr lang="en-US" sz="1800" dirty="0"/>
          </a:p>
        </p:txBody>
      </p:sp>
      <p:sp>
        <p:nvSpPr>
          <p:cNvPr id="45" name="Shape 43"/>
          <p:cNvSpPr/>
          <p:nvPr/>
        </p:nvSpPr>
        <p:spPr>
          <a:xfrm>
            <a:off x="9165134" y="6475065"/>
            <a:ext cx="2712765" cy="414338"/>
          </a:xfrm>
          <a:prstGeom prst="roundRect">
            <a:avLst>
              <a:gd name="adj" fmla="val 50000"/>
            </a:avLst>
          </a:prstGeom>
          <a:solidFill>
            <a:srgbClr val="FCEEE4"/>
          </a:solidFill>
          <a:ln/>
        </p:spPr>
      </p:sp>
      <p:sp>
        <p:nvSpPr>
          <p:cNvPr id="46" name="Text 44"/>
          <p:cNvSpPr/>
          <p:nvPr/>
        </p:nvSpPr>
        <p:spPr>
          <a:xfrm>
            <a:off x="9355634" y="6532215"/>
            <a:ext cx="2413148" cy="3381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2B121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PWM · 16 channels</a:t>
            </a:r>
            <a:endParaRPr lang="en-US" sz="1800" dirty="0"/>
          </a:p>
        </p:txBody>
      </p:sp>
      <p:sp>
        <p:nvSpPr>
          <p:cNvPr id="47" name="Shape 45"/>
          <p:cNvSpPr/>
          <p:nvPr/>
        </p:nvSpPr>
        <p:spPr>
          <a:xfrm>
            <a:off x="12011248" y="6475065"/>
            <a:ext cx="1204020" cy="414338"/>
          </a:xfrm>
          <a:prstGeom prst="roundRect">
            <a:avLst>
              <a:gd name="adj" fmla="val 50000"/>
            </a:avLst>
          </a:prstGeom>
          <a:solidFill>
            <a:srgbClr val="FCEEE4"/>
          </a:solidFill>
          <a:ln/>
        </p:spPr>
      </p:sp>
      <p:sp>
        <p:nvSpPr>
          <p:cNvPr id="48" name="Text 46"/>
          <p:cNvSpPr/>
          <p:nvPr/>
        </p:nvSpPr>
        <p:spPr>
          <a:xfrm>
            <a:off x="12201748" y="6532215"/>
            <a:ext cx="899220" cy="3381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2B121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Timers</a:t>
            </a:r>
            <a:endParaRPr lang="en-US" sz="1800" dirty="0"/>
          </a:p>
        </p:txBody>
      </p:sp>
      <p:sp>
        <p:nvSpPr>
          <p:cNvPr id="49" name="Shape 47"/>
          <p:cNvSpPr/>
          <p:nvPr/>
        </p:nvSpPr>
        <p:spPr>
          <a:xfrm>
            <a:off x="13348618" y="6475065"/>
            <a:ext cx="2849910" cy="414338"/>
          </a:xfrm>
          <a:prstGeom prst="roundRect">
            <a:avLst>
              <a:gd name="adj" fmla="val 50000"/>
            </a:avLst>
          </a:prstGeom>
          <a:solidFill>
            <a:srgbClr val="FCEEE4"/>
          </a:solidFill>
          <a:ln/>
        </p:spPr>
      </p:sp>
      <p:sp>
        <p:nvSpPr>
          <p:cNvPr id="50" name="Text 48"/>
          <p:cNvSpPr/>
          <p:nvPr/>
        </p:nvSpPr>
        <p:spPr>
          <a:xfrm>
            <a:off x="13539118" y="6532215"/>
            <a:ext cx="2554407" cy="3381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2B121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Temperature sensor</a:t>
            </a:r>
            <a:endParaRPr lang="en-US" sz="1800" dirty="0"/>
          </a:p>
        </p:txBody>
      </p:sp>
      <p:sp>
        <p:nvSpPr>
          <p:cNvPr id="51" name="Shape 49"/>
          <p:cNvSpPr/>
          <p:nvPr/>
        </p:nvSpPr>
        <p:spPr>
          <a:xfrm>
            <a:off x="2286000" y="7241828"/>
            <a:ext cx="14859000" cy="609600"/>
          </a:xfrm>
          <a:prstGeom prst="roundRect">
            <a:avLst>
              <a:gd name="adj" fmla="val 18750"/>
            </a:avLst>
          </a:prstGeom>
          <a:solidFill>
            <a:srgbClr val="2B1216"/>
          </a:solidFill>
          <a:ln/>
        </p:spPr>
      </p:sp>
      <p:sp>
        <p:nvSpPr>
          <p:cNvPr id="52" name="Text 50"/>
          <p:cNvSpPr/>
          <p:nvPr/>
        </p:nvSpPr>
        <p:spPr>
          <a:xfrm>
            <a:off x="2552700" y="7375178"/>
            <a:ext cx="1908870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FFF8F2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30 GPIO pins</a:t>
            </a:r>
            <a:endParaRPr lang="en-US" sz="2250" dirty="0"/>
          </a:p>
        </p:txBody>
      </p:sp>
      <p:sp>
        <p:nvSpPr>
          <p:cNvPr id="53" name="Text 51"/>
          <p:cNvSpPr/>
          <p:nvPr/>
        </p:nvSpPr>
        <p:spPr>
          <a:xfrm>
            <a:off x="10980390" y="7408515"/>
            <a:ext cx="6487701" cy="3381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FFF8F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each pin selects which peripheral drives it</a:t>
            </a:r>
            <a:endParaRPr lang="en-US" sz="1800" dirty="0"/>
          </a:p>
        </p:txBody>
      </p:sp>
      <p:sp>
        <p:nvSpPr>
          <p:cNvPr id="54" name="Text 52"/>
          <p:cNvSpPr/>
          <p:nvPr/>
        </p:nvSpPr>
        <p:spPr>
          <a:xfrm>
            <a:off x="2286000" y="9096375"/>
            <a:ext cx="16344900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7D6164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Simplified view. Highlighted: the interfaces we use in the practical sessions. Source: RP2040 datasheet.</a:t>
            </a:r>
            <a:endParaRPr lang="en-US" sz="1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8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" cy="10287000"/>
          </a:xfrm>
          <a:prstGeom prst="rect">
            <a:avLst/>
          </a:prstGeom>
          <a:solidFill>
            <a:srgbClr val="D7263D"/>
          </a:solidFill>
          <a:ln/>
        </p:spPr>
      </p:sp>
      <p:sp>
        <p:nvSpPr>
          <p:cNvPr id="3" name="Text 1"/>
          <p:cNvSpPr/>
          <p:nvPr/>
        </p:nvSpPr>
        <p:spPr>
          <a:xfrm>
            <a:off x="343644" y="609600"/>
            <a:ext cx="608112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3019"/>
              </a:lnSpc>
              <a:buNone/>
            </a:pPr>
            <a:r>
              <a:rPr lang="en-US" sz="3300" b="1" dirty="0">
                <a:solidFill>
                  <a:srgbClr val="FFF8F2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04</a:t>
            </a:r>
            <a:endParaRPr lang="en-US" sz="3300" dirty="0"/>
          </a:p>
        </p:txBody>
      </p:sp>
      <p:sp>
        <p:nvSpPr>
          <p:cNvPr id="4" name="Text 2"/>
          <p:cNvSpPr/>
          <p:nvPr/>
        </p:nvSpPr>
        <p:spPr>
          <a:xfrm rot="10800000">
            <a:off x="471488" y="1409700"/>
            <a:ext cx="352425" cy="1116285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 vert="eaVert">
            <a:normAutofit/>
          </a:bodyPr>
          <a:lstStyle/>
          <a:p>
            <a:pPr algn="l" indent="0" marL="0">
              <a:buNone/>
            </a:pPr>
            <a:r>
              <a:rPr lang="en-US" sz="1800" b="1" spc="288" kern="0" dirty="0">
                <a:solidFill>
                  <a:srgbClr val="FFD9D2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RP2040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419100" y="8767763"/>
            <a:ext cx="381000" cy="381000"/>
          </a:xfrm>
          <a:prstGeom prst="ellipse">
            <a:avLst/>
          </a:prstGeom>
          <a:solidFill>
            <a:srgbClr val="FF9E2C"/>
          </a:solidFill>
          <a:ln/>
        </p:spPr>
      </p:sp>
      <p:sp>
        <p:nvSpPr>
          <p:cNvPr id="6" name="Text 4"/>
          <p:cNvSpPr/>
          <p:nvPr/>
        </p:nvSpPr>
        <p:spPr>
          <a:xfrm>
            <a:off x="472380" y="9453563"/>
            <a:ext cx="350565" cy="3381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FFF8F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11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17240250" y="-1047750"/>
            <a:ext cx="2095500" cy="2095500"/>
          </a:xfrm>
          <a:prstGeom prst="ellipse">
            <a:avLst/>
          </a:prstGeom>
          <a:solidFill>
            <a:srgbClr val="FF9E2C"/>
          </a:solidFill>
          <a:ln/>
        </p:spPr>
      </p:sp>
      <p:sp>
        <p:nvSpPr>
          <p:cNvPr id="8" name="Shape 6"/>
          <p:cNvSpPr/>
          <p:nvPr/>
        </p:nvSpPr>
        <p:spPr>
          <a:xfrm>
            <a:off x="2286000" y="1052513"/>
            <a:ext cx="152400" cy="152400"/>
          </a:xfrm>
          <a:prstGeom prst="ellipse">
            <a:avLst/>
          </a:prstGeom>
          <a:solidFill>
            <a:srgbClr val="FF9E2C"/>
          </a:solidFill>
          <a:ln/>
        </p:spPr>
      </p:sp>
      <p:sp>
        <p:nvSpPr>
          <p:cNvPr id="9" name="Text 7"/>
          <p:cNvSpPr/>
          <p:nvPr/>
        </p:nvSpPr>
        <p:spPr>
          <a:xfrm>
            <a:off x="2590800" y="990600"/>
            <a:ext cx="1921966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288" kern="0" dirty="0">
                <a:solidFill>
                  <a:srgbClr val="B81D35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INTERFACES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2286000" y="1495425"/>
            <a:ext cx="14668500" cy="79816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7692"/>
              </a:lnSpc>
              <a:buNone/>
            </a:pPr>
            <a:r>
              <a:rPr lang="en-US" sz="5700" b="1" spc="-171" kern="0" dirty="0">
                <a:solidFill>
                  <a:srgbClr val="2B1216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Four ways to talk to a sensor</a:t>
            </a:r>
            <a:endParaRPr lang="en-US" sz="5700" dirty="0"/>
          </a:p>
        </p:txBody>
      </p:sp>
      <p:sp>
        <p:nvSpPr>
          <p:cNvPr id="11" name="Text 9"/>
          <p:cNvSpPr/>
          <p:nvPr/>
        </p:nvSpPr>
        <p:spPr>
          <a:xfrm>
            <a:off x="2286000" y="2636490"/>
            <a:ext cx="13620750" cy="4905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4396"/>
              </a:lnSpc>
              <a:buNone/>
            </a:pPr>
            <a:r>
              <a:rPr lang="en-US" sz="2850" dirty="0">
                <a:solidFill>
                  <a:srgbClr val="2B1216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A quick map for now — each interface gets its own session later.</a:t>
            </a:r>
            <a:endParaRPr lang="en-US" sz="2850" dirty="0"/>
          </a:p>
        </p:txBody>
      </p:sp>
      <p:sp>
        <p:nvSpPr>
          <p:cNvPr id="12" name="Shape 10"/>
          <p:cNvSpPr/>
          <p:nvPr/>
        </p:nvSpPr>
        <p:spPr>
          <a:xfrm>
            <a:off x="2286000" y="3850928"/>
            <a:ext cx="685800" cy="95250"/>
          </a:xfrm>
          <a:prstGeom prst="roundRect">
            <a:avLst>
              <a:gd name="adj" fmla="val 50000"/>
            </a:avLst>
          </a:prstGeom>
          <a:solidFill>
            <a:srgbClr val="FF9E2C"/>
          </a:solidFill>
          <a:ln/>
        </p:spPr>
      </p:sp>
      <p:sp>
        <p:nvSpPr>
          <p:cNvPr id="13" name="Text 11"/>
          <p:cNvSpPr/>
          <p:nvPr/>
        </p:nvSpPr>
        <p:spPr>
          <a:xfrm>
            <a:off x="2286000" y="4136678"/>
            <a:ext cx="3520440" cy="723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3237"/>
              </a:lnSpc>
              <a:buNone/>
            </a:pPr>
            <a:r>
              <a:rPr lang="en-US" sz="5400" b="1" spc="-162" kern="0" dirty="0">
                <a:solidFill>
                  <a:srgbClr val="D7263D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ADC</a:t>
            </a:r>
            <a:endParaRPr lang="en-US" sz="5400" dirty="0"/>
          </a:p>
        </p:txBody>
      </p:sp>
      <p:sp>
        <p:nvSpPr>
          <p:cNvPr id="14" name="Text 12"/>
          <p:cNvSpPr/>
          <p:nvPr/>
        </p:nvSpPr>
        <p:spPr>
          <a:xfrm>
            <a:off x="2286000" y="5012978"/>
            <a:ext cx="3520440" cy="3381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7D616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4 inputs · 12-bit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2286000" y="5503515"/>
            <a:ext cx="3296412" cy="7581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2836"/>
              </a:lnSpc>
              <a:buNone/>
            </a:pPr>
            <a:r>
              <a:rPr lang="en-US" sz="2100" dirty="0">
                <a:solidFill>
                  <a:srgbClr val="523236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Reads a voltage directly from an analog sensor</a:t>
            </a:r>
            <a:endParaRPr lang="en-US" sz="2100" dirty="0"/>
          </a:p>
        </p:txBody>
      </p:sp>
      <p:sp>
        <p:nvSpPr>
          <p:cNvPr id="16" name="Shape 14"/>
          <p:cNvSpPr/>
          <p:nvPr/>
        </p:nvSpPr>
        <p:spPr>
          <a:xfrm>
            <a:off x="6172200" y="3850928"/>
            <a:ext cx="685800" cy="95250"/>
          </a:xfrm>
          <a:prstGeom prst="roundRect">
            <a:avLst>
              <a:gd name="adj" fmla="val 50000"/>
            </a:avLst>
          </a:prstGeom>
          <a:solidFill>
            <a:srgbClr val="FF9E2C"/>
          </a:solidFill>
          <a:ln/>
        </p:spPr>
      </p:sp>
      <p:sp>
        <p:nvSpPr>
          <p:cNvPr id="17" name="Text 15"/>
          <p:cNvSpPr/>
          <p:nvPr/>
        </p:nvSpPr>
        <p:spPr>
          <a:xfrm>
            <a:off x="6172200" y="4136678"/>
            <a:ext cx="3520440" cy="723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3237"/>
              </a:lnSpc>
              <a:buNone/>
            </a:pPr>
            <a:r>
              <a:rPr lang="en-US" sz="5400" b="1" spc="-162" kern="0" dirty="0">
                <a:solidFill>
                  <a:srgbClr val="D7263D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I²C</a:t>
            </a:r>
            <a:endParaRPr lang="en-US" sz="5400" dirty="0"/>
          </a:p>
        </p:txBody>
      </p:sp>
      <p:sp>
        <p:nvSpPr>
          <p:cNvPr id="18" name="Text 16"/>
          <p:cNvSpPr/>
          <p:nvPr/>
        </p:nvSpPr>
        <p:spPr>
          <a:xfrm>
            <a:off x="6172200" y="5012978"/>
            <a:ext cx="3520440" cy="3381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7D616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2 wires · SDA, SCL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6172200" y="5503515"/>
            <a:ext cx="3296412" cy="7581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2836"/>
              </a:lnSpc>
              <a:buNone/>
            </a:pPr>
            <a:r>
              <a:rPr lang="en-US" sz="2100" dirty="0">
                <a:solidFill>
                  <a:srgbClr val="523236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Shared bus: many sensors, each with its own address</a:t>
            </a:r>
            <a:endParaRPr lang="en-US" sz="2100" dirty="0"/>
          </a:p>
        </p:txBody>
      </p:sp>
      <p:sp>
        <p:nvSpPr>
          <p:cNvPr id="20" name="Shape 18"/>
          <p:cNvSpPr/>
          <p:nvPr/>
        </p:nvSpPr>
        <p:spPr>
          <a:xfrm>
            <a:off x="10058400" y="3850928"/>
            <a:ext cx="685800" cy="95250"/>
          </a:xfrm>
          <a:prstGeom prst="roundRect">
            <a:avLst>
              <a:gd name="adj" fmla="val 50000"/>
            </a:avLst>
          </a:prstGeom>
          <a:solidFill>
            <a:srgbClr val="FF9E2C"/>
          </a:solidFill>
          <a:ln/>
        </p:spPr>
      </p:sp>
      <p:sp>
        <p:nvSpPr>
          <p:cNvPr id="21" name="Text 19"/>
          <p:cNvSpPr/>
          <p:nvPr/>
        </p:nvSpPr>
        <p:spPr>
          <a:xfrm>
            <a:off x="10058400" y="4136678"/>
            <a:ext cx="3520440" cy="723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3237"/>
              </a:lnSpc>
              <a:buNone/>
            </a:pPr>
            <a:r>
              <a:rPr lang="en-US" sz="5400" b="1" spc="-162" kern="0" dirty="0">
                <a:solidFill>
                  <a:srgbClr val="D7263D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SPI</a:t>
            </a:r>
            <a:endParaRPr lang="en-US" sz="5400" dirty="0"/>
          </a:p>
        </p:txBody>
      </p:sp>
      <p:sp>
        <p:nvSpPr>
          <p:cNvPr id="22" name="Text 20"/>
          <p:cNvSpPr/>
          <p:nvPr/>
        </p:nvSpPr>
        <p:spPr>
          <a:xfrm>
            <a:off x="10058400" y="5012978"/>
            <a:ext cx="3296412" cy="638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7D616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4 wires · SCK, MOSI, MISO, CS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10058400" y="5803553"/>
            <a:ext cx="3296412" cy="7581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2836"/>
              </a:lnSpc>
              <a:buNone/>
            </a:pPr>
            <a:r>
              <a:rPr lang="en-US" sz="2100" dirty="0">
                <a:solidFill>
                  <a:srgbClr val="523236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Fast link, one chip-select line per device</a:t>
            </a:r>
            <a:endParaRPr lang="en-US" sz="2100" dirty="0"/>
          </a:p>
        </p:txBody>
      </p:sp>
      <p:sp>
        <p:nvSpPr>
          <p:cNvPr id="24" name="Shape 22"/>
          <p:cNvSpPr/>
          <p:nvPr/>
        </p:nvSpPr>
        <p:spPr>
          <a:xfrm>
            <a:off x="13944600" y="3850928"/>
            <a:ext cx="685800" cy="95250"/>
          </a:xfrm>
          <a:prstGeom prst="roundRect">
            <a:avLst>
              <a:gd name="adj" fmla="val 50000"/>
            </a:avLst>
          </a:prstGeom>
          <a:solidFill>
            <a:srgbClr val="FF9E2C"/>
          </a:solidFill>
          <a:ln/>
        </p:spPr>
      </p:sp>
      <p:sp>
        <p:nvSpPr>
          <p:cNvPr id="25" name="Text 23"/>
          <p:cNvSpPr/>
          <p:nvPr/>
        </p:nvSpPr>
        <p:spPr>
          <a:xfrm>
            <a:off x="13944600" y="4136678"/>
            <a:ext cx="3520440" cy="723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3237"/>
              </a:lnSpc>
              <a:buNone/>
            </a:pPr>
            <a:r>
              <a:rPr lang="en-US" sz="5400" b="1" spc="-162" kern="0" dirty="0">
                <a:solidFill>
                  <a:srgbClr val="D7263D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Serial</a:t>
            </a:r>
            <a:endParaRPr lang="en-US" sz="5400" dirty="0"/>
          </a:p>
        </p:txBody>
      </p:sp>
      <p:sp>
        <p:nvSpPr>
          <p:cNvPr id="26" name="Text 24"/>
          <p:cNvSpPr/>
          <p:nvPr/>
        </p:nvSpPr>
        <p:spPr>
          <a:xfrm>
            <a:off x="13944600" y="5012978"/>
            <a:ext cx="3520440" cy="3381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7D616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UART · TX, RX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13944600" y="5503515"/>
            <a:ext cx="3296412" cy="7581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2836"/>
              </a:lnSpc>
              <a:buNone/>
            </a:pPr>
            <a:r>
              <a:rPr lang="en-US" sz="2100" dirty="0">
                <a:solidFill>
                  <a:srgbClr val="523236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Point-to-point stream between two devices</a:t>
            </a:r>
            <a:endParaRPr lang="en-US" sz="2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8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" cy="10287000"/>
          </a:xfrm>
          <a:prstGeom prst="rect">
            <a:avLst/>
          </a:prstGeom>
          <a:solidFill>
            <a:srgbClr val="D7263D"/>
          </a:solidFill>
          <a:ln/>
        </p:spPr>
      </p:sp>
      <p:sp>
        <p:nvSpPr>
          <p:cNvPr id="3" name="Text 1"/>
          <p:cNvSpPr/>
          <p:nvPr/>
        </p:nvSpPr>
        <p:spPr>
          <a:xfrm>
            <a:off x="343644" y="609600"/>
            <a:ext cx="608112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3019"/>
              </a:lnSpc>
              <a:buNone/>
            </a:pPr>
            <a:r>
              <a:rPr lang="en-US" sz="3300" b="1" dirty="0">
                <a:solidFill>
                  <a:srgbClr val="FFF8F2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04</a:t>
            </a:r>
            <a:endParaRPr lang="en-US" sz="3300" dirty="0"/>
          </a:p>
        </p:txBody>
      </p:sp>
      <p:sp>
        <p:nvSpPr>
          <p:cNvPr id="4" name="Text 2"/>
          <p:cNvSpPr/>
          <p:nvPr/>
        </p:nvSpPr>
        <p:spPr>
          <a:xfrm rot="10800000">
            <a:off x="471488" y="1409700"/>
            <a:ext cx="352425" cy="1116285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 vert="eaVert">
            <a:normAutofit/>
          </a:bodyPr>
          <a:lstStyle/>
          <a:p>
            <a:pPr algn="l" indent="0" marL="0">
              <a:buNone/>
            </a:pPr>
            <a:r>
              <a:rPr lang="en-US" sz="1800" b="1" spc="288" kern="0" dirty="0">
                <a:solidFill>
                  <a:srgbClr val="FFD9D2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RP2040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419100" y="8767763"/>
            <a:ext cx="381000" cy="381000"/>
          </a:xfrm>
          <a:prstGeom prst="ellipse">
            <a:avLst/>
          </a:prstGeom>
          <a:solidFill>
            <a:srgbClr val="FF9E2C"/>
          </a:solidFill>
          <a:ln/>
        </p:spPr>
      </p:sp>
      <p:sp>
        <p:nvSpPr>
          <p:cNvPr id="6" name="Text 4"/>
          <p:cNvSpPr/>
          <p:nvPr/>
        </p:nvSpPr>
        <p:spPr>
          <a:xfrm>
            <a:off x="472380" y="9453563"/>
            <a:ext cx="350565" cy="3381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FFF8F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12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17240250" y="-1047750"/>
            <a:ext cx="2095500" cy="2095500"/>
          </a:xfrm>
          <a:prstGeom prst="ellipse">
            <a:avLst/>
          </a:prstGeom>
          <a:solidFill>
            <a:srgbClr val="FF9E2C"/>
          </a:solidFill>
          <a:ln/>
        </p:spPr>
      </p:sp>
      <p:sp>
        <p:nvSpPr>
          <p:cNvPr id="8" name="Shape 6"/>
          <p:cNvSpPr/>
          <p:nvPr/>
        </p:nvSpPr>
        <p:spPr>
          <a:xfrm>
            <a:off x="2286000" y="1052513"/>
            <a:ext cx="152400" cy="152400"/>
          </a:xfrm>
          <a:prstGeom prst="ellipse">
            <a:avLst/>
          </a:prstGeom>
          <a:solidFill>
            <a:srgbClr val="FF9E2C"/>
          </a:solidFill>
          <a:ln/>
        </p:spPr>
      </p:sp>
      <p:sp>
        <p:nvSpPr>
          <p:cNvPr id="9" name="Text 7"/>
          <p:cNvSpPr/>
          <p:nvPr/>
        </p:nvSpPr>
        <p:spPr>
          <a:xfrm>
            <a:off x="2590800" y="990600"/>
            <a:ext cx="3394628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288" kern="0" dirty="0">
                <a:solidFill>
                  <a:srgbClr val="B81D35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PRACTICAL SESSIONS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2286000" y="1495425"/>
            <a:ext cx="14668500" cy="79816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7692"/>
              </a:lnSpc>
              <a:buNone/>
            </a:pPr>
            <a:r>
              <a:rPr lang="en-US" sz="5700" b="1" spc="-171" kern="0" dirty="0">
                <a:solidFill>
                  <a:srgbClr val="2B1216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One setup for every project</a:t>
            </a:r>
            <a:endParaRPr lang="en-US" sz="5700" dirty="0"/>
          </a:p>
        </p:txBody>
      </p:sp>
      <p:sp>
        <p:nvSpPr>
          <p:cNvPr id="11" name="Text 9"/>
          <p:cNvSpPr/>
          <p:nvPr/>
        </p:nvSpPr>
        <p:spPr>
          <a:xfrm>
            <a:off x="2286000" y="2636490"/>
            <a:ext cx="13620750" cy="4905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4396"/>
              </a:lnSpc>
              <a:buNone/>
            </a:pPr>
            <a:r>
              <a:rPr lang="en-US" sz="2850" dirty="0">
                <a:solidFill>
                  <a:srgbClr val="2B1216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The topology stays the same; only the sensor interface changes.</a:t>
            </a:r>
            <a:endParaRPr lang="en-US" sz="2850" dirty="0"/>
          </a:p>
        </p:txBody>
      </p:sp>
      <p:sp>
        <p:nvSpPr>
          <p:cNvPr id="12" name="Shape 10"/>
          <p:cNvSpPr/>
          <p:nvPr/>
        </p:nvSpPr>
        <p:spPr>
          <a:xfrm>
            <a:off x="2286000" y="4802014"/>
            <a:ext cx="2857500" cy="2857500"/>
          </a:xfrm>
          <a:prstGeom prst="roundRect">
            <a:avLst>
              <a:gd name="adj" fmla="val 5333"/>
            </a:avLst>
          </a:prstGeom>
          <a:ln w="28575">
            <a:solidFill>
              <a:srgbClr val="2B121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619375" y="5135389"/>
            <a:ext cx="2409825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288" kern="0" dirty="0">
                <a:solidFill>
                  <a:srgbClr val="B81D35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HARDWARE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2619375" y="5544964"/>
            <a:ext cx="2409825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3478"/>
              </a:lnSpc>
              <a:buNone/>
            </a:pPr>
            <a:r>
              <a:rPr lang="en-US" sz="3600" b="1" dirty="0">
                <a:solidFill>
                  <a:srgbClr val="2B1216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Sensor</a:t>
            </a:r>
            <a:endParaRPr lang="en-US" sz="3600" dirty="0"/>
          </a:p>
        </p:txBody>
      </p:sp>
      <p:sp>
        <p:nvSpPr>
          <p:cNvPr id="15" name="Text 13"/>
          <p:cNvSpPr/>
          <p:nvPr/>
        </p:nvSpPr>
        <p:spPr>
          <a:xfrm>
            <a:off x="2619375" y="6135514"/>
            <a:ext cx="2266950" cy="7581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2836"/>
              </a:lnSpc>
              <a:buNone/>
            </a:pPr>
            <a:r>
              <a:rPr lang="en-US" sz="2100" dirty="0">
                <a:solidFill>
                  <a:srgbClr val="523236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Measures a physical quantity</a:t>
            </a:r>
            <a:endParaRPr lang="en-US" sz="2100" dirty="0"/>
          </a:p>
        </p:txBody>
      </p:sp>
      <p:sp>
        <p:nvSpPr>
          <p:cNvPr id="16" name="Shape 14"/>
          <p:cNvSpPr/>
          <p:nvPr/>
        </p:nvSpPr>
        <p:spPr>
          <a:xfrm>
            <a:off x="5608290" y="5104433"/>
            <a:ext cx="1165920" cy="376238"/>
          </a:xfrm>
          <a:prstGeom prst="roundRect">
            <a:avLst>
              <a:gd name="adj" fmla="val 50000"/>
            </a:avLst>
          </a:prstGeom>
          <a:solidFill>
            <a:srgbClr val="FF9E2C"/>
          </a:solidFill>
          <a:ln/>
        </p:spPr>
      </p:sp>
      <p:sp>
        <p:nvSpPr>
          <p:cNvPr id="17" name="Text 15"/>
          <p:cNvSpPr/>
          <p:nvPr/>
        </p:nvSpPr>
        <p:spPr>
          <a:xfrm>
            <a:off x="5741640" y="5142533"/>
            <a:ext cx="899220" cy="3381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800" dirty="0">
                <a:solidFill>
                  <a:srgbClr val="2B121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ADC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5608290" y="5556870"/>
            <a:ext cx="1165920" cy="376238"/>
          </a:xfrm>
          <a:prstGeom prst="roundRect">
            <a:avLst>
              <a:gd name="adj" fmla="val 50000"/>
            </a:avLst>
          </a:prstGeom>
          <a:solidFill>
            <a:srgbClr val="FF9E2C"/>
          </a:solidFill>
          <a:ln/>
        </p:spPr>
      </p:sp>
      <p:sp>
        <p:nvSpPr>
          <p:cNvPr id="19" name="Text 17"/>
          <p:cNvSpPr/>
          <p:nvPr/>
        </p:nvSpPr>
        <p:spPr>
          <a:xfrm>
            <a:off x="5741640" y="5594970"/>
            <a:ext cx="899220" cy="3381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800" dirty="0">
                <a:solidFill>
                  <a:srgbClr val="2B121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I²C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5608290" y="6009308"/>
            <a:ext cx="1165920" cy="376238"/>
          </a:xfrm>
          <a:prstGeom prst="roundRect">
            <a:avLst>
              <a:gd name="adj" fmla="val 50000"/>
            </a:avLst>
          </a:prstGeom>
          <a:solidFill>
            <a:srgbClr val="FF9E2C"/>
          </a:solidFill>
          <a:ln/>
        </p:spPr>
      </p:sp>
      <p:sp>
        <p:nvSpPr>
          <p:cNvPr id="21" name="Text 19"/>
          <p:cNvSpPr/>
          <p:nvPr/>
        </p:nvSpPr>
        <p:spPr>
          <a:xfrm>
            <a:off x="5741640" y="6047408"/>
            <a:ext cx="899220" cy="3381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800" dirty="0">
                <a:solidFill>
                  <a:srgbClr val="2B121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SPI</a:t>
            </a:r>
            <a:endParaRPr lang="en-US" sz="1800" dirty="0"/>
          </a:p>
        </p:txBody>
      </p:sp>
      <p:sp>
        <p:nvSpPr>
          <p:cNvPr id="22" name="Shape 20"/>
          <p:cNvSpPr/>
          <p:nvPr/>
        </p:nvSpPr>
        <p:spPr>
          <a:xfrm>
            <a:off x="5608290" y="6461745"/>
            <a:ext cx="1165920" cy="376238"/>
          </a:xfrm>
          <a:prstGeom prst="roundRect">
            <a:avLst>
              <a:gd name="adj" fmla="val 50000"/>
            </a:avLst>
          </a:prstGeom>
          <a:solidFill>
            <a:srgbClr val="FF9E2C"/>
          </a:solidFill>
          <a:ln/>
        </p:spPr>
      </p:sp>
      <p:sp>
        <p:nvSpPr>
          <p:cNvPr id="23" name="Text 21"/>
          <p:cNvSpPr/>
          <p:nvPr/>
        </p:nvSpPr>
        <p:spPr>
          <a:xfrm>
            <a:off x="5741640" y="6499845"/>
            <a:ext cx="899220" cy="3381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800" dirty="0">
                <a:solidFill>
                  <a:srgbClr val="2B121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Serial</a:t>
            </a:r>
            <a:endParaRPr lang="en-US" sz="1800" dirty="0"/>
          </a:p>
        </p:txBody>
      </p:sp>
      <p:sp>
        <p:nvSpPr>
          <p:cNvPr id="24" name="Shape 22"/>
          <p:cNvSpPr/>
          <p:nvPr/>
        </p:nvSpPr>
        <p:spPr>
          <a:xfrm>
            <a:off x="5334000" y="6933233"/>
            <a:ext cx="1714500" cy="28575"/>
          </a:xfrm>
          <a:prstGeom prst="rect">
            <a:avLst/>
          </a:prstGeom>
          <a:solidFill>
            <a:srgbClr val="2B1216"/>
          </a:solidFill>
          <a:ln/>
        </p:spPr>
      </p:sp>
      <p:sp>
        <p:nvSpPr>
          <p:cNvPr id="25" name="Text 23"/>
          <p:cNvSpPr/>
          <p:nvPr/>
        </p:nvSpPr>
        <p:spPr>
          <a:xfrm>
            <a:off x="5711130" y="7057058"/>
            <a:ext cx="1036365" cy="3381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B81D3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changes</a:t>
            </a:r>
            <a:endParaRPr lang="en-US" sz="1800" dirty="0"/>
          </a:p>
        </p:txBody>
      </p:sp>
      <p:sp>
        <p:nvSpPr>
          <p:cNvPr id="26" name="Shape 24"/>
          <p:cNvSpPr/>
          <p:nvPr/>
        </p:nvSpPr>
        <p:spPr>
          <a:xfrm>
            <a:off x="7239000" y="4545360"/>
            <a:ext cx="3810000" cy="3370808"/>
          </a:xfrm>
          <a:prstGeom prst="roundRect">
            <a:avLst>
              <a:gd name="adj" fmla="val 4521"/>
            </a:avLst>
          </a:prstGeom>
          <a:solidFill>
            <a:srgbClr val="D7263D"/>
          </a:solidFill>
          <a:ln/>
        </p:spPr>
      </p:sp>
      <p:sp>
        <p:nvSpPr>
          <p:cNvPr id="27" name="Text 25"/>
          <p:cNvSpPr/>
          <p:nvPr/>
        </p:nvSpPr>
        <p:spPr>
          <a:xfrm>
            <a:off x="7543800" y="4850160"/>
            <a:ext cx="3520440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288" kern="0" dirty="0">
                <a:solidFill>
                  <a:srgbClr val="FFD9D2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MICROCONTROLLER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7543800" y="5259735"/>
            <a:ext cx="3520440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3478"/>
              </a:lnSpc>
              <a:buNone/>
            </a:pPr>
            <a:r>
              <a:rPr lang="en-US" sz="3600" b="1" dirty="0">
                <a:solidFill>
                  <a:srgbClr val="FFF8F2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RP2040</a:t>
            </a:r>
            <a:endParaRPr lang="en-US" sz="3600" dirty="0"/>
          </a:p>
        </p:txBody>
      </p:sp>
      <p:sp>
        <p:nvSpPr>
          <p:cNvPr id="29" name="Text 27"/>
          <p:cNvSpPr/>
          <p:nvPr/>
        </p:nvSpPr>
        <p:spPr>
          <a:xfrm>
            <a:off x="7543800" y="5850285"/>
            <a:ext cx="3296412" cy="111814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2836"/>
              </a:lnSpc>
              <a:buNone/>
            </a:pPr>
            <a:r>
              <a:rPr lang="en-US" sz="2100" dirty="0">
                <a:solidFill>
                  <a:srgbClr val="FFF8F2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Reads the sensor, processes the data, streams the result</a:t>
            </a:r>
            <a:endParaRPr lang="en-US" sz="2100" dirty="0"/>
          </a:p>
        </p:txBody>
      </p:sp>
      <p:sp>
        <p:nvSpPr>
          <p:cNvPr id="30" name="Shape 28"/>
          <p:cNvSpPr/>
          <p:nvPr/>
        </p:nvSpPr>
        <p:spPr>
          <a:xfrm>
            <a:off x="7543800" y="7197030"/>
            <a:ext cx="3124200" cy="414338"/>
          </a:xfrm>
          <a:prstGeom prst="roundRect">
            <a:avLst>
              <a:gd name="adj" fmla="val 50000"/>
            </a:avLst>
          </a:prstGeom>
          <a:solidFill>
            <a:srgbClr val="FFF8F2"/>
          </a:solidFill>
          <a:ln/>
        </p:spPr>
      </p:sp>
      <p:sp>
        <p:nvSpPr>
          <p:cNvPr id="31" name="Text 29"/>
          <p:cNvSpPr/>
          <p:nvPr/>
        </p:nvSpPr>
        <p:spPr>
          <a:xfrm>
            <a:off x="7734300" y="7254180"/>
            <a:ext cx="2836926" cy="3381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B81D3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Partially vibe-coded</a:t>
            </a:r>
            <a:endParaRPr lang="en-US" sz="1800" dirty="0"/>
          </a:p>
        </p:txBody>
      </p:sp>
      <p:sp>
        <p:nvSpPr>
          <p:cNvPr id="32" name="Text 30"/>
          <p:cNvSpPr/>
          <p:nvPr/>
        </p:nvSpPr>
        <p:spPr>
          <a:xfrm>
            <a:off x="11890995" y="5821189"/>
            <a:ext cx="487710" cy="3381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52323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USB</a:t>
            </a:r>
            <a:endParaRPr lang="en-US" sz="1800" dirty="0"/>
          </a:p>
        </p:txBody>
      </p:sp>
      <p:sp>
        <p:nvSpPr>
          <p:cNvPr id="33" name="Shape 31"/>
          <p:cNvSpPr/>
          <p:nvPr/>
        </p:nvSpPr>
        <p:spPr>
          <a:xfrm>
            <a:off x="11239500" y="6216476"/>
            <a:ext cx="1714500" cy="28575"/>
          </a:xfrm>
          <a:prstGeom prst="rect">
            <a:avLst/>
          </a:prstGeom>
          <a:solidFill>
            <a:srgbClr val="2B1216"/>
          </a:solidFill>
          <a:ln/>
        </p:spPr>
      </p:sp>
      <p:sp>
        <p:nvSpPr>
          <p:cNvPr id="34" name="Text 32"/>
          <p:cNvSpPr/>
          <p:nvPr/>
        </p:nvSpPr>
        <p:spPr>
          <a:xfrm>
            <a:off x="11685240" y="6340301"/>
            <a:ext cx="899220" cy="3381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52323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serial</a:t>
            </a:r>
            <a:endParaRPr lang="en-US" sz="1800" dirty="0"/>
          </a:p>
        </p:txBody>
      </p:sp>
      <p:sp>
        <p:nvSpPr>
          <p:cNvPr id="35" name="Shape 33"/>
          <p:cNvSpPr/>
          <p:nvPr/>
        </p:nvSpPr>
        <p:spPr>
          <a:xfrm>
            <a:off x="13144500" y="4696792"/>
            <a:ext cx="4000500" cy="3067943"/>
          </a:xfrm>
          <a:prstGeom prst="roundRect">
            <a:avLst>
              <a:gd name="adj" fmla="val 4967"/>
            </a:avLst>
          </a:prstGeom>
          <a:ln w="28575">
            <a:solidFill>
              <a:srgbClr val="2B1216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13477875" y="5030167"/>
            <a:ext cx="3667125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288" kern="0" dirty="0">
                <a:solidFill>
                  <a:srgbClr val="B81D35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PC</a:t>
            </a:r>
            <a:endParaRPr lang="en-US" sz="1800" dirty="0"/>
          </a:p>
        </p:txBody>
      </p:sp>
      <p:sp>
        <p:nvSpPr>
          <p:cNvPr id="37" name="Text 35"/>
          <p:cNvSpPr/>
          <p:nvPr/>
        </p:nvSpPr>
        <p:spPr>
          <a:xfrm>
            <a:off x="13477875" y="5439742"/>
            <a:ext cx="3667125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3478"/>
              </a:lnSpc>
              <a:buNone/>
            </a:pPr>
            <a:r>
              <a:rPr lang="en-US" sz="3600" b="1" dirty="0">
                <a:solidFill>
                  <a:srgbClr val="2B1216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Application</a:t>
            </a:r>
            <a:endParaRPr lang="en-US" sz="3600" dirty="0"/>
          </a:p>
        </p:txBody>
      </p:sp>
      <p:sp>
        <p:nvSpPr>
          <p:cNvPr id="38" name="Text 36"/>
          <p:cNvSpPr/>
          <p:nvPr/>
        </p:nvSpPr>
        <p:spPr>
          <a:xfrm>
            <a:off x="13477875" y="6030292"/>
            <a:ext cx="3433763" cy="7581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2836"/>
              </a:lnSpc>
              <a:buNone/>
            </a:pPr>
            <a:r>
              <a:rPr lang="en-US" sz="2100" dirty="0">
                <a:solidFill>
                  <a:srgbClr val="523236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Reads the serial stream and plots the data</a:t>
            </a:r>
            <a:endParaRPr lang="en-US" sz="2100" dirty="0"/>
          </a:p>
        </p:txBody>
      </p:sp>
      <p:sp>
        <p:nvSpPr>
          <p:cNvPr id="39" name="Shape 37"/>
          <p:cNvSpPr/>
          <p:nvPr/>
        </p:nvSpPr>
        <p:spPr>
          <a:xfrm>
            <a:off x="13477875" y="7017023"/>
            <a:ext cx="1752600" cy="414338"/>
          </a:xfrm>
          <a:prstGeom prst="roundRect">
            <a:avLst>
              <a:gd name="adj" fmla="val 50000"/>
            </a:avLst>
          </a:prstGeom>
          <a:solidFill>
            <a:srgbClr val="D7263D"/>
          </a:solidFill>
          <a:ln/>
        </p:spPr>
      </p:sp>
      <p:sp>
        <p:nvSpPr>
          <p:cNvPr id="40" name="Text 38"/>
          <p:cNvSpPr/>
          <p:nvPr/>
        </p:nvSpPr>
        <p:spPr>
          <a:xfrm>
            <a:off x="13668375" y="7074173"/>
            <a:ext cx="1447800" cy="3381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FFF8F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Vibe-coded</a:t>
            </a:r>
            <a:endParaRPr lang="en-US" sz="1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D726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3429000" y="3238500"/>
            <a:ext cx="11811000" cy="11811000"/>
          </a:xfrm>
          <a:prstGeom prst="ellipse">
            <a:avLst/>
          </a:prstGeom>
          <a:solidFill>
            <a:srgbClr val="94172D"/>
          </a:solidFill>
          <a:ln/>
        </p:spPr>
      </p:sp>
      <p:sp>
        <p:nvSpPr>
          <p:cNvPr id="3" name="Shape 1"/>
          <p:cNvSpPr/>
          <p:nvPr/>
        </p:nvSpPr>
        <p:spPr>
          <a:xfrm>
            <a:off x="16421100" y="1143000"/>
            <a:ext cx="533400" cy="533400"/>
          </a:xfrm>
          <a:prstGeom prst="ellipse">
            <a:avLst/>
          </a:prstGeom>
          <a:solidFill>
            <a:srgbClr val="F0508A"/>
          </a:solidFill>
          <a:ln/>
        </p:spPr>
      </p:sp>
      <p:sp>
        <p:nvSpPr>
          <p:cNvPr id="4" name="Text 2"/>
          <p:cNvSpPr/>
          <p:nvPr/>
        </p:nvSpPr>
        <p:spPr>
          <a:xfrm>
            <a:off x="9525000" y="3481388"/>
            <a:ext cx="7652385" cy="2171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3582"/>
              </a:lnSpc>
              <a:buNone/>
            </a:pPr>
            <a:r>
              <a:rPr lang="en-US" sz="8400" b="1" spc="-252" kern="0" dirty="0">
                <a:solidFill>
                  <a:srgbClr val="FFF8F2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Analog-to-digital conversion</a:t>
            </a:r>
            <a:endParaRPr lang="en-US" sz="8400" dirty="0"/>
          </a:p>
        </p:txBody>
      </p:sp>
      <p:sp>
        <p:nvSpPr>
          <p:cNvPr id="5" name="Text 3"/>
          <p:cNvSpPr/>
          <p:nvPr/>
        </p:nvSpPr>
        <p:spPr>
          <a:xfrm>
            <a:off x="9525000" y="5995988"/>
            <a:ext cx="7063740" cy="8477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3659"/>
              </a:lnSpc>
              <a:buNone/>
            </a:pPr>
            <a:r>
              <a:rPr lang="en-US" sz="2550" dirty="0">
                <a:solidFill>
                  <a:srgbClr val="FFD9D2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How a continuous voltage becomes a number a microcontroller can process.</a:t>
            </a:r>
            <a:endParaRPr lang="en-US" sz="25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8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" cy="10287000"/>
          </a:xfrm>
          <a:prstGeom prst="rect">
            <a:avLst/>
          </a:prstGeom>
          <a:solidFill>
            <a:srgbClr val="D7263D"/>
          </a:solidFill>
          <a:ln/>
        </p:spPr>
      </p:sp>
      <p:sp>
        <p:nvSpPr>
          <p:cNvPr id="3" name="Text 1"/>
          <p:cNvSpPr/>
          <p:nvPr/>
        </p:nvSpPr>
        <p:spPr>
          <a:xfrm>
            <a:off x="349895" y="609600"/>
            <a:ext cx="59561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3019"/>
              </a:lnSpc>
              <a:buNone/>
            </a:pPr>
            <a:r>
              <a:rPr lang="en-US" sz="3300" b="1" dirty="0">
                <a:solidFill>
                  <a:srgbClr val="FFF8F2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05</a:t>
            </a:r>
            <a:endParaRPr lang="en-US" sz="3300" dirty="0"/>
          </a:p>
        </p:txBody>
      </p:sp>
      <p:sp>
        <p:nvSpPr>
          <p:cNvPr id="4" name="Text 2"/>
          <p:cNvSpPr/>
          <p:nvPr/>
        </p:nvSpPr>
        <p:spPr>
          <a:xfrm rot="10800000">
            <a:off x="471488" y="1409700"/>
            <a:ext cx="352425" cy="636836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 vert="eaVert">
            <a:normAutofit/>
          </a:bodyPr>
          <a:lstStyle/>
          <a:p>
            <a:pPr algn="l" indent="0" marL="0">
              <a:buNone/>
            </a:pPr>
            <a:r>
              <a:rPr lang="en-US" sz="1800" b="1" spc="288" kern="0" dirty="0">
                <a:solidFill>
                  <a:srgbClr val="FFD9D2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ADC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419100" y="8767763"/>
            <a:ext cx="381000" cy="381000"/>
          </a:xfrm>
          <a:prstGeom prst="ellipse">
            <a:avLst/>
          </a:prstGeom>
          <a:solidFill>
            <a:srgbClr val="F0508A"/>
          </a:solidFill>
          <a:ln/>
        </p:spPr>
      </p:sp>
      <p:sp>
        <p:nvSpPr>
          <p:cNvPr id="6" name="Text 4"/>
          <p:cNvSpPr/>
          <p:nvPr/>
        </p:nvSpPr>
        <p:spPr>
          <a:xfrm>
            <a:off x="472380" y="9453563"/>
            <a:ext cx="350565" cy="3381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FFF8F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14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17240250" y="-1047750"/>
            <a:ext cx="2095500" cy="2095500"/>
          </a:xfrm>
          <a:prstGeom prst="ellipse">
            <a:avLst/>
          </a:prstGeom>
          <a:solidFill>
            <a:srgbClr val="F0508A"/>
          </a:solidFill>
          <a:ln/>
        </p:spPr>
      </p:sp>
      <p:sp>
        <p:nvSpPr>
          <p:cNvPr id="8" name="Shape 6"/>
          <p:cNvSpPr/>
          <p:nvPr/>
        </p:nvSpPr>
        <p:spPr>
          <a:xfrm>
            <a:off x="2286000" y="1052513"/>
            <a:ext cx="152400" cy="152400"/>
          </a:xfrm>
          <a:prstGeom prst="ellipse">
            <a:avLst/>
          </a:prstGeom>
          <a:solidFill>
            <a:srgbClr val="F0508A"/>
          </a:solidFill>
          <a:ln/>
        </p:spPr>
      </p:sp>
      <p:sp>
        <p:nvSpPr>
          <p:cNvPr id="9" name="Text 7"/>
          <p:cNvSpPr/>
          <p:nvPr/>
        </p:nvSpPr>
        <p:spPr>
          <a:xfrm>
            <a:off x="2590800" y="990600"/>
            <a:ext cx="3159294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288" kern="0" dirty="0">
                <a:solidFill>
                  <a:srgbClr val="B81D35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ANALOG VS DIGITAL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2286000" y="1495425"/>
            <a:ext cx="13735050" cy="15582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7692"/>
              </a:lnSpc>
              <a:buNone/>
            </a:pPr>
            <a:r>
              <a:rPr lang="en-US" sz="5700" b="1" spc="-171" kern="0" dirty="0">
                <a:solidFill>
                  <a:srgbClr val="2B1216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An ADC turns a continuous voltage into numbers</a:t>
            </a:r>
            <a:endParaRPr lang="en-US" sz="5700" dirty="0"/>
          </a:p>
        </p:txBody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86000" y="3548955"/>
            <a:ext cx="6505575" cy="3144887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2286000" y="7074843"/>
            <a:ext cx="7156133" cy="49909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1321"/>
              </a:lnSpc>
              <a:buNone/>
            </a:pPr>
            <a:r>
              <a:rPr lang="en-US" sz="3300" b="1" spc="-66" kern="0" dirty="0">
                <a:solidFill>
                  <a:srgbClr val="2B1216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Analog: continuous</a:t>
            </a:r>
            <a:endParaRPr lang="en-US" sz="3300" dirty="0"/>
          </a:p>
        </p:txBody>
      </p:sp>
      <p:sp>
        <p:nvSpPr>
          <p:cNvPr id="13" name="Shape 10"/>
          <p:cNvSpPr/>
          <p:nvPr/>
        </p:nvSpPr>
        <p:spPr>
          <a:xfrm>
            <a:off x="2286000" y="7897788"/>
            <a:ext cx="152400" cy="152400"/>
          </a:xfrm>
          <a:prstGeom prst="ellipse">
            <a:avLst/>
          </a:prstGeom>
          <a:solidFill>
            <a:srgbClr val="F0508A"/>
          </a:solidFill>
          <a:ln/>
        </p:spPr>
      </p:sp>
      <p:sp>
        <p:nvSpPr>
          <p:cNvPr id="14" name="Text 11"/>
          <p:cNvSpPr/>
          <p:nvPr/>
        </p:nvSpPr>
        <p:spPr>
          <a:xfrm>
            <a:off x="2705100" y="7764438"/>
            <a:ext cx="6269069" cy="8914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6364"/>
              </a:lnSpc>
              <a:buNone/>
            </a:pPr>
            <a:r>
              <a:rPr lang="en-US" sz="2400" dirty="0">
                <a:solidFill>
                  <a:srgbClr val="523236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Changes smoothly and can take any value in a range</a:t>
            </a:r>
            <a:endParaRPr lang="en-US" sz="2400" dirty="0"/>
          </a:p>
        </p:txBody>
      </p:sp>
      <p:sp>
        <p:nvSpPr>
          <p:cNvPr id="15" name="Shape 12"/>
          <p:cNvSpPr/>
          <p:nvPr/>
        </p:nvSpPr>
        <p:spPr>
          <a:xfrm>
            <a:off x="2286000" y="8979768"/>
            <a:ext cx="152400" cy="152400"/>
          </a:xfrm>
          <a:prstGeom prst="ellipse">
            <a:avLst/>
          </a:prstGeom>
          <a:solidFill>
            <a:srgbClr val="F0508A"/>
          </a:solidFill>
          <a:ln/>
        </p:spPr>
      </p:sp>
      <p:sp>
        <p:nvSpPr>
          <p:cNvPr id="16" name="Text 13"/>
          <p:cNvSpPr/>
          <p:nvPr/>
        </p:nvSpPr>
        <p:spPr>
          <a:xfrm>
            <a:off x="2705100" y="8846418"/>
            <a:ext cx="6269069" cy="8914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6364"/>
              </a:lnSpc>
              <a:buNone/>
            </a:pPr>
            <a:r>
              <a:rPr lang="en-US" sz="2400" dirty="0">
                <a:solidFill>
                  <a:srgbClr val="523236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Example: a sensor voltage varying between 0 V and a maximum</a:t>
            </a:r>
            <a:endParaRPr lang="en-US" sz="2400" dirty="0"/>
          </a:p>
        </p:txBody>
      </p:sp>
      <p:sp>
        <p:nvSpPr>
          <p:cNvPr id="17" name="Shape 14"/>
          <p:cNvSpPr/>
          <p:nvPr/>
        </p:nvSpPr>
        <p:spPr>
          <a:xfrm>
            <a:off x="9705975" y="3548955"/>
            <a:ext cx="19050" cy="6150843"/>
          </a:xfrm>
          <a:prstGeom prst="rect">
            <a:avLst/>
          </a:prstGeom>
          <a:solidFill>
            <a:srgbClr val="EBD6CB"/>
          </a:solidFill>
          <a:ln/>
        </p:spPr>
      </p:sp>
      <p:pic>
        <p:nvPicPr>
          <p:cNvPr id="1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39425" y="3548955"/>
            <a:ext cx="6505575" cy="3144887"/>
          </a:xfrm>
          <a:prstGeom prst="rect">
            <a:avLst/>
          </a:prstGeom>
        </p:spPr>
      </p:pic>
      <p:sp>
        <p:nvSpPr>
          <p:cNvPr id="19" name="Text 15"/>
          <p:cNvSpPr/>
          <p:nvPr/>
        </p:nvSpPr>
        <p:spPr>
          <a:xfrm>
            <a:off x="10639425" y="7074843"/>
            <a:ext cx="7156133" cy="49909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1321"/>
              </a:lnSpc>
              <a:buNone/>
            </a:pPr>
            <a:r>
              <a:rPr lang="en-US" sz="3300" b="1" spc="-66" kern="0" dirty="0">
                <a:solidFill>
                  <a:srgbClr val="2B1216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Digital: discrete</a:t>
            </a:r>
            <a:endParaRPr lang="en-US" sz="3300" dirty="0"/>
          </a:p>
        </p:txBody>
      </p:sp>
      <p:sp>
        <p:nvSpPr>
          <p:cNvPr id="20" name="Shape 16"/>
          <p:cNvSpPr/>
          <p:nvPr/>
        </p:nvSpPr>
        <p:spPr>
          <a:xfrm>
            <a:off x="10639425" y="7897788"/>
            <a:ext cx="152400" cy="152400"/>
          </a:xfrm>
          <a:prstGeom prst="ellipse">
            <a:avLst/>
          </a:prstGeom>
          <a:solidFill>
            <a:srgbClr val="F0508A"/>
          </a:solidFill>
          <a:ln/>
        </p:spPr>
      </p:sp>
      <p:sp>
        <p:nvSpPr>
          <p:cNvPr id="21" name="Text 17"/>
          <p:cNvSpPr/>
          <p:nvPr/>
        </p:nvSpPr>
        <p:spPr>
          <a:xfrm>
            <a:off x="11058525" y="7764438"/>
            <a:ext cx="3782623" cy="4647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6364"/>
              </a:lnSpc>
              <a:buNone/>
            </a:pPr>
            <a:r>
              <a:rPr lang="en-US" sz="2400" dirty="0">
                <a:solidFill>
                  <a:srgbClr val="523236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Only a finite set of values</a:t>
            </a:r>
            <a:endParaRPr lang="en-US" sz="2400" dirty="0"/>
          </a:p>
        </p:txBody>
      </p:sp>
      <p:sp>
        <p:nvSpPr>
          <p:cNvPr id="22" name="Shape 18"/>
          <p:cNvSpPr/>
          <p:nvPr/>
        </p:nvSpPr>
        <p:spPr>
          <a:xfrm>
            <a:off x="10639425" y="8553078"/>
            <a:ext cx="152400" cy="152400"/>
          </a:xfrm>
          <a:prstGeom prst="ellipse">
            <a:avLst/>
          </a:prstGeom>
          <a:solidFill>
            <a:srgbClr val="F0508A"/>
          </a:solidFill>
          <a:ln/>
        </p:spPr>
      </p:sp>
      <p:sp>
        <p:nvSpPr>
          <p:cNvPr id="23" name="Text 19"/>
          <p:cNvSpPr/>
          <p:nvPr/>
        </p:nvSpPr>
        <p:spPr>
          <a:xfrm>
            <a:off x="11058525" y="8419728"/>
            <a:ext cx="6269069" cy="8914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6364"/>
              </a:lnSpc>
              <a:buNone/>
            </a:pPr>
            <a:r>
              <a:rPr lang="en-US" sz="2400" dirty="0">
                <a:solidFill>
                  <a:srgbClr val="523236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The ADC samples the voltage and approximates each sample by a number</a:t>
            </a:r>
            <a:endParaRPr lang="en-US" sz="24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8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" cy="10287000"/>
          </a:xfrm>
          <a:prstGeom prst="rect">
            <a:avLst/>
          </a:prstGeom>
          <a:solidFill>
            <a:srgbClr val="D7263D"/>
          </a:solidFill>
          <a:ln/>
        </p:spPr>
      </p:sp>
      <p:sp>
        <p:nvSpPr>
          <p:cNvPr id="3" name="Text 1"/>
          <p:cNvSpPr/>
          <p:nvPr/>
        </p:nvSpPr>
        <p:spPr>
          <a:xfrm>
            <a:off x="349895" y="609600"/>
            <a:ext cx="59561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3019"/>
              </a:lnSpc>
              <a:buNone/>
            </a:pPr>
            <a:r>
              <a:rPr lang="en-US" sz="3300" b="1" dirty="0">
                <a:solidFill>
                  <a:srgbClr val="FFF8F2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05</a:t>
            </a:r>
            <a:endParaRPr lang="en-US" sz="3300" dirty="0"/>
          </a:p>
        </p:txBody>
      </p:sp>
      <p:sp>
        <p:nvSpPr>
          <p:cNvPr id="4" name="Text 2"/>
          <p:cNvSpPr/>
          <p:nvPr/>
        </p:nvSpPr>
        <p:spPr>
          <a:xfrm rot="10800000">
            <a:off x="471488" y="1409700"/>
            <a:ext cx="352425" cy="636836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 vert="eaVert">
            <a:normAutofit/>
          </a:bodyPr>
          <a:lstStyle/>
          <a:p>
            <a:pPr algn="l" indent="0" marL="0">
              <a:buNone/>
            </a:pPr>
            <a:r>
              <a:rPr lang="en-US" sz="1800" b="1" spc="288" kern="0" dirty="0">
                <a:solidFill>
                  <a:srgbClr val="FFD9D2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ADC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419100" y="8767763"/>
            <a:ext cx="381000" cy="381000"/>
          </a:xfrm>
          <a:prstGeom prst="ellipse">
            <a:avLst/>
          </a:prstGeom>
          <a:solidFill>
            <a:srgbClr val="F0508A"/>
          </a:solidFill>
          <a:ln/>
        </p:spPr>
      </p:sp>
      <p:sp>
        <p:nvSpPr>
          <p:cNvPr id="6" name="Text 4"/>
          <p:cNvSpPr/>
          <p:nvPr/>
        </p:nvSpPr>
        <p:spPr>
          <a:xfrm>
            <a:off x="472380" y="9453563"/>
            <a:ext cx="350565" cy="3381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FFF8F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15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17240250" y="-1047750"/>
            <a:ext cx="2095500" cy="2095500"/>
          </a:xfrm>
          <a:prstGeom prst="ellipse">
            <a:avLst/>
          </a:prstGeom>
          <a:solidFill>
            <a:srgbClr val="F0508A"/>
          </a:solidFill>
          <a:ln/>
        </p:spPr>
      </p:sp>
      <p:sp>
        <p:nvSpPr>
          <p:cNvPr id="8" name="Shape 6"/>
          <p:cNvSpPr/>
          <p:nvPr/>
        </p:nvSpPr>
        <p:spPr>
          <a:xfrm>
            <a:off x="2286000" y="1052513"/>
            <a:ext cx="152400" cy="152400"/>
          </a:xfrm>
          <a:prstGeom prst="ellipse">
            <a:avLst/>
          </a:prstGeom>
          <a:solidFill>
            <a:srgbClr val="F0508A"/>
          </a:solidFill>
          <a:ln/>
        </p:spPr>
      </p:sp>
      <p:sp>
        <p:nvSpPr>
          <p:cNvPr id="9" name="Text 7"/>
          <p:cNvSpPr/>
          <p:nvPr/>
        </p:nvSpPr>
        <p:spPr>
          <a:xfrm>
            <a:off x="2590800" y="990600"/>
            <a:ext cx="3540249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288" kern="0" dirty="0">
                <a:solidFill>
                  <a:srgbClr val="B81D35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CONVERSION QUALITY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2286000" y="1495425"/>
            <a:ext cx="14668500" cy="79816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7692"/>
              </a:lnSpc>
              <a:buNone/>
            </a:pPr>
            <a:r>
              <a:rPr lang="en-US" sz="5700" b="1" spc="-171" kern="0" dirty="0">
                <a:solidFill>
                  <a:srgbClr val="2B1216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Two parameters set conversion quality</a:t>
            </a:r>
            <a:endParaRPr lang="en-US" sz="5700" dirty="0"/>
          </a:p>
        </p:txBody>
      </p:sp>
      <p:sp>
        <p:nvSpPr>
          <p:cNvPr id="11" name="Text 9"/>
          <p:cNvSpPr/>
          <p:nvPr/>
        </p:nvSpPr>
        <p:spPr>
          <a:xfrm>
            <a:off x="2286000" y="2712690"/>
            <a:ext cx="2224995" cy="49909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1321"/>
              </a:lnSpc>
              <a:buNone/>
            </a:pPr>
            <a:r>
              <a:rPr lang="en-US" sz="3300" b="1" spc="-66" kern="0" dirty="0">
                <a:solidFill>
                  <a:srgbClr val="2B1216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Resolution</a:t>
            </a:r>
            <a:endParaRPr lang="en-US" sz="3300" dirty="0"/>
          </a:p>
        </p:txBody>
      </p:sp>
      <p:sp>
        <p:nvSpPr>
          <p:cNvPr id="12" name="Text 10"/>
          <p:cNvSpPr/>
          <p:nvPr/>
        </p:nvSpPr>
        <p:spPr>
          <a:xfrm>
            <a:off x="6322665" y="2836515"/>
            <a:ext cx="2715801" cy="358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6667"/>
              </a:lnSpc>
              <a:buNone/>
            </a:pPr>
            <a:r>
              <a:rPr lang="en-US" sz="1800" dirty="0">
                <a:solidFill>
                  <a:srgbClr val="B81D3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vertical precision</a:t>
            </a:r>
            <a:endParaRPr lang="en-US" sz="1800" dirty="0"/>
          </a:p>
        </p:txBody>
      </p:sp>
      <p:pic>
        <p:nvPicPr>
          <p:cNvPr id="1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86000" y="3383235"/>
            <a:ext cx="6505575" cy="2783458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2286000" y="6376243"/>
            <a:ext cx="2715801" cy="571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3582"/>
              </a:lnSpc>
              <a:buNone/>
            </a:pPr>
            <a:r>
              <a:rPr lang="en-US" sz="4200" b="1" spc="-126" kern="0" dirty="0">
                <a:solidFill>
                  <a:srgbClr val="D7263D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8-bit</a:t>
            </a:r>
            <a:endParaRPr lang="en-US" sz="4200" dirty="0"/>
          </a:p>
        </p:txBody>
      </p:sp>
      <p:sp>
        <p:nvSpPr>
          <p:cNvPr id="15" name="Text 12"/>
          <p:cNvSpPr/>
          <p:nvPr/>
        </p:nvSpPr>
        <p:spPr>
          <a:xfrm>
            <a:off x="2286000" y="6947743"/>
            <a:ext cx="2715801" cy="358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6667"/>
              </a:lnSpc>
              <a:buNone/>
            </a:pPr>
            <a:r>
              <a:rPr lang="en-US" sz="1800" dirty="0">
                <a:solidFill>
                  <a:srgbClr val="52323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256 values · 0–255</a:t>
            </a:r>
            <a:endParaRPr lang="en-US" sz="1800" dirty="0"/>
          </a:p>
        </p:txBody>
      </p:sp>
      <p:sp>
        <p:nvSpPr>
          <p:cNvPr id="16" name="Text 13"/>
          <p:cNvSpPr/>
          <p:nvPr/>
        </p:nvSpPr>
        <p:spPr>
          <a:xfrm>
            <a:off x="5212110" y="6376243"/>
            <a:ext cx="3017520" cy="571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3582"/>
              </a:lnSpc>
              <a:buNone/>
            </a:pPr>
            <a:r>
              <a:rPr lang="en-US" sz="4200" b="1" spc="-126" kern="0" dirty="0">
                <a:solidFill>
                  <a:srgbClr val="D7263D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10-bit</a:t>
            </a:r>
            <a:endParaRPr lang="en-US" sz="4200" dirty="0"/>
          </a:p>
        </p:txBody>
      </p:sp>
      <p:sp>
        <p:nvSpPr>
          <p:cNvPr id="17" name="Text 14"/>
          <p:cNvSpPr/>
          <p:nvPr/>
        </p:nvSpPr>
        <p:spPr>
          <a:xfrm>
            <a:off x="5212110" y="6947743"/>
            <a:ext cx="3017520" cy="358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6667"/>
              </a:lnSpc>
              <a:buNone/>
            </a:pPr>
            <a:r>
              <a:rPr lang="en-US" sz="1800" dirty="0">
                <a:solidFill>
                  <a:srgbClr val="52323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1024 values · 0–1023</a:t>
            </a:r>
            <a:endParaRPr lang="en-US" sz="1800" dirty="0"/>
          </a:p>
        </p:txBody>
      </p:sp>
      <p:sp>
        <p:nvSpPr>
          <p:cNvPr id="18" name="Shape 15"/>
          <p:cNvSpPr/>
          <p:nvPr/>
        </p:nvSpPr>
        <p:spPr>
          <a:xfrm>
            <a:off x="2286000" y="7610624"/>
            <a:ext cx="152400" cy="152400"/>
          </a:xfrm>
          <a:prstGeom prst="ellipse">
            <a:avLst/>
          </a:prstGeom>
          <a:solidFill>
            <a:srgbClr val="F0508A"/>
          </a:solidFill>
          <a:ln/>
        </p:spPr>
      </p:sp>
      <p:sp>
        <p:nvSpPr>
          <p:cNvPr id="19" name="Text 16"/>
          <p:cNvSpPr/>
          <p:nvPr/>
        </p:nvSpPr>
        <p:spPr>
          <a:xfrm>
            <a:off x="2705100" y="7477274"/>
            <a:ext cx="6269069" cy="838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6667"/>
              </a:lnSpc>
              <a:buNone/>
            </a:pPr>
            <a:r>
              <a:rPr lang="en-US" sz="2250" dirty="0">
                <a:solidFill>
                  <a:srgbClr val="523236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More bits → smaller steps, less quantization error</a:t>
            </a:r>
            <a:endParaRPr lang="en-US" sz="2250" dirty="0"/>
          </a:p>
        </p:txBody>
      </p:sp>
      <p:sp>
        <p:nvSpPr>
          <p:cNvPr id="20" name="Shape 17"/>
          <p:cNvSpPr/>
          <p:nvPr/>
        </p:nvSpPr>
        <p:spPr>
          <a:xfrm>
            <a:off x="9705975" y="2712690"/>
            <a:ext cx="19050" cy="6659910"/>
          </a:xfrm>
          <a:prstGeom prst="rect">
            <a:avLst/>
          </a:prstGeom>
          <a:solidFill>
            <a:srgbClr val="EBD6CB"/>
          </a:solidFill>
          <a:ln/>
        </p:spPr>
      </p:sp>
      <p:sp>
        <p:nvSpPr>
          <p:cNvPr id="21" name="Text 18"/>
          <p:cNvSpPr/>
          <p:nvPr/>
        </p:nvSpPr>
        <p:spPr>
          <a:xfrm>
            <a:off x="10639425" y="2712690"/>
            <a:ext cx="2894901" cy="49909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1321"/>
              </a:lnSpc>
              <a:buNone/>
            </a:pPr>
            <a:r>
              <a:rPr lang="en-US" sz="3300" b="1" spc="-66" kern="0" dirty="0">
                <a:solidFill>
                  <a:srgbClr val="2B1216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Sampling rate</a:t>
            </a:r>
            <a:endParaRPr lang="en-US" sz="3300" dirty="0"/>
          </a:p>
        </p:txBody>
      </p:sp>
      <p:sp>
        <p:nvSpPr>
          <p:cNvPr id="22" name="Text 19"/>
          <p:cNvSpPr/>
          <p:nvPr/>
        </p:nvSpPr>
        <p:spPr>
          <a:xfrm>
            <a:off x="14401800" y="2836515"/>
            <a:ext cx="3017520" cy="358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6667"/>
              </a:lnSpc>
              <a:buNone/>
            </a:pPr>
            <a:r>
              <a:rPr lang="en-US" sz="1800" dirty="0">
                <a:solidFill>
                  <a:srgbClr val="B81D3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horizontal precision</a:t>
            </a:r>
            <a:endParaRPr lang="en-US" sz="1800" dirty="0"/>
          </a:p>
        </p:txBody>
      </p:sp>
      <p:pic>
        <p:nvPicPr>
          <p:cNvPr id="2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39425" y="3383235"/>
            <a:ext cx="6505575" cy="2783458"/>
          </a:xfrm>
          <a:prstGeom prst="rect">
            <a:avLst/>
          </a:prstGeom>
        </p:spPr>
      </p:pic>
      <p:sp>
        <p:nvSpPr>
          <p:cNvPr id="24" name="Text 20"/>
          <p:cNvSpPr/>
          <p:nvPr/>
        </p:nvSpPr>
        <p:spPr>
          <a:xfrm>
            <a:off x="10639425" y="6376243"/>
            <a:ext cx="7156133" cy="571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3582"/>
              </a:lnSpc>
              <a:buNone/>
            </a:pPr>
            <a:r>
              <a:rPr lang="en-US" sz="4200" b="1" spc="-126" kern="0" dirty="0">
                <a:solidFill>
                  <a:srgbClr val="D7263D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Samples/s</a:t>
            </a:r>
            <a:endParaRPr lang="en-US" sz="4200" dirty="0"/>
          </a:p>
        </p:txBody>
      </p:sp>
      <p:sp>
        <p:nvSpPr>
          <p:cNvPr id="25" name="Text 21"/>
          <p:cNvSpPr/>
          <p:nvPr/>
        </p:nvSpPr>
        <p:spPr>
          <a:xfrm>
            <a:off x="10639425" y="6947743"/>
            <a:ext cx="7156133" cy="358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6667"/>
              </a:lnSpc>
              <a:buNone/>
            </a:pPr>
            <a:r>
              <a:rPr lang="en-US" sz="1800" dirty="0">
                <a:solidFill>
                  <a:srgbClr val="52323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how often the voltage is measured</a:t>
            </a:r>
            <a:endParaRPr lang="en-US" sz="1800" dirty="0"/>
          </a:p>
        </p:txBody>
      </p:sp>
      <p:sp>
        <p:nvSpPr>
          <p:cNvPr id="26" name="Shape 22"/>
          <p:cNvSpPr/>
          <p:nvPr/>
        </p:nvSpPr>
        <p:spPr>
          <a:xfrm>
            <a:off x="10639425" y="7610624"/>
            <a:ext cx="152400" cy="152400"/>
          </a:xfrm>
          <a:prstGeom prst="ellipse">
            <a:avLst/>
          </a:prstGeom>
          <a:solidFill>
            <a:srgbClr val="F0508A"/>
          </a:solidFill>
          <a:ln/>
        </p:spPr>
      </p:sp>
      <p:sp>
        <p:nvSpPr>
          <p:cNvPr id="27" name="Text 23"/>
          <p:cNvSpPr/>
          <p:nvPr/>
        </p:nvSpPr>
        <p:spPr>
          <a:xfrm>
            <a:off x="11058525" y="7477274"/>
            <a:ext cx="6518151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6667"/>
              </a:lnSpc>
              <a:buNone/>
            </a:pPr>
            <a:r>
              <a:rPr lang="en-US" sz="2250" dirty="0">
                <a:solidFill>
                  <a:srgbClr val="523236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Faster sampling → fast variations are captured</a:t>
            </a:r>
            <a:endParaRPr lang="en-US" sz="22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8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" cy="10287000"/>
          </a:xfrm>
          <a:prstGeom prst="rect">
            <a:avLst/>
          </a:prstGeom>
          <a:solidFill>
            <a:srgbClr val="D7263D"/>
          </a:solidFill>
          <a:ln/>
        </p:spPr>
      </p:sp>
      <p:sp>
        <p:nvSpPr>
          <p:cNvPr id="3" name="Text 1"/>
          <p:cNvSpPr/>
          <p:nvPr/>
        </p:nvSpPr>
        <p:spPr>
          <a:xfrm>
            <a:off x="349895" y="609600"/>
            <a:ext cx="59561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3019"/>
              </a:lnSpc>
              <a:buNone/>
            </a:pPr>
            <a:r>
              <a:rPr lang="en-US" sz="3300" b="1" dirty="0">
                <a:solidFill>
                  <a:srgbClr val="FFF8F2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05</a:t>
            </a:r>
            <a:endParaRPr lang="en-US" sz="3300" dirty="0"/>
          </a:p>
        </p:txBody>
      </p:sp>
      <p:sp>
        <p:nvSpPr>
          <p:cNvPr id="4" name="Text 2"/>
          <p:cNvSpPr/>
          <p:nvPr/>
        </p:nvSpPr>
        <p:spPr>
          <a:xfrm rot="10800000">
            <a:off x="471488" y="1409700"/>
            <a:ext cx="352425" cy="636836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 vert="eaVert">
            <a:normAutofit/>
          </a:bodyPr>
          <a:lstStyle/>
          <a:p>
            <a:pPr algn="l" indent="0" marL="0">
              <a:buNone/>
            </a:pPr>
            <a:r>
              <a:rPr lang="en-US" sz="1800" b="1" spc="288" kern="0" dirty="0">
                <a:solidFill>
                  <a:srgbClr val="FFD9D2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ADC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419100" y="8767763"/>
            <a:ext cx="381000" cy="381000"/>
          </a:xfrm>
          <a:prstGeom prst="ellipse">
            <a:avLst/>
          </a:prstGeom>
          <a:solidFill>
            <a:srgbClr val="F0508A"/>
          </a:solidFill>
          <a:ln/>
        </p:spPr>
      </p:sp>
      <p:sp>
        <p:nvSpPr>
          <p:cNvPr id="6" name="Text 4"/>
          <p:cNvSpPr/>
          <p:nvPr/>
        </p:nvSpPr>
        <p:spPr>
          <a:xfrm>
            <a:off x="472380" y="9453563"/>
            <a:ext cx="350565" cy="3381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FFF8F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16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17240250" y="-1047750"/>
            <a:ext cx="2095500" cy="2095500"/>
          </a:xfrm>
          <a:prstGeom prst="ellipse">
            <a:avLst/>
          </a:prstGeom>
          <a:solidFill>
            <a:srgbClr val="F0508A"/>
          </a:solidFill>
          <a:ln/>
        </p:spPr>
      </p:sp>
      <p:sp>
        <p:nvSpPr>
          <p:cNvPr id="8" name="Shape 6"/>
          <p:cNvSpPr/>
          <p:nvPr/>
        </p:nvSpPr>
        <p:spPr>
          <a:xfrm>
            <a:off x="2286000" y="1052513"/>
            <a:ext cx="152400" cy="152400"/>
          </a:xfrm>
          <a:prstGeom prst="ellipse">
            <a:avLst/>
          </a:prstGeom>
          <a:solidFill>
            <a:srgbClr val="F0508A"/>
          </a:solidFill>
          <a:ln/>
        </p:spPr>
      </p:sp>
      <p:sp>
        <p:nvSpPr>
          <p:cNvPr id="9" name="Text 7"/>
          <p:cNvSpPr/>
          <p:nvPr/>
        </p:nvSpPr>
        <p:spPr>
          <a:xfrm>
            <a:off x="2590800" y="990600"/>
            <a:ext cx="3301804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288" kern="0" dirty="0">
                <a:solidFill>
                  <a:srgbClr val="B81D35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REFERENCE VOLTAGE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2286000" y="1495425"/>
            <a:ext cx="14668500" cy="79816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7692"/>
              </a:lnSpc>
              <a:buNone/>
            </a:pPr>
            <a:r>
              <a:rPr lang="en-US" sz="5700" b="1" spc="-171" kern="0" dirty="0">
                <a:solidFill>
                  <a:srgbClr val="2B1216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The reference voltage sets the scale</a:t>
            </a:r>
            <a:endParaRPr lang="en-US" sz="5700" dirty="0"/>
          </a:p>
        </p:txBody>
      </p:sp>
      <p:sp>
        <p:nvSpPr>
          <p:cNvPr id="11" name="Text 9"/>
          <p:cNvSpPr/>
          <p:nvPr/>
        </p:nvSpPr>
        <p:spPr>
          <a:xfrm>
            <a:off x="2286000" y="2712690"/>
            <a:ext cx="16344900" cy="5381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B1216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code = V</a:t>
            </a:r>
            <a:pPr algn="l" indent="0" marL="0">
              <a:buNone/>
            </a:pPr>
            <a:r>
              <a:rPr lang="en-US" sz="1950" b="1" baseline="-40000" dirty="0">
                <a:solidFill>
                  <a:srgbClr val="2B1216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in </a:t>
            </a:r>
            <a:pPr algn="l" indent="0" marL="0">
              <a:buNone/>
            </a:pPr>
            <a:r>
              <a:rPr lang="en-US" sz="3000" b="1" dirty="0">
                <a:solidFill>
                  <a:srgbClr val="2B1216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/ V</a:t>
            </a:r>
            <a:pPr algn="l" indent="0" marL="0">
              <a:buNone/>
            </a:pPr>
            <a:r>
              <a:rPr lang="en-US" sz="1950" b="1" baseline="-40000" dirty="0">
                <a:solidFill>
                  <a:srgbClr val="2B1216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ref </a:t>
            </a:r>
            <a:pPr algn="l" indent="0" marL="0">
              <a:buNone/>
            </a:pPr>
            <a:r>
              <a:rPr lang="en-US" sz="3000" b="1" dirty="0">
                <a:solidFill>
                  <a:srgbClr val="2B1216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× 255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2286000" y="3517553"/>
            <a:ext cx="1961421" cy="36195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lnSpc>
                <a:spcPct val="107937"/>
              </a:lnSpc>
              <a:buNone/>
            </a:pPr>
            <a:r>
              <a:rPr lang="en-US" sz="1800" dirty="0">
                <a:solidFill>
                  <a:srgbClr val="7D616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8-bit code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2286000" y="4717703"/>
            <a:ext cx="1961421" cy="36195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lnSpc>
                <a:spcPct val="107937"/>
              </a:lnSpc>
              <a:buNone/>
            </a:pPr>
            <a:r>
              <a:rPr lang="en-US" sz="1800" dirty="0">
                <a:solidFill>
                  <a:srgbClr val="7D616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input voltage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4526310" y="4108103"/>
            <a:ext cx="12618690" cy="342900"/>
          </a:xfrm>
          <a:prstGeom prst="roundRect">
            <a:avLst>
              <a:gd name="adj" fmla="val 13889"/>
            </a:avLst>
          </a:prstGeom>
          <a:solidFill>
            <a:srgbClr val="FFD9D2"/>
          </a:solidFill>
          <a:ln/>
        </p:spPr>
      </p:sp>
      <p:sp>
        <p:nvSpPr>
          <p:cNvPr id="15" name="Text 13"/>
          <p:cNvSpPr/>
          <p:nvPr/>
        </p:nvSpPr>
        <p:spPr>
          <a:xfrm>
            <a:off x="4526310" y="3517553"/>
            <a:ext cx="236265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dirty="0">
                <a:solidFill>
                  <a:srgbClr val="B81D3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</a:t>
            </a:r>
            <a:endParaRPr lang="en-US" sz="2100" dirty="0"/>
          </a:p>
        </p:txBody>
      </p:sp>
      <p:sp>
        <p:nvSpPr>
          <p:cNvPr id="16" name="Shape 14"/>
          <p:cNvSpPr/>
          <p:nvPr/>
        </p:nvSpPr>
        <p:spPr>
          <a:xfrm>
            <a:off x="4526310" y="3965228"/>
            <a:ext cx="28575" cy="628650"/>
          </a:xfrm>
          <a:prstGeom prst="rect">
            <a:avLst/>
          </a:prstGeom>
          <a:solidFill>
            <a:srgbClr val="2B1216"/>
          </a:solidFill>
          <a:ln/>
        </p:spPr>
      </p:sp>
      <p:sp>
        <p:nvSpPr>
          <p:cNvPr id="17" name="Text 15"/>
          <p:cNvSpPr/>
          <p:nvPr/>
        </p:nvSpPr>
        <p:spPr>
          <a:xfrm>
            <a:off x="4526310" y="4689128"/>
            <a:ext cx="556320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dirty="0">
                <a:solidFill>
                  <a:srgbClr val="2B121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 V</a:t>
            </a:r>
            <a:endParaRPr lang="en-US" sz="2100" dirty="0"/>
          </a:p>
        </p:txBody>
      </p:sp>
      <p:sp>
        <p:nvSpPr>
          <p:cNvPr id="18" name="Text 16"/>
          <p:cNvSpPr/>
          <p:nvPr/>
        </p:nvSpPr>
        <p:spPr>
          <a:xfrm>
            <a:off x="10595558" y="3517553"/>
            <a:ext cx="556320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dirty="0">
                <a:solidFill>
                  <a:srgbClr val="B81D3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128</a:t>
            </a:r>
            <a:endParaRPr lang="en-US" sz="2100" dirty="0"/>
          </a:p>
        </p:txBody>
      </p:sp>
      <p:sp>
        <p:nvSpPr>
          <p:cNvPr id="19" name="Shape 17"/>
          <p:cNvSpPr/>
          <p:nvPr/>
        </p:nvSpPr>
        <p:spPr>
          <a:xfrm>
            <a:off x="10821330" y="3965228"/>
            <a:ext cx="28575" cy="584895"/>
          </a:xfrm>
          <a:prstGeom prst="rect">
            <a:avLst/>
          </a:prstGeom>
          <a:solidFill>
            <a:srgbClr val="2B1216"/>
          </a:solidFill>
          <a:ln/>
        </p:spPr>
      </p:sp>
      <p:sp>
        <p:nvSpPr>
          <p:cNvPr id="20" name="Text 18"/>
          <p:cNvSpPr/>
          <p:nvPr/>
        </p:nvSpPr>
        <p:spPr>
          <a:xfrm>
            <a:off x="10235543" y="4645372"/>
            <a:ext cx="1320247" cy="434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dirty="0">
                <a:solidFill>
                  <a:srgbClr val="2B121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V</a:t>
            </a:r>
            <a:pPr algn="l" indent="0" marL="0">
              <a:buNone/>
            </a:pPr>
            <a:r>
              <a:rPr lang="en-US" sz="1750" baseline="-40000" dirty="0">
                <a:solidFill>
                  <a:srgbClr val="2B121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ref </a:t>
            </a:r>
            <a:pPr algn="l" indent="0" marL="0">
              <a:buNone/>
            </a:pPr>
            <a:r>
              <a:rPr lang="en-US" sz="2100" dirty="0">
                <a:solidFill>
                  <a:srgbClr val="2B121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/ 2</a:t>
            </a:r>
            <a:endParaRPr lang="en-US" sz="2100" dirty="0"/>
          </a:p>
        </p:txBody>
      </p:sp>
      <p:sp>
        <p:nvSpPr>
          <p:cNvPr id="21" name="Text 19"/>
          <p:cNvSpPr/>
          <p:nvPr/>
        </p:nvSpPr>
        <p:spPr>
          <a:xfrm>
            <a:off x="16664880" y="3517553"/>
            <a:ext cx="556320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dirty="0">
                <a:solidFill>
                  <a:srgbClr val="B81D3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255</a:t>
            </a:r>
            <a:endParaRPr lang="en-US" sz="2100" dirty="0"/>
          </a:p>
        </p:txBody>
      </p:sp>
      <p:sp>
        <p:nvSpPr>
          <p:cNvPr id="22" name="Shape 20"/>
          <p:cNvSpPr/>
          <p:nvPr/>
        </p:nvSpPr>
        <p:spPr>
          <a:xfrm>
            <a:off x="17116425" y="3965228"/>
            <a:ext cx="28575" cy="584895"/>
          </a:xfrm>
          <a:prstGeom prst="rect">
            <a:avLst/>
          </a:prstGeom>
          <a:solidFill>
            <a:srgbClr val="2B1216"/>
          </a:solidFill>
          <a:ln/>
        </p:spPr>
      </p:sp>
      <p:sp>
        <p:nvSpPr>
          <p:cNvPr id="23" name="Text 21"/>
          <p:cNvSpPr/>
          <p:nvPr/>
        </p:nvSpPr>
        <p:spPr>
          <a:xfrm>
            <a:off x="16584885" y="4645372"/>
            <a:ext cx="636315" cy="434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dirty="0">
                <a:solidFill>
                  <a:srgbClr val="2B121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V</a:t>
            </a:r>
            <a:pPr algn="l" indent="0" marL="0">
              <a:buNone/>
            </a:pPr>
            <a:r>
              <a:rPr lang="en-US" sz="1750" baseline="-40000" dirty="0">
                <a:solidFill>
                  <a:srgbClr val="2B121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ref</a:t>
            </a:r>
            <a:endParaRPr lang="en-US" sz="2100" dirty="0"/>
          </a:p>
        </p:txBody>
      </p:sp>
      <p:sp>
        <p:nvSpPr>
          <p:cNvPr id="24" name="Text 22"/>
          <p:cNvSpPr/>
          <p:nvPr/>
        </p:nvSpPr>
        <p:spPr>
          <a:xfrm>
            <a:off x="2286000" y="5651153"/>
            <a:ext cx="7156133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1667"/>
              </a:lnSpc>
              <a:buNone/>
            </a:pPr>
            <a:r>
              <a:rPr lang="en-US" sz="3000" b="1" spc="-60" kern="0" dirty="0">
                <a:solidFill>
                  <a:srgbClr val="2B1216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Why not simply VCC?</a:t>
            </a:r>
            <a:endParaRPr lang="en-US" sz="3000" dirty="0"/>
          </a:p>
        </p:txBody>
      </p:sp>
      <p:sp>
        <p:nvSpPr>
          <p:cNvPr id="25" name="Shape 23"/>
          <p:cNvSpPr/>
          <p:nvPr/>
        </p:nvSpPr>
        <p:spPr>
          <a:xfrm>
            <a:off x="2286000" y="6432203"/>
            <a:ext cx="152400" cy="152400"/>
          </a:xfrm>
          <a:prstGeom prst="ellipse">
            <a:avLst/>
          </a:prstGeom>
          <a:solidFill>
            <a:srgbClr val="F0508A"/>
          </a:solidFill>
          <a:ln/>
        </p:spPr>
      </p:sp>
      <p:sp>
        <p:nvSpPr>
          <p:cNvPr id="26" name="Text 24"/>
          <p:cNvSpPr/>
          <p:nvPr/>
        </p:nvSpPr>
        <p:spPr>
          <a:xfrm>
            <a:off x="2705100" y="6298853"/>
            <a:ext cx="6269069" cy="838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6667"/>
              </a:lnSpc>
              <a:buNone/>
            </a:pPr>
            <a:r>
              <a:rPr lang="en-US" sz="2250" dirty="0">
                <a:solidFill>
                  <a:srgbClr val="523236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VCC varies with battery level and supply conditions</a:t>
            </a:r>
            <a:endParaRPr lang="en-US" sz="2250" dirty="0"/>
          </a:p>
        </p:txBody>
      </p:sp>
      <p:sp>
        <p:nvSpPr>
          <p:cNvPr id="27" name="Shape 25"/>
          <p:cNvSpPr/>
          <p:nvPr/>
        </p:nvSpPr>
        <p:spPr>
          <a:xfrm>
            <a:off x="2286000" y="7460903"/>
            <a:ext cx="152400" cy="152400"/>
          </a:xfrm>
          <a:prstGeom prst="ellipse">
            <a:avLst/>
          </a:prstGeom>
          <a:solidFill>
            <a:srgbClr val="F0508A"/>
          </a:solidFill>
          <a:ln/>
        </p:spPr>
      </p:sp>
      <p:sp>
        <p:nvSpPr>
          <p:cNvPr id="28" name="Text 26"/>
          <p:cNvSpPr/>
          <p:nvPr/>
        </p:nvSpPr>
        <p:spPr>
          <a:xfrm>
            <a:off x="2705100" y="7327553"/>
            <a:ext cx="6269069" cy="8858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6667"/>
              </a:lnSpc>
              <a:buNone/>
            </a:pPr>
            <a:r>
              <a:rPr lang="en-US" sz="2250" dirty="0">
                <a:solidFill>
                  <a:srgbClr val="523236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If V</a:t>
            </a:r>
            <a:pPr algn="l" indent="0" marL="0">
              <a:lnSpc>
                <a:spcPct val="116667"/>
              </a:lnSpc>
              <a:buNone/>
            </a:pPr>
            <a:r>
              <a:rPr lang="en-US" sz="1875" baseline="-40000" dirty="0">
                <a:solidFill>
                  <a:srgbClr val="523236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ref </a:t>
            </a:r>
            <a:pPr algn="l" indent="0" marL="0">
              <a:lnSpc>
                <a:spcPct val="116667"/>
              </a:lnSpc>
              <a:buNone/>
            </a:pPr>
            <a:r>
              <a:rPr lang="en-US" sz="2250" dirty="0">
                <a:solidFill>
                  <a:srgbClr val="523236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moves, the same input gives a different code</a:t>
            </a:r>
            <a:endParaRPr lang="en-US" sz="2250" dirty="0"/>
          </a:p>
        </p:txBody>
      </p:sp>
      <p:sp>
        <p:nvSpPr>
          <p:cNvPr id="29" name="Shape 27"/>
          <p:cNvSpPr/>
          <p:nvPr/>
        </p:nvSpPr>
        <p:spPr>
          <a:xfrm>
            <a:off x="2286000" y="8537228"/>
            <a:ext cx="152400" cy="152400"/>
          </a:xfrm>
          <a:prstGeom prst="ellipse">
            <a:avLst/>
          </a:prstGeom>
          <a:solidFill>
            <a:srgbClr val="F0508A"/>
          </a:solidFill>
          <a:ln/>
        </p:spPr>
      </p:sp>
      <p:sp>
        <p:nvSpPr>
          <p:cNvPr id="30" name="Text 28"/>
          <p:cNvSpPr/>
          <p:nvPr/>
        </p:nvSpPr>
        <p:spPr>
          <a:xfrm>
            <a:off x="2705100" y="8403878"/>
            <a:ext cx="6269069" cy="838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6667"/>
              </a:lnSpc>
              <a:buNone/>
            </a:pPr>
            <a:r>
              <a:rPr lang="en-US" sz="2250" dirty="0">
                <a:solidFill>
                  <a:srgbClr val="523236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Use a fixed reference, below the minimum expected VCC</a:t>
            </a:r>
            <a:endParaRPr lang="en-US" sz="2250" dirty="0"/>
          </a:p>
        </p:txBody>
      </p:sp>
      <p:sp>
        <p:nvSpPr>
          <p:cNvPr id="31" name="Shape 29"/>
          <p:cNvSpPr/>
          <p:nvPr/>
        </p:nvSpPr>
        <p:spPr>
          <a:xfrm>
            <a:off x="9705975" y="5651153"/>
            <a:ext cx="19050" cy="3721447"/>
          </a:xfrm>
          <a:prstGeom prst="rect">
            <a:avLst/>
          </a:prstGeom>
          <a:solidFill>
            <a:srgbClr val="EBD6CB"/>
          </a:solidFill>
          <a:ln/>
        </p:spPr>
      </p:sp>
      <p:sp>
        <p:nvSpPr>
          <p:cNvPr id="32" name="Text 30"/>
          <p:cNvSpPr/>
          <p:nvPr/>
        </p:nvSpPr>
        <p:spPr>
          <a:xfrm>
            <a:off x="10639425" y="5651153"/>
            <a:ext cx="7156133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1667"/>
              </a:lnSpc>
              <a:buNone/>
            </a:pPr>
            <a:r>
              <a:rPr lang="en-US" sz="3000" b="1" spc="-60" kern="0" dirty="0">
                <a:solidFill>
                  <a:srgbClr val="2B1216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What it means for the sensor</a:t>
            </a:r>
            <a:endParaRPr lang="en-US" sz="3000" dirty="0"/>
          </a:p>
        </p:txBody>
      </p:sp>
      <p:sp>
        <p:nvSpPr>
          <p:cNvPr id="33" name="Shape 31"/>
          <p:cNvSpPr/>
          <p:nvPr/>
        </p:nvSpPr>
        <p:spPr>
          <a:xfrm>
            <a:off x="10639425" y="6432203"/>
            <a:ext cx="152400" cy="152400"/>
          </a:xfrm>
          <a:prstGeom prst="ellipse">
            <a:avLst/>
          </a:prstGeom>
          <a:solidFill>
            <a:srgbClr val="F0508A"/>
          </a:solidFill>
          <a:ln/>
        </p:spPr>
      </p:sp>
      <p:sp>
        <p:nvSpPr>
          <p:cNvPr id="34" name="Text 32"/>
          <p:cNvSpPr/>
          <p:nvPr/>
        </p:nvSpPr>
        <p:spPr>
          <a:xfrm>
            <a:off x="11058525" y="6298853"/>
            <a:ext cx="5942871" cy="4857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6667"/>
              </a:lnSpc>
              <a:buNone/>
            </a:pPr>
            <a:r>
              <a:rPr lang="en-US" sz="2250" dirty="0">
                <a:solidFill>
                  <a:srgbClr val="523236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Its output must stay between 0 V and V</a:t>
            </a:r>
            <a:pPr algn="l" indent="0" marL="0">
              <a:lnSpc>
                <a:spcPct val="116667"/>
              </a:lnSpc>
              <a:buNone/>
            </a:pPr>
            <a:r>
              <a:rPr lang="en-US" sz="1875" baseline="-40000" dirty="0">
                <a:solidFill>
                  <a:srgbClr val="523236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ref</a:t>
            </a:r>
            <a:endParaRPr lang="en-US" sz="2250" dirty="0"/>
          </a:p>
        </p:txBody>
      </p:sp>
      <p:sp>
        <p:nvSpPr>
          <p:cNvPr id="35" name="Shape 33"/>
          <p:cNvSpPr/>
          <p:nvPr/>
        </p:nvSpPr>
        <p:spPr>
          <a:xfrm>
            <a:off x="10639425" y="7108478"/>
            <a:ext cx="152400" cy="152400"/>
          </a:xfrm>
          <a:prstGeom prst="ellipse">
            <a:avLst/>
          </a:prstGeom>
          <a:solidFill>
            <a:srgbClr val="F0508A"/>
          </a:solidFill>
          <a:ln/>
        </p:spPr>
      </p:sp>
      <p:sp>
        <p:nvSpPr>
          <p:cNvPr id="36" name="Text 34"/>
          <p:cNvSpPr/>
          <p:nvPr/>
        </p:nvSpPr>
        <p:spPr>
          <a:xfrm>
            <a:off x="11058525" y="6975128"/>
            <a:ext cx="6269069" cy="838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6667"/>
              </a:lnSpc>
              <a:buNone/>
            </a:pPr>
            <a:r>
              <a:rPr lang="en-US" sz="2250" dirty="0">
                <a:solidFill>
                  <a:srgbClr val="523236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Outside this range, the signal must be adapted first</a:t>
            </a:r>
            <a:endParaRPr lang="en-US" sz="22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8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" cy="10287000"/>
          </a:xfrm>
          <a:prstGeom prst="rect">
            <a:avLst/>
          </a:prstGeom>
          <a:solidFill>
            <a:srgbClr val="D7263D"/>
          </a:solidFill>
          <a:ln/>
        </p:spPr>
      </p:sp>
      <p:sp>
        <p:nvSpPr>
          <p:cNvPr id="3" name="Text 1"/>
          <p:cNvSpPr/>
          <p:nvPr/>
        </p:nvSpPr>
        <p:spPr>
          <a:xfrm>
            <a:off x="349895" y="609600"/>
            <a:ext cx="59561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3019"/>
              </a:lnSpc>
              <a:buNone/>
            </a:pPr>
            <a:r>
              <a:rPr lang="en-US" sz="3300" b="1" dirty="0">
                <a:solidFill>
                  <a:srgbClr val="FFF8F2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05</a:t>
            </a:r>
            <a:endParaRPr lang="en-US" sz="3300" dirty="0"/>
          </a:p>
        </p:txBody>
      </p:sp>
      <p:sp>
        <p:nvSpPr>
          <p:cNvPr id="4" name="Text 2"/>
          <p:cNvSpPr/>
          <p:nvPr/>
        </p:nvSpPr>
        <p:spPr>
          <a:xfrm rot="10800000">
            <a:off x="471488" y="1409700"/>
            <a:ext cx="352425" cy="636836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 vert="eaVert">
            <a:normAutofit/>
          </a:bodyPr>
          <a:lstStyle/>
          <a:p>
            <a:pPr algn="l" indent="0" marL="0">
              <a:buNone/>
            </a:pPr>
            <a:r>
              <a:rPr lang="en-US" sz="1800" b="1" spc="288" kern="0" dirty="0">
                <a:solidFill>
                  <a:srgbClr val="FFD9D2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ADC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419100" y="8767763"/>
            <a:ext cx="381000" cy="381000"/>
          </a:xfrm>
          <a:prstGeom prst="ellipse">
            <a:avLst/>
          </a:prstGeom>
          <a:solidFill>
            <a:srgbClr val="F0508A"/>
          </a:solidFill>
          <a:ln/>
        </p:spPr>
      </p:sp>
      <p:sp>
        <p:nvSpPr>
          <p:cNvPr id="6" name="Text 4"/>
          <p:cNvSpPr/>
          <p:nvPr/>
        </p:nvSpPr>
        <p:spPr>
          <a:xfrm>
            <a:off x="472380" y="9453563"/>
            <a:ext cx="350565" cy="3381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FFF8F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17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17240250" y="-1047750"/>
            <a:ext cx="2095500" cy="2095500"/>
          </a:xfrm>
          <a:prstGeom prst="ellipse">
            <a:avLst/>
          </a:prstGeom>
          <a:solidFill>
            <a:srgbClr val="F0508A"/>
          </a:solidFill>
          <a:ln/>
        </p:spPr>
      </p:sp>
      <p:sp>
        <p:nvSpPr>
          <p:cNvPr id="8" name="Shape 6"/>
          <p:cNvSpPr/>
          <p:nvPr/>
        </p:nvSpPr>
        <p:spPr>
          <a:xfrm>
            <a:off x="2286000" y="1052513"/>
            <a:ext cx="152400" cy="152400"/>
          </a:xfrm>
          <a:prstGeom prst="ellipse">
            <a:avLst/>
          </a:prstGeom>
          <a:solidFill>
            <a:srgbClr val="F0508A"/>
          </a:solidFill>
          <a:ln/>
        </p:spPr>
      </p:sp>
      <p:sp>
        <p:nvSpPr>
          <p:cNvPr id="9" name="Text 7"/>
          <p:cNvSpPr/>
          <p:nvPr/>
        </p:nvSpPr>
        <p:spPr>
          <a:xfrm>
            <a:off x="2590800" y="990600"/>
            <a:ext cx="3576429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288" kern="0" dirty="0">
                <a:solidFill>
                  <a:srgbClr val="B81D35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ADAPTING THE SIGNAL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2286000" y="1495425"/>
            <a:ext cx="14668500" cy="79816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7692"/>
              </a:lnSpc>
              <a:buNone/>
            </a:pPr>
            <a:r>
              <a:rPr lang="en-US" sz="5700" b="1" spc="-171" kern="0" dirty="0">
                <a:solidFill>
                  <a:srgbClr val="2B1216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A voltage divider scales a voltage down</a:t>
            </a:r>
            <a:endParaRPr lang="en-US" sz="5700" dirty="0"/>
          </a:p>
        </p:txBody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86000" y="3314998"/>
            <a:ext cx="4572000" cy="5455221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8001000" y="3432721"/>
            <a:ext cx="10058400" cy="86580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1561"/>
              </a:lnSpc>
              <a:buNone/>
            </a:pPr>
            <a:r>
              <a:rPr lang="en-US" sz="5400" b="1" spc="-162" kern="0" dirty="0">
                <a:solidFill>
                  <a:srgbClr val="D7263D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V</a:t>
            </a:r>
            <a:pPr algn="l" indent="0" marL="0">
              <a:lnSpc>
                <a:spcPct val="91561"/>
              </a:lnSpc>
              <a:buNone/>
            </a:pPr>
            <a:r>
              <a:rPr lang="en-US" sz="3000" b="1" baseline="-40000" spc="-162" kern="0" dirty="0">
                <a:solidFill>
                  <a:srgbClr val="D7263D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out </a:t>
            </a:r>
            <a:pPr algn="l" indent="0" marL="0">
              <a:lnSpc>
                <a:spcPct val="91561"/>
              </a:lnSpc>
              <a:buNone/>
            </a:pPr>
            <a:r>
              <a:rPr lang="en-US" sz="5400" b="1" spc="-162" kern="0" dirty="0">
                <a:solidFill>
                  <a:srgbClr val="D7263D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= V</a:t>
            </a:r>
            <a:pPr algn="l" indent="0" marL="0">
              <a:lnSpc>
                <a:spcPct val="91561"/>
              </a:lnSpc>
              <a:buNone/>
            </a:pPr>
            <a:r>
              <a:rPr lang="en-US" sz="3000" b="1" baseline="-40000" spc="-162" kern="0" dirty="0">
                <a:solidFill>
                  <a:srgbClr val="D7263D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in </a:t>
            </a:r>
            <a:pPr algn="l" indent="0" marL="0">
              <a:lnSpc>
                <a:spcPct val="91561"/>
              </a:lnSpc>
              <a:buNone/>
            </a:pPr>
            <a:r>
              <a:rPr lang="en-US" sz="5400" b="1" spc="-162" kern="0" dirty="0">
                <a:solidFill>
                  <a:srgbClr val="D7263D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× R2 / (R1 + R2)</a:t>
            </a:r>
            <a:endParaRPr lang="en-US" sz="5400" dirty="0"/>
          </a:p>
        </p:txBody>
      </p:sp>
      <p:sp>
        <p:nvSpPr>
          <p:cNvPr id="13" name="Text 10"/>
          <p:cNvSpPr/>
          <p:nvPr/>
        </p:nvSpPr>
        <p:spPr>
          <a:xfrm>
            <a:off x="8001000" y="4717628"/>
            <a:ext cx="1219200" cy="45489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5946"/>
              </a:lnSpc>
              <a:buNone/>
            </a:pPr>
            <a:r>
              <a:rPr lang="en-US" sz="2100" dirty="0">
                <a:solidFill>
                  <a:srgbClr val="B81D3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V</a:t>
            </a:r>
            <a:pPr algn="l" indent="0" marL="0">
              <a:lnSpc>
                <a:spcPct val="105946"/>
              </a:lnSpc>
              <a:buNone/>
            </a:pPr>
            <a:r>
              <a:rPr lang="en-US" sz="1750" baseline="-40000" dirty="0">
                <a:solidFill>
                  <a:srgbClr val="B81D3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in</a:t>
            </a:r>
            <a:endParaRPr lang="en-US" sz="2100" dirty="0"/>
          </a:p>
        </p:txBody>
      </p:sp>
      <p:sp>
        <p:nvSpPr>
          <p:cNvPr id="14" name="Text 11"/>
          <p:cNvSpPr/>
          <p:nvPr/>
        </p:nvSpPr>
        <p:spPr>
          <a:xfrm>
            <a:off x="9372600" y="4698578"/>
            <a:ext cx="8549640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6667"/>
              </a:lnSpc>
              <a:buNone/>
            </a:pPr>
            <a:r>
              <a:rPr lang="en-US" sz="2250" dirty="0">
                <a:solidFill>
                  <a:srgbClr val="523236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Input voltage to scale</a:t>
            </a:r>
            <a:endParaRPr lang="en-US" sz="2250" dirty="0"/>
          </a:p>
        </p:txBody>
      </p:sp>
      <p:sp>
        <p:nvSpPr>
          <p:cNvPr id="15" name="Text 12"/>
          <p:cNvSpPr/>
          <p:nvPr/>
        </p:nvSpPr>
        <p:spPr>
          <a:xfrm>
            <a:off x="8001000" y="5363021"/>
            <a:ext cx="1219200" cy="4114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5946"/>
              </a:lnSpc>
              <a:buNone/>
            </a:pPr>
            <a:r>
              <a:rPr lang="en-US" sz="2100" dirty="0">
                <a:solidFill>
                  <a:srgbClr val="B81D3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R1</a:t>
            </a:r>
            <a:endParaRPr lang="en-US" sz="2100" dirty="0"/>
          </a:p>
        </p:txBody>
      </p:sp>
      <p:sp>
        <p:nvSpPr>
          <p:cNvPr id="16" name="Text 13"/>
          <p:cNvSpPr/>
          <p:nvPr/>
        </p:nvSpPr>
        <p:spPr>
          <a:xfrm>
            <a:off x="9372600" y="5343971"/>
            <a:ext cx="8549640" cy="4857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6667"/>
              </a:lnSpc>
              <a:buNone/>
            </a:pPr>
            <a:r>
              <a:rPr lang="en-US" sz="2250" dirty="0">
                <a:solidFill>
                  <a:srgbClr val="523236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Resistor connected to V</a:t>
            </a:r>
            <a:pPr algn="l" indent="0" marL="0">
              <a:lnSpc>
                <a:spcPct val="116667"/>
              </a:lnSpc>
              <a:buNone/>
            </a:pPr>
            <a:r>
              <a:rPr lang="en-US" sz="1875" baseline="-40000" dirty="0">
                <a:solidFill>
                  <a:srgbClr val="523236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in</a:t>
            </a:r>
            <a:endParaRPr lang="en-US" sz="2250" dirty="0"/>
          </a:p>
        </p:txBody>
      </p:sp>
      <p:sp>
        <p:nvSpPr>
          <p:cNvPr id="17" name="Text 14"/>
          <p:cNvSpPr/>
          <p:nvPr/>
        </p:nvSpPr>
        <p:spPr>
          <a:xfrm>
            <a:off x="8001000" y="6020246"/>
            <a:ext cx="1219200" cy="4114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5946"/>
              </a:lnSpc>
              <a:buNone/>
            </a:pPr>
            <a:r>
              <a:rPr lang="en-US" sz="2100" dirty="0">
                <a:solidFill>
                  <a:srgbClr val="B81D3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R2</a:t>
            </a:r>
            <a:endParaRPr lang="en-US" sz="2100" dirty="0"/>
          </a:p>
        </p:txBody>
      </p:sp>
      <p:sp>
        <p:nvSpPr>
          <p:cNvPr id="18" name="Text 15"/>
          <p:cNvSpPr/>
          <p:nvPr/>
        </p:nvSpPr>
        <p:spPr>
          <a:xfrm>
            <a:off x="9372600" y="6001196"/>
            <a:ext cx="8549640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6667"/>
              </a:lnSpc>
              <a:buNone/>
            </a:pPr>
            <a:r>
              <a:rPr lang="en-US" sz="2250" dirty="0">
                <a:solidFill>
                  <a:srgbClr val="523236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Resistor connected to ground</a:t>
            </a:r>
            <a:endParaRPr lang="en-US" sz="2250" dirty="0"/>
          </a:p>
        </p:txBody>
      </p:sp>
      <p:sp>
        <p:nvSpPr>
          <p:cNvPr id="19" name="Text 16"/>
          <p:cNvSpPr/>
          <p:nvPr/>
        </p:nvSpPr>
        <p:spPr>
          <a:xfrm>
            <a:off x="8001000" y="6629846"/>
            <a:ext cx="1219200" cy="45489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5946"/>
              </a:lnSpc>
              <a:buNone/>
            </a:pPr>
            <a:r>
              <a:rPr lang="en-US" sz="2100" dirty="0">
                <a:solidFill>
                  <a:srgbClr val="B81D3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V</a:t>
            </a:r>
            <a:pPr algn="l" indent="0" marL="0">
              <a:lnSpc>
                <a:spcPct val="105946"/>
              </a:lnSpc>
              <a:buNone/>
            </a:pPr>
            <a:r>
              <a:rPr lang="en-US" sz="1750" baseline="-40000" dirty="0">
                <a:solidFill>
                  <a:srgbClr val="B81D3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out</a:t>
            </a:r>
            <a:endParaRPr lang="en-US" sz="2100" dirty="0"/>
          </a:p>
        </p:txBody>
      </p:sp>
      <p:sp>
        <p:nvSpPr>
          <p:cNvPr id="20" name="Text 17"/>
          <p:cNvSpPr/>
          <p:nvPr/>
        </p:nvSpPr>
        <p:spPr>
          <a:xfrm>
            <a:off x="9372600" y="6610796"/>
            <a:ext cx="8549640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6667"/>
              </a:lnSpc>
              <a:buNone/>
            </a:pPr>
            <a:r>
              <a:rPr lang="en-US" sz="2250" dirty="0">
                <a:solidFill>
                  <a:srgbClr val="523236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Voltage between R1 and R2, sent to the ADC</a:t>
            </a:r>
            <a:endParaRPr lang="en-US" sz="2250" dirty="0"/>
          </a:p>
        </p:txBody>
      </p:sp>
      <p:sp>
        <p:nvSpPr>
          <p:cNvPr id="21" name="Shape 18"/>
          <p:cNvSpPr/>
          <p:nvPr/>
        </p:nvSpPr>
        <p:spPr>
          <a:xfrm>
            <a:off x="8001000" y="7522890"/>
            <a:ext cx="9144000" cy="19050"/>
          </a:xfrm>
          <a:prstGeom prst="rect">
            <a:avLst/>
          </a:prstGeom>
          <a:solidFill>
            <a:srgbClr val="EBD6CB"/>
          </a:solidFill>
          <a:ln/>
        </p:spPr>
      </p:sp>
      <p:sp>
        <p:nvSpPr>
          <p:cNvPr id="22" name="Text 19"/>
          <p:cNvSpPr/>
          <p:nvPr/>
        </p:nvSpPr>
        <p:spPr>
          <a:xfrm>
            <a:off x="8001000" y="7808640"/>
            <a:ext cx="10058400" cy="358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5862"/>
              </a:lnSpc>
              <a:buNone/>
            </a:pPr>
            <a:r>
              <a:rPr lang="en-US" sz="1800" b="1" spc="288" kern="0" dirty="0">
                <a:solidFill>
                  <a:srgbClr val="B81D35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EXAMPLE</a:t>
            </a:r>
            <a:endParaRPr lang="en-US" sz="1800" dirty="0"/>
          </a:p>
        </p:txBody>
      </p:sp>
      <p:sp>
        <p:nvSpPr>
          <p:cNvPr id="23" name="Text 20"/>
          <p:cNvSpPr/>
          <p:nvPr/>
        </p:nvSpPr>
        <p:spPr>
          <a:xfrm>
            <a:off x="8001000" y="8204820"/>
            <a:ext cx="10058400" cy="4857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6667"/>
              </a:lnSpc>
              <a:buNone/>
            </a:pPr>
            <a:r>
              <a:rPr lang="en-US" sz="2250" dirty="0">
                <a:solidFill>
                  <a:srgbClr val="2B1216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5 V signal into a 3.3 V ADC: R1 = 22 kΩ, R2 = 33 kΩ → V</a:t>
            </a:r>
            <a:pPr algn="l" indent="0" marL="0">
              <a:lnSpc>
                <a:spcPct val="116667"/>
              </a:lnSpc>
              <a:buNone/>
            </a:pPr>
            <a:r>
              <a:rPr lang="en-US" sz="1875" baseline="-40000" dirty="0">
                <a:solidFill>
                  <a:srgbClr val="2B1216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out </a:t>
            </a:r>
            <a:pPr algn="l" indent="0" marL="0">
              <a:lnSpc>
                <a:spcPct val="116667"/>
              </a:lnSpc>
              <a:buNone/>
            </a:pPr>
            <a:r>
              <a:rPr lang="en-US" sz="2250" dirty="0">
                <a:solidFill>
                  <a:srgbClr val="2B1216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= 3.0 V</a:t>
            </a:r>
            <a:endParaRPr lang="en-US" sz="22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8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" cy="10287000"/>
          </a:xfrm>
          <a:prstGeom prst="rect">
            <a:avLst/>
          </a:prstGeom>
          <a:solidFill>
            <a:srgbClr val="D7263D"/>
          </a:solidFill>
          <a:ln/>
        </p:spPr>
      </p:sp>
      <p:sp>
        <p:nvSpPr>
          <p:cNvPr id="3" name="Text 1"/>
          <p:cNvSpPr/>
          <p:nvPr/>
        </p:nvSpPr>
        <p:spPr>
          <a:xfrm>
            <a:off x="349895" y="609600"/>
            <a:ext cx="59561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3019"/>
              </a:lnSpc>
              <a:buNone/>
            </a:pPr>
            <a:r>
              <a:rPr lang="en-US" sz="3300" b="1" dirty="0">
                <a:solidFill>
                  <a:srgbClr val="FFF8F2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05</a:t>
            </a:r>
            <a:endParaRPr lang="en-US" sz="3300" dirty="0"/>
          </a:p>
        </p:txBody>
      </p:sp>
      <p:sp>
        <p:nvSpPr>
          <p:cNvPr id="4" name="Text 2"/>
          <p:cNvSpPr/>
          <p:nvPr/>
        </p:nvSpPr>
        <p:spPr>
          <a:xfrm rot="10800000">
            <a:off x="471488" y="1409700"/>
            <a:ext cx="352425" cy="636836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 vert="eaVert">
            <a:normAutofit/>
          </a:bodyPr>
          <a:lstStyle/>
          <a:p>
            <a:pPr algn="l" indent="0" marL="0">
              <a:buNone/>
            </a:pPr>
            <a:r>
              <a:rPr lang="en-US" sz="1800" b="1" spc="288" kern="0" dirty="0">
                <a:solidFill>
                  <a:srgbClr val="FFD9D2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ADC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419100" y="8767763"/>
            <a:ext cx="381000" cy="381000"/>
          </a:xfrm>
          <a:prstGeom prst="ellipse">
            <a:avLst/>
          </a:prstGeom>
          <a:solidFill>
            <a:srgbClr val="F0508A"/>
          </a:solidFill>
          <a:ln/>
        </p:spPr>
      </p:sp>
      <p:sp>
        <p:nvSpPr>
          <p:cNvPr id="6" name="Text 4"/>
          <p:cNvSpPr/>
          <p:nvPr/>
        </p:nvSpPr>
        <p:spPr>
          <a:xfrm>
            <a:off x="472380" y="9453563"/>
            <a:ext cx="350565" cy="3381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FFF8F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18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17240250" y="-1047750"/>
            <a:ext cx="2095500" cy="2095500"/>
          </a:xfrm>
          <a:prstGeom prst="ellipse">
            <a:avLst/>
          </a:prstGeom>
          <a:solidFill>
            <a:srgbClr val="F0508A"/>
          </a:solidFill>
          <a:ln/>
        </p:spPr>
      </p:sp>
      <p:sp>
        <p:nvSpPr>
          <p:cNvPr id="8" name="Shape 6"/>
          <p:cNvSpPr/>
          <p:nvPr/>
        </p:nvSpPr>
        <p:spPr>
          <a:xfrm>
            <a:off x="2286000" y="1052513"/>
            <a:ext cx="152400" cy="152400"/>
          </a:xfrm>
          <a:prstGeom prst="ellipse">
            <a:avLst/>
          </a:prstGeom>
          <a:solidFill>
            <a:srgbClr val="F0508A"/>
          </a:solidFill>
          <a:ln/>
        </p:spPr>
      </p:sp>
      <p:sp>
        <p:nvSpPr>
          <p:cNvPr id="9" name="Text 7"/>
          <p:cNvSpPr/>
          <p:nvPr/>
        </p:nvSpPr>
        <p:spPr>
          <a:xfrm>
            <a:off x="2590800" y="990600"/>
            <a:ext cx="3141449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288" kern="0" dirty="0">
                <a:solidFill>
                  <a:srgbClr val="B81D35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RESISTIVE SENSORS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2286000" y="1495425"/>
            <a:ext cx="14668500" cy="79816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7692"/>
              </a:lnSpc>
              <a:buNone/>
            </a:pPr>
            <a:r>
              <a:rPr lang="en-US" sz="5700" b="1" spc="-171" kern="0" dirty="0">
                <a:solidFill>
                  <a:srgbClr val="2B1216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A divider turns resistance into voltage</a:t>
            </a:r>
            <a:endParaRPr lang="en-US" sz="5700" dirty="0"/>
          </a:p>
        </p:txBody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-470" b="-470"/>
          <a:stretch/>
        </p:blipFill>
        <p:spPr>
          <a:xfrm>
            <a:off x="2286000" y="4787726"/>
            <a:ext cx="2095500" cy="2095500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2442195" y="6997526"/>
            <a:ext cx="1961421" cy="3381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7D616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photoresistor</a:t>
            </a:r>
            <a:endParaRPr lang="en-US" sz="1800" dirty="0"/>
          </a:p>
        </p:txBody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67300" y="3574777"/>
            <a:ext cx="3810000" cy="4935662"/>
          </a:xfrm>
          <a:prstGeom prst="rect">
            <a:avLst/>
          </a:prstGeom>
        </p:spPr>
      </p:pic>
      <p:sp>
        <p:nvSpPr>
          <p:cNvPr id="14" name="Shape 10"/>
          <p:cNvSpPr/>
          <p:nvPr/>
        </p:nvSpPr>
        <p:spPr>
          <a:xfrm>
            <a:off x="9563100" y="4188619"/>
            <a:ext cx="152400" cy="152400"/>
          </a:xfrm>
          <a:prstGeom prst="ellipse">
            <a:avLst/>
          </a:prstGeom>
          <a:solidFill>
            <a:srgbClr val="F0508A"/>
          </a:solidFill>
          <a:ln/>
        </p:spPr>
      </p:sp>
      <p:sp>
        <p:nvSpPr>
          <p:cNvPr id="15" name="Text 11"/>
          <p:cNvSpPr/>
          <p:nvPr/>
        </p:nvSpPr>
        <p:spPr>
          <a:xfrm>
            <a:off x="9982200" y="4055269"/>
            <a:ext cx="7377684" cy="838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6667"/>
              </a:lnSpc>
              <a:buNone/>
            </a:pPr>
            <a:r>
              <a:rPr lang="en-US" sz="2250" dirty="0">
                <a:solidFill>
                  <a:srgbClr val="523236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Many sensors change resistance, not voltage: a photoresistor (LDR) reacts to light</a:t>
            </a:r>
            <a:endParaRPr lang="en-US" sz="2250" dirty="0"/>
          </a:p>
        </p:txBody>
      </p:sp>
      <p:sp>
        <p:nvSpPr>
          <p:cNvPr id="16" name="Shape 12"/>
          <p:cNvSpPr/>
          <p:nvPr/>
        </p:nvSpPr>
        <p:spPr>
          <a:xfrm>
            <a:off x="9563100" y="5217319"/>
            <a:ext cx="152400" cy="152400"/>
          </a:xfrm>
          <a:prstGeom prst="ellipse">
            <a:avLst/>
          </a:prstGeom>
          <a:solidFill>
            <a:srgbClr val="F0508A"/>
          </a:solidFill>
          <a:ln/>
        </p:spPr>
      </p:sp>
      <p:sp>
        <p:nvSpPr>
          <p:cNvPr id="17" name="Text 13"/>
          <p:cNvSpPr/>
          <p:nvPr/>
        </p:nvSpPr>
        <p:spPr>
          <a:xfrm>
            <a:off x="9982200" y="5083969"/>
            <a:ext cx="6927510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6667"/>
              </a:lnSpc>
              <a:buNone/>
            </a:pPr>
            <a:r>
              <a:rPr lang="en-US" sz="2250" dirty="0">
                <a:solidFill>
                  <a:srgbClr val="523236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Use the sensor as one of the two divider resistors</a:t>
            </a:r>
            <a:endParaRPr lang="en-US" sz="2250" dirty="0"/>
          </a:p>
        </p:txBody>
      </p:sp>
      <p:sp>
        <p:nvSpPr>
          <p:cNvPr id="18" name="Shape 14"/>
          <p:cNvSpPr/>
          <p:nvPr/>
        </p:nvSpPr>
        <p:spPr>
          <a:xfrm>
            <a:off x="9563100" y="5845969"/>
            <a:ext cx="152400" cy="152400"/>
          </a:xfrm>
          <a:prstGeom prst="ellipse">
            <a:avLst/>
          </a:prstGeom>
          <a:solidFill>
            <a:srgbClr val="F0508A"/>
          </a:solidFill>
          <a:ln/>
        </p:spPr>
      </p:sp>
      <p:sp>
        <p:nvSpPr>
          <p:cNvPr id="19" name="Text 15"/>
          <p:cNvSpPr/>
          <p:nvPr/>
        </p:nvSpPr>
        <p:spPr>
          <a:xfrm>
            <a:off x="9982200" y="5712619"/>
            <a:ext cx="7377684" cy="838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6667"/>
              </a:lnSpc>
              <a:buNone/>
            </a:pPr>
            <a:r>
              <a:rPr lang="en-US" sz="2250" dirty="0">
                <a:solidFill>
                  <a:srgbClr val="523236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Its resistance variation becomes a voltage variation the ADC can read</a:t>
            </a:r>
            <a:endParaRPr lang="en-US" sz="2250" dirty="0"/>
          </a:p>
        </p:txBody>
      </p:sp>
      <p:sp>
        <p:nvSpPr>
          <p:cNvPr id="20" name="Shape 16"/>
          <p:cNvSpPr/>
          <p:nvPr/>
        </p:nvSpPr>
        <p:spPr>
          <a:xfrm>
            <a:off x="9563100" y="6969919"/>
            <a:ext cx="7581900" cy="19050"/>
          </a:xfrm>
          <a:prstGeom prst="rect">
            <a:avLst/>
          </a:prstGeom>
          <a:solidFill>
            <a:srgbClr val="EBD6CB"/>
          </a:solidFill>
          <a:ln/>
        </p:spPr>
      </p:sp>
      <p:sp>
        <p:nvSpPr>
          <p:cNvPr id="21" name="Text 17"/>
          <p:cNvSpPr/>
          <p:nvPr/>
        </p:nvSpPr>
        <p:spPr>
          <a:xfrm>
            <a:off x="9563100" y="7282755"/>
            <a:ext cx="1768406" cy="38100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lnSpc>
                <a:spcPct val="83721"/>
              </a:lnSpc>
              <a:buNone/>
            </a:pPr>
            <a:r>
              <a:rPr lang="en-US" sz="2700" b="1" spc="-54" kern="0" dirty="0">
                <a:solidFill>
                  <a:srgbClr val="D7263D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More light</a:t>
            </a:r>
            <a:endParaRPr lang="en-US" sz="2700" dirty="0"/>
          </a:p>
        </p:txBody>
      </p:sp>
      <p:sp>
        <p:nvSpPr>
          <p:cNvPr id="22" name="Text 18"/>
          <p:cNvSpPr/>
          <p:nvPr/>
        </p:nvSpPr>
        <p:spPr>
          <a:xfrm>
            <a:off x="9563100" y="7682805"/>
            <a:ext cx="1768406" cy="358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6667"/>
              </a:lnSpc>
              <a:buNone/>
            </a:pPr>
            <a:r>
              <a:rPr lang="en-US" sz="1800" dirty="0">
                <a:solidFill>
                  <a:srgbClr val="7D616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light level</a:t>
            </a:r>
            <a:endParaRPr lang="en-US" sz="1800" dirty="0"/>
          </a:p>
        </p:txBody>
      </p:sp>
      <p:sp>
        <p:nvSpPr>
          <p:cNvPr id="23" name="Text 19"/>
          <p:cNvSpPr/>
          <p:nvPr/>
        </p:nvSpPr>
        <p:spPr>
          <a:xfrm>
            <a:off x="11399341" y="7402785"/>
            <a:ext cx="419100" cy="51814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7209"/>
              </a:lnSpc>
              <a:buNone/>
            </a:pPr>
            <a:r>
              <a:rPr lang="en-US" sz="2700" b="1" dirty="0">
                <a:solidFill>
                  <a:srgbClr val="2B1216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→</a:t>
            </a:r>
            <a:endParaRPr lang="en-US" sz="2700" dirty="0"/>
          </a:p>
        </p:txBody>
      </p:sp>
      <p:sp>
        <p:nvSpPr>
          <p:cNvPr id="24" name="Text 20"/>
          <p:cNvSpPr/>
          <p:nvPr/>
        </p:nvSpPr>
        <p:spPr>
          <a:xfrm>
            <a:off x="11970841" y="7255669"/>
            <a:ext cx="1802212" cy="435248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lnSpc>
                <a:spcPct val="83721"/>
              </a:lnSpc>
              <a:buNone/>
            </a:pPr>
            <a:r>
              <a:rPr lang="en-US" sz="2700" b="1" spc="-54" kern="0" dirty="0">
                <a:solidFill>
                  <a:srgbClr val="D7263D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Lower R</a:t>
            </a:r>
            <a:pPr algn="l" indent="0" marL="0">
              <a:lnSpc>
                <a:spcPct val="83721"/>
              </a:lnSpc>
              <a:buNone/>
            </a:pPr>
            <a:r>
              <a:rPr lang="en-US" sz="1650" b="1" baseline="-40000" spc="-54" kern="0" dirty="0">
                <a:solidFill>
                  <a:srgbClr val="D7263D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LDR</a:t>
            </a:r>
            <a:endParaRPr lang="en-US" sz="2700" dirty="0"/>
          </a:p>
        </p:txBody>
      </p:sp>
      <p:sp>
        <p:nvSpPr>
          <p:cNvPr id="25" name="Text 21"/>
          <p:cNvSpPr/>
          <p:nvPr/>
        </p:nvSpPr>
        <p:spPr>
          <a:xfrm>
            <a:off x="11970841" y="7709967"/>
            <a:ext cx="1802212" cy="358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6667"/>
              </a:lnSpc>
              <a:buNone/>
            </a:pPr>
            <a:r>
              <a:rPr lang="en-US" sz="1800" dirty="0">
                <a:solidFill>
                  <a:srgbClr val="7D616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resistance</a:t>
            </a:r>
            <a:endParaRPr lang="en-US" sz="1800" dirty="0"/>
          </a:p>
        </p:txBody>
      </p:sp>
      <p:sp>
        <p:nvSpPr>
          <p:cNvPr id="26" name="Text 22"/>
          <p:cNvSpPr/>
          <p:nvPr/>
        </p:nvSpPr>
        <p:spPr>
          <a:xfrm>
            <a:off x="13837816" y="7402785"/>
            <a:ext cx="419100" cy="51814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7209"/>
              </a:lnSpc>
              <a:buNone/>
            </a:pPr>
            <a:r>
              <a:rPr lang="en-US" sz="2700" b="1" dirty="0">
                <a:solidFill>
                  <a:srgbClr val="2B1216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→</a:t>
            </a:r>
            <a:endParaRPr lang="en-US" sz="2700" dirty="0"/>
          </a:p>
        </p:txBody>
      </p:sp>
      <p:sp>
        <p:nvSpPr>
          <p:cNvPr id="27" name="Text 23"/>
          <p:cNvSpPr/>
          <p:nvPr/>
        </p:nvSpPr>
        <p:spPr>
          <a:xfrm>
            <a:off x="14409316" y="7255669"/>
            <a:ext cx="1834381" cy="435248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lnSpc>
                <a:spcPct val="83721"/>
              </a:lnSpc>
              <a:buNone/>
            </a:pPr>
            <a:r>
              <a:rPr lang="en-US" sz="2700" b="1" spc="-54" kern="0" dirty="0">
                <a:solidFill>
                  <a:srgbClr val="D7263D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Higher V</a:t>
            </a:r>
            <a:pPr algn="l" indent="0" marL="0">
              <a:lnSpc>
                <a:spcPct val="83721"/>
              </a:lnSpc>
              <a:buNone/>
            </a:pPr>
            <a:r>
              <a:rPr lang="en-US" sz="1650" b="1" baseline="-40000" spc="-54" kern="0" dirty="0">
                <a:solidFill>
                  <a:srgbClr val="D7263D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out</a:t>
            </a:r>
            <a:endParaRPr lang="en-US" sz="2700" dirty="0"/>
          </a:p>
        </p:txBody>
      </p:sp>
      <p:sp>
        <p:nvSpPr>
          <p:cNvPr id="28" name="Text 24"/>
          <p:cNvSpPr/>
          <p:nvPr/>
        </p:nvSpPr>
        <p:spPr>
          <a:xfrm>
            <a:off x="14409316" y="7709967"/>
            <a:ext cx="1834381" cy="358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6667"/>
              </a:lnSpc>
              <a:buNone/>
            </a:pPr>
            <a:r>
              <a:rPr lang="en-US" sz="1800" dirty="0">
                <a:solidFill>
                  <a:srgbClr val="7D616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ADC reading</a:t>
            </a:r>
            <a:endParaRPr lang="en-US" sz="18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8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" cy="10287000"/>
          </a:xfrm>
          <a:prstGeom prst="rect">
            <a:avLst/>
          </a:prstGeom>
          <a:solidFill>
            <a:srgbClr val="D7263D"/>
          </a:solidFill>
          <a:ln/>
        </p:spPr>
      </p:sp>
      <p:sp>
        <p:nvSpPr>
          <p:cNvPr id="3" name="Text 1"/>
          <p:cNvSpPr/>
          <p:nvPr/>
        </p:nvSpPr>
        <p:spPr>
          <a:xfrm>
            <a:off x="349895" y="609600"/>
            <a:ext cx="59561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3019"/>
              </a:lnSpc>
              <a:buNone/>
            </a:pPr>
            <a:r>
              <a:rPr lang="en-US" sz="3300" b="1" dirty="0">
                <a:solidFill>
                  <a:srgbClr val="FFF8F2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05</a:t>
            </a:r>
            <a:endParaRPr lang="en-US" sz="3300" dirty="0"/>
          </a:p>
        </p:txBody>
      </p:sp>
      <p:sp>
        <p:nvSpPr>
          <p:cNvPr id="4" name="Text 2"/>
          <p:cNvSpPr/>
          <p:nvPr/>
        </p:nvSpPr>
        <p:spPr>
          <a:xfrm rot="10800000">
            <a:off x="471488" y="1409700"/>
            <a:ext cx="352425" cy="636836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 vert="eaVert">
            <a:normAutofit/>
          </a:bodyPr>
          <a:lstStyle/>
          <a:p>
            <a:pPr algn="l" indent="0" marL="0">
              <a:buNone/>
            </a:pPr>
            <a:r>
              <a:rPr lang="en-US" sz="1800" b="1" spc="288" kern="0" dirty="0">
                <a:solidFill>
                  <a:srgbClr val="FFD9D2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ADC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419100" y="8767763"/>
            <a:ext cx="381000" cy="381000"/>
          </a:xfrm>
          <a:prstGeom prst="ellipse">
            <a:avLst/>
          </a:prstGeom>
          <a:solidFill>
            <a:srgbClr val="F0508A"/>
          </a:solidFill>
          <a:ln/>
        </p:spPr>
      </p:sp>
      <p:sp>
        <p:nvSpPr>
          <p:cNvPr id="6" name="Text 4"/>
          <p:cNvSpPr/>
          <p:nvPr/>
        </p:nvSpPr>
        <p:spPr>
          <a:xfrm>
            <a:off x="472380" y="9453563"/>
            <a:ext cx="350565" cy="3381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FFF8F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19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17240250" y="-1047750"/>
            <a:ext cx="2095500" cy="2095500"/>
          </a:xfrm>
          <a:prstGeom prst="ellipse">
            <a:avLst/>
          </a:prstGeom>
          <a:solidFill>
            <a:srgbClr val="F0508A"/>
          </a:solidFill>
          <a:ln/>
        </p:spPr>
      </p:sp>
      <p:sp>
        <p:nvSpPr>
          <p:cNvPr id="8" name="Shape 6"/>
          <p:cNvSpPr/>
          <p:nvPr/>
        </p:nvSpPr>
        <p:spPr>
          <a:xfrm>
            <a:off x="2286000" y="1052513"/>
            <a:ext cx="152400" cy="152400"/>
          </a:xfrm>
          <a:prstGeom prst="ellipse">
            <a:avLst/>
          </a:prstGeom>
          <a:solidFill>
            <a:srgbClr val="F0508A"/>
          </a:solidFill>
          <a:ln/>
        </p:spPr>
      </p:sp>
      <p:sp>
        <p:nvSpPr>
          <p:cNvPr id="9" name="Text 7"/>
          <p:cNvSpPr/>
          <p:nvPr/>
        </p:nvSpPr>
        <p:spPr>
          <a:xfrm>
            <a:off x="2590800" y="990600"/>
            <a:ext cx="1944640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288" kern="0" dirty="0">
                <a:solidFill>
                  <a:srgbClr val="B81D35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RP2040 ADC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2286000" y="1495425"/>
            <a:ext cx="14668500" cy="79816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7692"/>
              </a:lnSpc>
              <a:buNone/>
            </a:pPr>
            <a:r>
              <a:rPr lang="en-US" sz="5700" b="1" spc="-171" kern="0" dirty="0">
                <a:solidFill>
                  <a:srgbClr val="2B1216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One converter, five inputs</a:t>
            </a:r>
            <a:endParaRPr lang="en-US" sz="5700" dirty="0"/>
          </a:p>
        </p:txBody>
      </p:sp>
      <p:sp>
        <p:nvSpPr>
          <p:cNvPr id="11" name="Shape 9"/>
          <p:cNvSpPr/>
          <p:nvPr/>
        </p:nvSpPr>
        <p:spPr>
          <a:xfrm>
            <a:off x="2286000" y="4447729"/>
            <a:ext cx="3238500" cy="19050"/>
          </a:xfrm>
          <a:prstGeom prst="rect">
            <a:avLst/>
          </a:prstGeom>
          <a:solidFill>
            <a:srgbClr val="EBD6CB"/>
          </a:solidFill>
          <a:ln/>
        </p:spPr>
      </p:sp>
      <p:sp>
        <p:nvSpPr>
          <p:cNvPr id="12" name="Text 10"/>
          <p:cNvSpPr/>
          <p:nvPr/>
        </p:nvSpPr>
        <p:spPr>
          <a:xfrm>
            <a:off x="2286000" y="4052441"/>
            <a:ext cx="1123950" cy="3381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B81D3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AIN0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3486150" y="4052441"/>
            <a:ext cx="2242185" cy="3381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2B121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GPIO26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2286000" y="4957316"/>
            <a:ext cx="3238500" cy="19050"/>
          </a:xfrm>
          <a:prstGeom prst="rect">
            <a:avLst/>
          </a:prstGeom>
          <a:solidFill>
            <a:srgbClr val="EBD6CB"/>
          </a:solidFill>
          <a:ln/>
        </p:spPr>
      </p:sp>
      <p:sp>
        <p:nvSpPr>
          <p:cNvPr id="15" name="Text 13"/>
          <p:cNvSpPr/>
          <p:nvPr/>
        </p:nvSpPr>
        <p:spPr>
          <a:xfrm>
            <a:off x="2286000" y="4562029"/>
            <a:ext cx="1123950" cy="3381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B81D3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AIN1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3486150" y="4562029"/>
            <a:ext cx="2242185" cy="3381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2B121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GPIO27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2286000" y="5466904"/>
            <a:ext cx="3238500" cy="19050"/>
          </a:xfrm>
          <a:prstGeom prst="rect">
            <a:avLst/>
          </a:prstGeom>
          <a:solidFill>
            <a:srgbClr val="EBD6CB"/>
          </a:solidFill>
          <a:ln/>
        </p:spPr>
      </p:sp>
      <p:sp>
        <p:nvSpPr>
          <p:cNvPr id="18" name="Text 16"/>
          <p:cNvSpPr/>
          <p:nvPr/>
        </p:nvSpPr>
        <p:spPr>
          <a:xfrm>
            <a:off x="2286000" y="5071616"/>
            <a:ext cx="1123950" cy="3381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B81D3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AIN2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3486150" y="5071616"/>
            <a:ext cx="2242185" cy="3381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2B121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GPIO28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2286000" y="5976491"/>
            <a:ext cx="3238500" cy="19050"/>
          </a:xfrm>
          <a:prstGeom prst="rect">
            <a:avLst/>
          </a:prstGeom>
          <a:solidFill>
            <a:srgbClr val="EBD6CB"/>
          </a:solidFill>
          <a:ln/>
        </p:spPr>
      </p:sp>
      <p:sp>
        <p:nvSpPr>
          <p:cNvPr id="21" name="Text 19"/>
          <p:cNvSpPr/>
          <p:nvPr/>
        </p:nvSpPr>
        <p:spPr>
          <a:xfrm>
            <a:off x="2286000" y="5581204"/>
            <a:ext cx="1123950" cy="3381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B81D3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AIN3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3486150" y="5581204"/>
            <a:ext cx="2242185" cy="3381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2B121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GPIO29</a:t>
            </a:r>
            <a:endParaRPr lang="en-US" sz="1800" dirty="0"/>
          </a:p>
        </p:txBody>
      </p:sp>
      <p:sp>
        <p:nvSpPr>
          <p:cNvPr id="23" name="Shape 21"/>
          <p:cNvSpPr/>
          <p:nvPr/>
        </p:nvSpPr>
        <p:spPr>
          <a:xfrm>
            <a:off x="2286000" y="6486079"/>
            <a:ext cx="3238500" cy="19050"/>
          </a:xfrm>
          <a:prstGeom prst="rect">
            <a:avLst/>
          </a:prstGeom>
          <a:solidFill>
            <a:srgbClr val="EBD6CB"/>
          </a:solidFill>
          <a:ln/>
        </p:spPr>
      </p:sp>
      <p:sp>
        <p:nvSpPr>
          <p:cNvPr id="24" name="Text 22"/>
          <p:cNvSpPr/>
          <p:nvPr/>
        </p:nvSpPr>
        <p:spPr>
          <a:xfrm>
            <a:off x="2286000" y="6090791"/>
            <a:ext cx="1123950" cy="3381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B81D3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AIN4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3486150" y="6090791"/>
            <a:ext cx="2242185" cy="3381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2B121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Temp. sensor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5524500" y="5002560"/>
            <a:ext cx="647700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B1216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→</a:t>
            </a:r>
            <a:endParaRPr lang="en-US" sz="3000" dirty="0"/>
          </a:p>
        </p:txBody>
      </p:sp>
      <p:sp>
        <p:nvSpPr>
          <p:cNvPr id="27" name="Shape 25"/>
          <p:cNvSpPr/>
          <p:nvPr/>
        </p:nvSpPr>
        <p:spPr>
          <a:xfrm>
            <a:off x="6096000" y="4572967"/>
            <a:ext cx="2476500" cy="1316310"/>
          </a:xfrm>
          <a:prstGeom prst="roundRect">
            <a:avLst>
              <a:gd name="adj" fmla="val 8683"/>
            </a:avLst>
          </a:prstGeom>
          <a:solidFill>
            <a:srgbClr val="FFD9D2"/>
          </a:solidFill>
          <a:ln/>
        </p:spPr>
      </p:sp>
      <p:sp>
        <p:nvSpPr>
          <p:cNvPr id="28" name="Text 26"/>
          <p:cNvSpPr/>
          <p:nvPr/>
        </p:nvSpPr>
        <p:spPr>
          <a:xfrm>
            <a:off x="6324600" y="4744417"/>
            <a:ext cx="2221230" cy="3733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1429"/>
              </a:lnSpc>
              <a:buNone/>
            </a:pPr>
            <a:r>
              <a:rPr lang="en-US" sz="2400" b="1" dirty="0">
                <a:solidFill>
                  <a:srgbClr val="2B1216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Multiplexer</a:t>
            </a:r>
            <a:endParaRPr lang="en-US" sz="2400" dirty="0"/>
          </a:p>
        </p:txBody>
      </p:sp>
      <p:sp>
        <p:nvSpPr>
          <p:cNvPr id="29" name="Text 27"/>
          <p:cNvSpPr/>
          <p:nvPr/>
        </p:nvSpPr>
        <p:spPr>
          <a:xfrm>
            <a:off x="6324600" y="5117753"/>
            <a:ext cx="2095500" cy="638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2B1216">
                    <a:alpha val="90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AINSEL picks one input</a:t>
            </a:r>
            <a:endParaRPr lang="en-US" sz="1800" dirty="0"/>
          </a:p>
        </p:txBody>
      </p:sp>
      <p:sp>
        <p:nvSpPr>
          <p:cNvPr id="30" name="Text 28"/>
          <p:cNvSpPr/>
          <p:nvPr/>
        </p:nvSpPr>
        <p:spPr>
          <a:xfrm>
            <a:off x="8572500" y="5002560"/>
            <a:ext cx="647700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B1216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→</a:t>
            </a:r>
            <a:endParaRPr lang="en-US" sz="3000" dirty="0"/>
          </a:p>
        </p:txBody>
      </p:sp>
      <p:sp>
        <p:nvSpPr>
          <p:cNvPr id="31" name="Shape 29"/>
          <p:cNvSpPr/>
          <p:nvPr/>
        </p:nvSpPr>
        <p:spPr>
          <a:xfrm>
            <a:off x="9144000" y="4572967"/>
            <a:ext cx="2857500" cy="1316310"/>
          </a:xfrm>
          <a:prstGeom prst="roundRect">
            <a:avLst>
              <a:gd name="adj" fmla="val 8683"/>
            </a:avLst>
          </a:prstGeom>
          <a:solidFill>
            <a:srgbClr val="D7263D"/>
          </a:solidFill>
          <a:ln/>
        </p:spPr>
      </p:sp>
      <p:sp>
        <p:nvSpPr>
          <p:cNvPr id="32" name="Text 30"/>
          <p:cNvSpPr/>
          <p:nvPr/>
        </p:nvSpPr>
        <p:spPr>
          <a:xfrm>
            <a:off x="9372600" y="4744417"/>
            <a:ext cx="2640330" cy="3733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1429"/>
              </a:lnSpc>
              <a:buNone/>
            </a:pPr>
            <a:r>
              <a:rPr lang="en-US" sz="2400" b="1" dirty="0">
                <a:solidFill>
                  <a:srgbClr val="FFF8F2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SAR ADC</a:t>
            </a:r>
            <a:endParaRPr lang="en-US" sz="2400" dirty="0"/>
          </a:p>
        </p:txBody>
      </p:sp>
      <p:sp>
        <p:nvSpPr>
          <p:cNvPr id="33" name="Text 31"/>
          <p:cNvSpPr/>
          <p:nvPr/>
        </p:nvSpPr>
        <p:spPr>
          <a:xfrm>
            <a:off x="9372600" y="5117753"/>
            <a:ext cx="2476500" cy="638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FFF8F2">
                    <a:alpha val="90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12-bit · 48 MHz clock</a:t>
            </a:r>
            <a:endParaRPr lang="en-US" sz="1800" dirty="0"/>
          </a:p>
        </p:txBody>
      </p:sp>
      <p:sp>
        <p:nvSpPr>
          <p:cNvPr id="34" name="Text 32"/>
          <p:cNvSpPr/>
          <p:nvPr/>
        </p:nvSpPr>
        <p:spPr>
          <a:xfrm>
            <a:off x="12001500" y="5002560"/>
            <a:ext cx="647700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B1216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→</a:t>
            </a:r>
            <a:endParaRPr lang="en-US" sz="3000" dirty="0"/>
          </a:p>
        </p:txBody>
      </p:sp>
      <p:sp>
        <p:nvSpPr>
          <p:cNvPr id="35" name="Shape 33"/>
          <p:cNvSpPr/>
          <p:nvPr/>
        </p:nvSpPr>
        <p:spPr>
          <a:xfrm>
            <a:off x="12573000" y="4148212"/>
            <a:ext cx="4572000" cy="1016273"/>
          </a:xfrm>
          <a:prstGeom prst="roundRect">
            <a:avLst>
              <a:gd name="adj" fmla="val 11247"/>
            </a:avLst>
          </a:prstGeom>
          <a:solidFill>
            <a:srgbClr val="FCEEE4"/>
          </a:solidFill>
          <a:ln/>
        </p:spPr>
      </p:sp>
      <p:sp>
        <p:nvSpPr>
          <p:cNvPr id="36" name="Text 34"/>
          <p:cNvSpPr/>
          <p:nvPr/>
        </p:nvSpPr>
        <p:spPr>
          <a:xfrm>
            <a:off x="12801600" y="4319662"/>
            <a:ext cx="4526280" cy="3733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1429"/>
              </a:lnSpc>
              <a:buNone/>
            </a:pPr>
            <a:r>
              <a:rPr lang="en-US" sz="2400" b="1" dirty="0">
                <a:solidFill>
                  <a:srgbClr val="2B1216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RESULT register</a:t>
            </a:r>
            <a:endParaRPr lang="en-US" sz="2400" dirty="0"/>
          </a:p>
        </p:txBody>
      </p:sp>
      <p:sp>
        <p:nvSpPr>
          <p:cNvPr id="37" name="Text 35"/>
          <p:cNvSpPr/>
          <p:nvPr/>
        </p:nvSpPr>
        <p:spPr>
          <a:xfrm>
            <a:off x="12801600" y="4692997"/>
            <a:ext cx="4526280" cy="3381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2B1216">
                    <a:alpha val="90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latest value</a:t>
            </a:r>
            <a:endParaRPr lang="en-US" sz="1800" dirty="0"/>
          </a:p>
        </p:txBody>
      </p:sp>
      <p:sp>
        <p:nvSpPr>
          <p:cNvPr id="38" name="Shape 36"/>
          <p:cNvSpPr/>
          <p:nvPr/>
        </p:nvSpPr>
        <p:spPr>
          <a:xfrm>
            <a:off x="12573000" y="5297835"/>
            <a:ext cx="4572000" cy="1016273"/>
          </a:xfrm>
          <a:prstGeom prst="roundRect">
            <a:avLst>
              <a:gd name="adj" fmla="val 11247"/>
            </a:avLst>
          </a:prstGeom>
          <a:solidFill>
            <a:srgbClr val="FCEEE4"/>
          </a:solidFill>
          <a:ln/>
        </p:spPr>
      </p:sp>
      <p:sp>
        <p:nvSpPr>
          <p:cNvPr id="39" name="Text 37"/>
          <p:cNvSpPr/>
          <p:nvPr/>
        </p:nvSpPr>
        <p:spPr>
          <a:xfrm>
            <a:off x="12801600" y="5469285"/>
            <a:ext cx="4526280" cy="3733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1429"/>
              </a:lnSpc>
              <a:buNone/>
            </a:pPr>
            <a:r>
              <a:rPr lang="en-US" sz="2400" b="1" dirty="0">
                <a:solidFill>
                  <a:srgbClr val="2B1216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FIFO · 4 entries</a:t>
            </a:r>
            <a:endParaRPr lang="en-US" sz="2400" dirty="0"/>
          </a:p>
        </p:txBody>
      </p:sp>
      <p:sp>
        <p:nvSpPr>
          <p:cNvPr id="40" name="Text 38"/>
          <p:cNvSpPr/>
          <p:nvPr/>
        </p:nvSpPr>
        <p:spPr>
          <a:xfrm>
            <a:off x="12801600" y="5842620"/>
            <a:ext cx="4526280" cy="3381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2B1216">
                    <a:alpha val="90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→ IRQ or DMA</a:t>
            </a:r>
            <a:endParaRPr lang="en-US" sz="1800" dirty="0"/>
          </a:p>
        </p:txBody>
      </p:sp>
      <p:sp>
        <p:nvSpPr>
          <p:cNvPr id="41" name="Shape 39"/>
          <p:cNvSpPr/>
          <p:nvPr/>
        </p:nvSpPr>
        <p:spPr>
          <a:xfrm>
            <a:off x="2286000" y="7940129"/>
            <a:ext cx="152400" cy="152400"/>
          </a:xfrm>
          <a:prstGeom prst="ellipse">
            <a:avLst/>
          </a:prstGeom>
          <a:solidFill>
            <a:srgbClr val="F0508A"/>
          </a:solidFill>
          <a:ln/>
        </p:spPr>
      </p:sp>
      <p:sp>
        <p:nvSpPr>
          <p:cNvPr id="42" name="Text 40"/>
          <p:cNvSpPr/>
          <p:nvPr/>
        </p:nvSpPr>
        <p:spPr>
          <a:xfrm>
            <a:off x="2667000" y="7825829"/>
            <a:ext cx="4238244" cy="111814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2836"/>
              </a:lnSpc>
              <a:buNone/>
            </a:pPr>
            <a:r>
              <a:rPr lang="en-US" sz="2100" dirty="0">
                <a:solidFill>
                  <a:srgbClr val="523236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Successive approximation: the input is compared bit by bit, from MSB to LSB</a:t>
            </a:r>
            <a:endParaRPr lang="en-US" sz="2100" dirty="0"/>
          </a:p>
        </p:txBody>
      </p:sp>
      <p:sp>
        <p:nvSpPr>
          <p:cNvPr id="43" name="Shape 41"/>
          <p:cNvSpPr/>
          <p:nvPr/>
        </p:nvSpPr>
        <p:spPr>
          <a:xfrm>
            <a:off x="7467600" y="7940129"/>
            <a:ext cx="152400" cy="152400"/>
          </a:xfrm>
          <a:prstGeom prst="ellipse">
            <a:avLst/>
          </a:prstGeom>
          <a:solidFill>
            <a:srgbClr val="F0508A"/>
          </a:solidFill>
          <a:ln/>
        </p:spPr>
      </p:sp>
      <p:sp>
        <p:nvSpPr>
          <p:cNvPr id="44" name="Text 42"/>
          <p:cNvSpPr/>
          <p:nvPr/>
        </p:nvSpPr>
        <p:spPr>
          <a:xfrm>
            <a:off x="7848600" y="7825829"/>
            <a:ext cx="4238244" cy="7581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2836"/>
              </a:lnSpc>
              <a:buNone/>
            </a:pPr>
            <a:r>
              <a:rPr lang="en-US" sz="2100" dirty="0">
                <a:solidFill>
                  <a:srgbClr val="523236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One conversion takes 96 clock cycles: 2 µs</a:t>
            </a:r>
            <a:endParaRPr lang="en-US" sz="2100" dirty="0"/>
          </a:p>
        </p:txBody>
      </p:sp>
      <p:sp>
        <p:nvSpPr>
          <p:cNvPr id="45" name="Shape 43"/>
          <p:cNvSpPr/>
          <p:nvPr/>
        </p:nvSpPr>
        <p:spPr>
          <a:xfrm>
            <a:off x="12649200" y="7940129"/>
            <a:ext cx="152400" cy="152400"/>
          </a:xfrm>
          <a:prstGeom prst="ellipse">
            <a:avLst/>
          </a:prstGeom>
          <a:solidFill>
            <a:srgbClr val="F0508A"/>
          </a:solidFill>
          <a:ln/>
        </p:spPr>
      </p:sp>
      <p:sp>
        <p:nvSpPr>
          <p:cNvPr id="46" name="Text 44"/>
          <p:cNvSpPr/>
          <p:nvPr/>
        </p:nvSpPr>
        <p:spPr>
          <a:xfrm>
            <a:off x="13030200" y="7825829"/>
            <a:ext cx="4238244" cy="7581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2836"/>
              </a:lnSpc>
              <a:buNone/>
            </a:pPr>
            <a:r>
              <a:rPr lang="en-US" sz="2100" dirty="0">
                <a:solidFill>
                  <a:srgbClr val="523236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Only one input is converted at a time</a:t>
            </a:r>
            <a:endParaRPr lang="en-US" sz="2100" dirty="0"/>
          </a:p>
        </p:txBody>
      </p:sp>
      <p:sp>
        <p:nvSpPr>
          <p:cNvPr id="47" name="Text 45"/>
          <p:cNvSpPr/>
          <p:nvPr/>
        </p:nvSpPr>
        <p:spPr>
          <a:xfrm>
            <a:off x="2286000" y="9096375"/>
            <a:ext cx="16344900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7D6164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Source: RP2040 datasheet, section 4.9.</a:t>
            </a:r>
            <a:endParaRPr lang="en-US" sz="18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8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" cy="10287000"/>
          </a:xfrm>
          <a:prstGeom prst="rect">
            <a:avLst/>
          </a:prstGeom>
          <a:solidFill>
            <a:srgbClr val="D7263D"/>
          </a:solidFill>
          <a:ln/>
        </p:spPr>
      </p:sp>
      <p:sp>
        <p:nvSpPr>
          <p:cNvPr id="3" name="Text 1"/>
          <p:cNvSpPr/>
          <p:nvPr/>
        </p:nvSpPr>
        <p:spPr>
          <a:xfrm>
            <a:off x="349895" y="609600"/>
            <a:ext cx="59561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3019"/>
              </a:lnSpc>
              <a:buNone/>
            </a:pPr>
            <a:r>
              <a:rPr lang="en-US" sz="3300" b="1" dirty="0">
                <a:solidFill>
                  <a:srgbClr val="FFF8F2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05</a:t>
            </a:r>
            <a:endParaRPr lang="en-US" sz="3300" dirty="0"/>
          </a:p>
        </p:txBody>
      </p:sp>
      <p:sp>
        <p:nvSpPr>
          <p:cNvPr id="4" name="Text 2"/>
          <p:cNvSpPr/>
          <p:nvPr/>
        </p:nvSpPr>
        <p:spPr>
          <a:xfrm rot="10800000">
            <a:off x="471488" y="1409700"/>
            <a:ext cx="352425" cy="636836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 vert="eaVert">
            <a:normAutofit/>
          </a:bodyPr>
          <a:lstStyle/>
          <a:p>
            <a:pPr algn="l" indent="0" marL="0">
              <a:buNone/>
            </a:pPr>
            <a:r>
              <a:rPr lang="en-US" sz="1800" b="1" spc="288" kern="0" dirty="0">
                <a:solidFill>
                  <a:srgbClr val="FFD9D2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ADC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419100" y="8767763"/>
            <a:ext cx="381000" cy="381000"/>
          </a:xfrm>
          <a:prstGeom prst="ellipse">
            <a:avLst/>
          </a:prstGeom>
          <a:solidFill>
            <a:srgbClr val="F0508A"/>
          </a:solidFill>
          <a:ln/>
        </p:spPr>
      </p:sp>
      <p:sp>
        <p:nvSpPr>
          <p:cNvPr id="6" name="Text 4"/>
          <p:cNvSpPr/>
          <p:nvPr/>
        </p:nvSpPr>
        <p:spPr>
          <a:xfrm>
            <a:off x="472380" y="9453563"/>
            <a:ext cx="350565" cy="3381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FFF8F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20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17240250" y="-1047750"/>
            <a:ext cx="2095500" cy="2095500"/>
          </a:xfrm>
          <a:prstGeom prst="ellipse">
            <a:avLst/>
          </a:prstGeom>
          <a:solidFill>
            <a:srgbClr val="F0508A"/>
          </a:solidFill>
          <a:ln/>
        </p:spPr>
      </p:sp>
      <p:sp>
        <p:nvSpPr>
          <p:cNvPr id="8" name="Shape 6"/>
          <p:cNvSpPr/>
          <p:nvPr/>
        </p:nvSpPr>
        <p:spPr>
          <a:xfrm>
            <a:off x="2286000" y="1052513"/>
            <a:ext cx="152400" cy="152400"/>
          </a:xfrm>
          <a:prstGeom prst="ellipse">
            <a:avLst/>
          </a:prstGeom>
          <a:solidFill>
            <a:srgbClr val="F0508A"/>
          </a:solidFill>
          <a:ln/>
        </p:spPr>
      </p:sp>
      <p:sp>
        <p:nvSpPr>
          <p:cNvPr id="9" name="Text 7"/>
          <p:cNvSpPr/>
          <p:nvPr/>
        </p:nvSpPr>
        <p:spPr>
          <a:xfrm>
            <a:off x="2590800" y="990600"/>
            <a:ext cx="1981966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288" kern="0" dirty="0">
                <a:solidFill>
                  <a:srgbClr val="B81D35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RESOLUTION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2286000" y="1495425"/>
            <a:ext cx="14668500" cy="79816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7692"/>
              </a:lnSpc>
              <a:buNone/>
            </a:pPr>
            <a:r>
              <a:rPr lang="en-US" sz="5700" b="1" spc="-171" kern="0" dirty="0">
                <a:solidFill>
                  <a:srgbClr val="2B1216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Natively 12 bits, effectively about 8.7</a:t>
            </a:r>
            <a:endParaRPr lang="en-US" sz="5700" dirty="0"/>
          </a:p>
        </p:txBody>
      </p:sp>
      <p:sp>
        <p:nvSpPr>
          <p:cNvPr id="11" name="Shape 9"/>
          <p:cNvSpPr/>
          <p:nvPr/>
        </p:nvSpPr>
        <p:spPr>
          <a:xfrm>
            <a:off x="2286000" y="2712690"/>
            <a:ext cx="3486150" cy="3283148"/>
          </a:xfrm>
          <a:prstGeom prst="roundRect">
            <a:avLst>
              <a:gd name="adj" fmla="val 4642"/>
            </a:avLst>
          </a:prstGeom>
          <a:ln w="28575">
            <a:solidFill>
              <a:srgbClr val="2B121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581275" y="3007965"/>
            <a:ext cx="3185160" cy="723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3237"/>
              </a:lnSpc>
              <a:buNone/>
            </a:pPr>
            <a:r>
              <a:rPr lang="en-US" sz="5400" b="1" spc="-162" kern="0" dirty="0">
                <a:solidFill>
                  <a:srgbClr val="2B1216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8-bit</a:t>
            </a:r>
            <a:endParaRPr lang="en-US" sz="5400" dirty="0"/>
          </a:p>
        </p:txBody>
      </p:sp>
      <p:sp>
        <p:nvSpPr>
          <p:cNvPr id="13" name="Text 11"/>
          <p:cNvSpPr/>
          <p:nvPr/>
        </p:nvSpPr>
        <p:spPr>
          <a:xfrm>
            <a:off x="2581275" y="3827115"/>
            <a:ext cx="3185160" cy="3381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2B121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0–255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2581275" y="4260503"/>
            <a:ext cx="2982468" cy="14781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2836"/>
              </a:lnSpc>
              <a:buNone/>
            </a:pPr>
            <a:r>
              <a:rPr lang="en-US" sz="2100" dirty="0">
                <a:solidFill>
                  <a:srgbClr val="2B1216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Optional: FIFO SHIFT keeps the 8 most significant bits. Saves memory with DMA.</a:t>
            </a:r>
            <a:endParaRPr lang="en-US" sz="2100" dirty="0"/>
          </a:p>
        </p:txBody>
      </p:sp>
      <p:sp>
        <p:nvSpPr>
          <p:cNvPr id="15" name="Shape 13"/>
          <p:cNvSpPr/>
          <p:nvPr/>
        </p:nvSpPr>
        <p:spPr>
          <a:xfrm>
            <a:off x="6076950" y="2712690"/>
            <a:ext cx="3486150" cy="3283148"/>
          </a:xfrm>
          <a:prstGeom prst="roundRect">
            <a:avLst>
              <a:gd name="adj" fmla="val 4642"/>
            </a:avLst>
          </a:prstGeom>
          <a:solidFill>
            <a:srgbClr val="D7263D"/>
          </a:solidFill>
          <a:ln/>
        </p:spPr>
      </p:sp>
      <p:sp>
        <p:nvSpPr>
          <p:cNvPr id="16" name="Text 14"/>
          <p:cNvSpPr/>
          <p:nvPr/>
        </p:nvSpPr>
        <p:spPr>
          <a:xfrm>
            <a:off x="6343650" y="2979390"/>
            <a:ext cx="3248025" cy="723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3237"/>
              </a:lnSpc>
              <a:buNone/>
            </a:pPr>
            <a:r>
              <a:rPr lang="en-US" sz="5400" b="1" spc="-162" kern="0" dirty="0">
                <a:solidFill>
                  <a:srgbClr val="FFF8F2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12-bit</a:t>
            </a:r>
            <a:endParaRPr lang="en-US" sz="5400" dirty="0"/>
          </a:p>
        </p:txBody>
      </p:sp>
      <p:sp>
        <p:nvSpPr>
          <p:cNvPr id="17" name="Text 15"/>
          <p:cNvSpPr/>
          <p:nvPr/>
        </p:nvSpPr>
        <p:spPr>
          <a:xfrm>
            <a:off x="6343650" y="3798540"/>
            <a:ext cx="3248025" cy="3381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FFF8F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0–4095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6343650" y="4231928"/>
            <a:ext cx="3041332" cy="111814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2836"/>
              </a:lnSpc>
              <a:buNone/>
            </a:pPr>
            <a:r>
              <a:rPr lang="en-US" sz="2100" dirty="0">
                <a:solidFill>
                  <a:srgbClr val="FFF8F2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The real hardware resolution. RESULT always holds 12 bits.</a:t>
            </a:r>
            <a:endParaRPr lang="en-US" sz="2100" dirty="0"/>
          </a:p>
        </p:txBody>
      </p:sp>
      <p:sp>
        <p:nvSpPr>
          <p:cNvPr id="19" name="Shape 17"/>
          <p:cNvSpPr/>
          <p:nvPr/>
        </p:nvSpPr>
        <p:spPr>
          <a:xfrm>
            <a:off x="9867900" y="2712690"/>
            <a:ext cx="3486150" cy="3283148"/>
          </a:xfrm>
          <a:prstGeom prst="roundRect">
            <a:avLst>
              <a:gd name="adj" fmla="val 4642"/>
            </a:avLst>
          </a:prstGeom>
          <a:ln w="28575">
            <a:solidFill>
              <a:srgbClr val="2B121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0163175" y="3007965"/>
            <a:ext cx="3185160" cy="723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3237"/>
              </a:lnSpc>
              <a:buNone/>
            </a:pPr>
            <a:r>
              <a:rPr lang="en-US" sz="5400" b="1" spc="-162" kern="0" dirty="0">
                <a:solidFill>
                  <a:srgbClr val="2B1216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16-bit</a:t>
            </a:r>
            <a:endParaRPr lang="en-US" sz="5400" dirty="0"/>
          </a:p>
        </p:txBody>
      </p:sp>
      <p:sp>
        <p:nvSpPr>
          <p:cNvPr id="21" name="Text 19"/>
          <p:cNvSpPr/>
          <p:nvPr/>
        </p:nvSpPr>
        <p:spPr>
          <a:xfrm>
            <a:off x="10163175" y="3827115"/>
            <a:ext cx="3185160" cy="3381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2B121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0–65535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10163175" y="4260503"/>
            <a:ext cx="2982468" cy="14781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2836"/>
              </a:lnSpc>
              <a:buNone/>
            </a:pPr>
            <a:r>
              <a:rPr lang="en-US" sz="2100" dirty="0">
                <a:solidFill>
                  <a:srgbClr val="2B1216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Not a hardware mode. MicroPython read_u16() rescales the 12-bit value.</a:t>
            </a:r>
            <a:endParaRPr lang="en-US" sz="2100" dirty="0"/>
          </a:p>
        </p:txBody>
      </p:sp>
      <p:sp>
        <p:nvSpPr>
          <p:cNvPr id="23" name="Shape 21"/>
          <p:cNvSpPr/>
          <p:nvPr/>
        </p:nvSpPr>
        <p:spPr>
          <a:xfrm>
            <a:off x="13658850" y="2712690"/>
            <a:ext cx="3486150" cy="3283148"/>
          </a:xfrm>
          <a:prstGeom prst="roundRect">
            <a:avLst>
              <a:gd name="adj" fmla="val 4642"/>
            </a:avLst>
          </a:prstGeom>
          <a:ln w="28575">
            <a:solidFill>
              <a:srgbClr val="2B121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3954125" y="3007965"/>
            <a:ext cx="3185160" cy="723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3237"/>
              </a:lnSpc>
              <a:buNone/>
            </a:pPr>
            <a:r>
              <a:rPr lang="en-US" sz="5400" b="1" spc="-162" kern="0" dirty="0">
                <a:solidFill>
                  <a:srgbClr val="2B1216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10-bit</a:t>
            </a:r>
            <a:endParaRPr lang="en-US" sz="5400" dirty="0"/>
          </a:p>
        </p:txBody>
      </p:sp>
      <p:sp>
        <p:nvSpPr>
          <p:cNvPr id="25" name="Text 23"/>
          <p:cNvSpPr/>
          <p:nvPr/>
        </p:nvSpPr>
        <p:spPr>
          <a:xfrm>
            <a:off x="13954125" y="3827115"/>
            <a:ext cx="3185160" cy="3381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2B121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—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13954125" y="4260503"/>
            <a:ext cx="2982468" cy="7581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2836"/>
              </a:lnSpc>
              <a:buNone/>
            </a:pPr>
            <a:r>
              <a:rPr lang="en-US" sz="2100" dirty="0">
                <a:solidFill>
                  <a:srgbClr val="2B1216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No 10-bit mode on the RP2040.</a:t>
            </a:r>
            <a:endParaRPr lang="en-US" sz="2100" dirty="0"/>
          </a:p>
        </p:txBody>
      </p:sp>
      <p:sp>
        <p:nvSpPr>
          <p:cNvPr id="27" name="Shape 25"/>
          <p:cNvSpPr/>
          <p:nvPr/>
        </p:nvSpPr>
        <p:spPr>
          <a:xfrm>
            <a:off x="2286000" y="6697117"/>
            <a:ext cx="14859000" cy="19050"/>
          </a:xfrm>
          <a:prstGeom prst="rect">
            <a:avLst/>
          </a:prstGeom>
          <a:solidFill>
            <a:srgbClr val="EBD6CB"/>
          </a:solidFill>
          <a:ln/>
        </p:spPr>
      </p:sp>
      <p:sp>
        <p:nvSpPr>
          <p:cNvPr id="28" name="Text 26"/>
          <p:cNvSpPr/>
          <p:nvPr/>
        </p:nvSpPr>
        <p:spPr>
          <a:xfrm>
            <a:off x="2286000" y="7020967"/>
            <a:ext cx="2724150" cy="952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3117"/>
              </a:lnSpc>
              <a:buNone/>
            </a:pPr>
            <a:r>
              <a:rPr lang="en-US" sz="7200" b="1" spc="-288" kern="0" dirty="0">
                <a:solidFill>
                  <a:srgbClr val="D7263D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8.7</a:t>
            </a:r>
            <a:endParaRPr lang="en-US" sz="7200" dirty="0"/>
          </a:p>
        </p:txBody>
      </p:sp>
      <p:sp>
        <p:nvSpPr>
          <p:cNvPr id="29" name="Text 27"/>
          <p:cNvSpPr/>
          <p:nvPr/>
        </p:nvSpPr>
        <p:spPr>
          <a:xfrm>
            <a:off x="2286000" y="7973467"/>
            <a:ext cx="2724150" cy="3381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2B121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ENOB, measured</a:t>
            </a:r>
            <a:endParaRPr lang="en-US" sz="1800" dirty="0"/>
          </a:p>
        </p:txBody>
      </p:sp>
      <p:sp>
        <p:nvSpPr>
          <p:cNvPr id="30" name="Text 28"/>
          <p:cNvSpPr/>
          <p:nvPr/>
        </p:nvSpPr>
        <p:spPr>
          <a:xfrm>
            <a:off x="2286000" y="8311604"/>
            <a:ext cx="2552700" cy="6323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7586"/>
              </a:lnSpc>
              <a:buNone/>
            </a:pPr>
            <a:r>
              <a:rPr lang="en-US" sz="1800" dirty="0">
                <a:solidFill>
                  <a:srgbClr val="7D6164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Effective Number Of Bits</a:t>
            </a:r>
            <a:endParaRPr lang="en-US" sz="1800" dirty="0"/>
          </a:p>
        </p:txBody>
      </p:sp>
      <p:sp>
        <p:nvSpPr>
          <p:cNvPr id="31" name="Shape 29"/>
          <p:cNvSpPr/>
          <p:nvPr/>
        </p:nvSpPr>
        <p:spPr>
          <a:xfrm>
            <a:off x="5372100" y="7471023"/>
            <a:ext cx="152400" cy="152400"/>
          </a:xfrm>
          <a:prstGeom prst="ellipse">
            <a:avLst/>
          </a:prstGeom>
          <a:solidFill>
            <a:srgbClr val="F0508A"/>
          </a:solidFill>
          <a:ln/>
        </p:spPr>
      </p:sp>
      <p:sp>
        <p:nvSpPr>
          <p:cNvPr id="32" name="Text 30"/>
          <p:cNvSpPr/>
          <p:nvPr/>
        </p:nvSpPr>
        <p:spPr>
          <a:xfrm>
            <a:off x="5753100" y="7356723"/>
            <a:ext cx="11733657" cy="7581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2836"/>
              </a:lnSpc>
              <a:buNone/>
            </a:pPr>
            <a:r>
              <a:rPr lang="en-US" sz="2100" dirty="0">
                <a:solidFill>
                  <a:srgbClr val="523236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ENOB: the resolution of an ideal ADC with the same noise and distortion. Here, 12 bits on paper behave like 8.7 in practice</a:t>
            </a:r>
            <a:endParaRPr lang="en-US" sz="2100" dirty="0"/>
          </a:p>
        </p:txBody>
      </p:sp>
      <p:sp>
        <p:nvSpPr>
          <p:cNvPr id="33" name="Shape 31"/>
          <p:cNvSpPr/>
          <p:nvPr/>
        </p:nvSpPr>
        <p:spPr>
          <a:xfrm>
            <a:off x="5372100" y="8324404"/>
            <a:ext cx="152400" cy="152400"/>
          </a:xfrm>
          <a:prstGeom prst="ellipse">
            <a:avLst/>
          </a:prstGeom>
          <a:solidFill>
            <a:srgbClr val="F0508A"/>
          </a:solidFill>
          <a:ln/>
        </p:spPr>
      </p:sp>
      <p:sp>
        <p:nvSpPr>
          <p:cNvPr id="34" name="Text 32"/>
          <p:cNvSpPr/>
          <p:nvPr/>
        </p:nvSpPr>
        <p:spPr>
          <a:xfrm>
            <a:off x="5753100" y="8210104"/>
            <a:ext cx="7677306" cy="3981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2836"/>
              </a:lnSpc>
              <a:buNone/>
            </a:pPr>
            <a:r>
              <a:rPr lang="en-US" sz="2100" dirty="0">
                <a:solidFill>
                  <a:srgbClr val="523236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Known DNL errors around codes 512, 1536, 2560 and 3584</a:t>
            </a:r>
            <a:endParaRPr lang="en-US" sz="2100" dirty="0"/>
          </a:p>
        </p:txBody>
      </p:sp>
      <p:sp>
        <p:nvSpPr>
          <p:cNvPr id="35" name="Text 33"/>
          <p:cNvSpPr/>
          <p:nvPr/>
        </p:nvSpPr>
        <p:spPr>
          <a:xfrm>
            <a:off x="2286000" y="9096375"/>
            <a:ext cx="16344900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7D6164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Source: RP2040 datasheet, section 4.9.3.</a:t>
            </a:r>
            <a:endParaRPr lang="en-US" sz="18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8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" cy="10287000"/>
          </a:xfrm>
          <a:prstGeom prst="rect">
            <a:avLst/>
          </a:prstGeom>
          <a:solidFill>
            <a:srgbClr val="D7263D"/>
          </a:solidFill>
          <a:ln/>
        </p:spPr>
      </p:sp>
      <p:sp>
        <p:nvSpPr>
          <p:cNvPr id="3" name="Text 1"/>
          <p:cNvSpPr/>
          <p:nvPr/>
        </p:nvSpPr>
        <p:spPr>
          <a:xfrm>
            <a:off x="349895" y="609600"/>
            <a:ext cx="59561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3019"/>
              </a:lnSpc>
              <a:buNone/>
            </a:pPr>
            <a:r>
              <a:rPr lang="en-US" sz="3300" b="1" dirty="0">
                <a:solidFill>
                  <a:srgbClr val="FFF8F2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05</a:t>
            </a:r>
            <a:endParaRPr lang="en-US" sz="3300" dirty="0"/>
          </a:p>
        </p:txBody>
      </p:sp>
      <p:sp>
        <p:nvSpPr>
          <p:cNvPr id="4" name="Text 2"/>
          <p:cNvSpPr/>
          <p:nvPr/>
        </p:nvSpPr>
        <p:spPr>
          <a:xfrm rot="10800000">
            <a:off x="471488" y="1409700"/>
            <a:ext cx="352425" cy="636836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 vert="eaVert">
            <a:normAutofit/>
          </a:bodyPr>
          <a:lstStyle/>
          <a:p>
            <a:pPr algn="l" indent="0" marL="0">
              <a:buNone/>
            </a:pPr>
            <a:r>
              <a:rPr lang="en-US" sz="1800" b="1" spc="288" kern="0" dirty="0">
                <a:solidFill>
                  <a:srgbClr val="FFD9D2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ADC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419100" y="8767763"/>
            <a:ext cx="381000" cy="381000"/>
          </a:xfrm>
          <a:prstGeom prst="ellipse">
            <a:avLst/>
          </a:prstGeom>
          <a:solidFill>
            <a:srgbClr val="F0508A"/>
          </a:solidFill>
          <a:ln/>
        </p:spPr>
      </p:sp>
      <p:sp>
        <p:nvSpPr>
          <p:cNvPr id="6" name="Text 4"/>
          <p:cNvSpPr/>
          <p:nvPr/>
        </p:nvSpPr>
        <p:spPr>
          <a:xfrm>
            <a:off x="472380" y="9453563"/>
            <a:ext cx="350565" cy="3381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FFF8F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21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17240250" y="-1047750"/>
            <a:ext cx="2095500" cy="2095500"/>
          </a:xfrm>
          <a:prstGeom prst="ellipse">
            <a:avLst/>
          </a:prstGeom>
          <a:solidFill>
            <a:srgbClr val="F0508A"/>
          </a:solidFill>
          <a:ln/>
        </p:spPr>
      </p:sp>
      <p:sp>
        <p:nvSpPr>
          <p:cNvPr id="8" name="Shape 6"/>
          <p:cNvSpPr/>
          <p:nvPr/>
        </p:nvSpPr>
        <p:spPr>
          <a:xfrm>
            <a:off x="2286000" y="1052513"/>
            <a:ext cx="152400" cy="152400"/>
          </a:xfrm>
          <a:prstGeom prst="ellipse">
            <a:avLst/>
          </a:prstGeom>
          <a:solidFill>
            <a:srgbClr val="F0508A"/>
          </a:solidFill>
          <a:ln/>
        </p:spPr>
      </p:sp>
      <p:sp>
        <p:nvSpPr>
          <p:cNvPr id="9" name="Text 7"/>
          <p:cNvSpPr/>
          <p:nvPr/>
        </p:nvSpPr>
        <p:spPr>
          <a:xfrm>
            <a:off x="2590800" y="990600"/>
            <a:ext cx="5097549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288" kern="0" dirty="0">
                <a:solidFill>
                  <a:srgbClr val="B81D35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SAMPLING AND CONFIGURATION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2286000" y="1495425"/>
            <a:ext cx="14668500" cy="79816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7692"/>
              </a:lnSpc>
              <a:buNone/>
            </a:pPr>
            <a:r>
              <a:rPr lang="en-US" sz="5700" b="1" spc="-171" kern="0" dirty="0">
                <a:solidFill>
                  <a:srgbClr val="2B1216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Up to 500 kS/s, shared across inputs</a:t>
            </a:r>
            <a:endParaRPr lang="en-US" sz="5700" dirty="0"/>
          </a:p>
        </p:txBody>
      </p:sp>
      <p:sp>
        <p:nvSpPr>
          <p:cNvPr id="11" name="Shape 9"/>
          <p:cNvSpPr/>
          <p:nvPr/>
        </p:nvSpPr>
        <p:spPr>
          <a:xfrm>
            <a:off x="2286000" y="2712690"/>
            <a:ext cx="685800" cy="95250"/>
          </a:xfrm>
          <a:prstGeom prst="roundRect">
            <a:avLst>
              <a:gd name="adj" fmla="val 50000"/>
            </a:avLst>
          </a:prstGeom>
          <a:solidFill>
            <a:srgbClr val="F0508A"/>
          </a:solidFill>
          <a:ln/>
        </p:spPr>
      </p:sp>
      <p:sp>
        <p:nvSpPr>
          <p:cNvPr id="12" name="Text 10"/>
          <p:cNvSpPr/>
          <p:nvPr/>
        </p:nvSpPr>
        <p:spPr>
          <a:xfrm>
            <a:off x="2286000" y="2922240"/>
            <a:ext cx="4945380" cy="876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3019"/>
              </a:lnSpc>
              <a:buNone/>
            </a:pPr>
            <a:r>
              <a:rPr lang="en-US" sz="6600" b="1" spc="-264" kern="0" dirty="0">
                <a:solidFill>
                  <a:srgbClr val="D7263D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500 kS/s</a:t>
            </a:r>
            <a:endParaRPr lang="en-US" sz="6600" dirty="0"/>
          </a:p>
        </p:txBody>
      </p:sp>
      <p:sp>
        <p:nvSpPr>
          <p:cNvPr id="13" name="Text 11"/>
          <p:cNvSpPr/>
          <p:nvPr/>
        </p:nvSpPr>
        <p:spPr>
          <a:xfrm>
            <a:off x="2286000" y="3874740"/>
            <a:ext cx="4945380" cy="38479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8657"/>
              </a:lnSpc>
              <a:buNone/>
            </a:pPr>
            <a:r>
              <a:rPr lang="en-US" sz="2100" dirty="0">
                <a:solidFill>
                  <a:srgbClr val="523236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Maximum rate: 48 MHz ÷ 96 cycles</a:t>
            </a:r>
            <a:endParaRPr lang="en-US" sz="2100" dirty="0"/>
          </a:p>
        </p:txBody>
      </p:sp>
      <p:sp>
        <p:nvSpPr>
          <p:cNvPr id="14" name="Shape 12"/>
          <p:cNvSpPr/>
          <p:nvPr/>
        </p:nvSpPr>
        <p:spPr>
          <a:xfrm>
            <a:off x="7467600" y="2712690"/>
            <a:ext cx="685800" cy="95250"/>
          </a:xfrm>
          <a:prstGeom prst="roundRect">
            <a:avLst>
              <a:gd name="adj" fmla="val 50000"/>
            </a:avLst>
          </a:prstGeom>
          <a:solidFill>
            <a:srgbClr val="F0508A"/>
          </a:solidFill>
          <a:ln/>
        </p:spPr>
      </p:sp>
      <p:sp>
        <p:nvSpPr>
          <p:cNvPr id="15" name="Text 13"/>
          <p:cNvSpPr/>
          <p:nvPr/>
        </p:nvSpPr>
        <p:spPr>
          <a:xfrm>
            <a:off x="7467600" y="2922240"/>
            <a:ext cx="4945380" cy="876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3019"/>
              </a:lnSpc>
              <a:buNone/>
            </a:pPr>
            <a:r>
              <a:rPr lang="en-US" sz="6600" b="1" spc="-264" kern="0" dirty="0">
                <a:solidFill>
                  <a:srgbClr val="D7263D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4 + 1</a:t>
            </a:r>
            <a:endParaRPr lang="en-US" sz="6600" dirty="0"/>
          </a:p>
        </p:txBody>
      </p:sp>
      <p:sp>
        <p:nvSpPr>
          <p:cNvPr id="16" name="Text 14"/>
          <p:cNvSpPr/>
          <p:nvPr/>
        </p:nvSpPr>
        <p:spPr>
          <a:xfrm>
            <a:off x="7467600" y="3874740"/>
            <a:ext cx="4630674" cy="7314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8657"/>
              </a:lnSpc>
              <a:buNone/>
            </a:pPr>
            <a:r>
              <a:rPr lang="en-US" sz="2100" dirty="0">
                <a:solidFill>
                  <a:srgbClr val="523236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External inputs plus the internal temperature sensor</a:t>
            </a:r>
            <a:endParaRPr lang="en-US" sz="2100" dirty="0"/>
          </a:p>
        </p:txBody>
      </p:sp>
      <p:sp>
        <p:nvSpPr>
          <p:cNvPr id="17" name="Shape 15"/>
          <p:cNvSpPr/>
          <p:nvPr/>
        </p:nvSpPr>
        <p:spPr>
          <a:xfrm>
            <a:off x="12649200" y="2712690"/>
            <a:ext cx="685800" cy="95250"/>
          </a:xfrm>
          <a:prstGeom prst="roundRect">
            <a:avLst>
              <a:gd name="adj" fmla="val 50000"/>
            </a:avLst>
          </a:prstGeom>
          <a:solidFill>
            <a:srgbClr val="F0508A"/>
          </a:solidFill>
          <a:ln/>
        </p:spPr>
      </p:sp>
      <p:sp>
        <p:nvSpPr>
          <p:cNvPr id="18" name="Text 16"/>
          <p:cNvSpPr/>
          <p:nvPr/>
        </p:nvSpPr>
        <p:spPr>
          <a:xfrm>
            <a:off x="12649200" y="2922240"/>
            <a:ext cx="4945380" cy="876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3019"/>
              </a:lnSpc>
              <a:buNone/>
            </a:pPr>
            <a:r>
              <a:rPr lang="en-US" sz="6600" b="1" spc="-264" kern="0" dirty="0">
                <a:solidFill>
                  <a:srgbClr val="D7263D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÷ N</a:t>
            </a:r>
            <a:endParaRPr lang="en-US" sz="6600" dirty="0"/>
          </a:p>
        </p:txBody>
      </p:sp>
      <p:sp>
        <p:nvSpPr>
          <p:cNvPr id="19" name="Text 17"/>
          <p:cNvSpPr/>
          <p:nvPr/>
        </p:nvSpPr>
        <p:spPr>
          <a:xfrm>
            <a:off x="12649200" y="3874740"/>
            <a:ext cx="4630674" cy="7314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8657"/>
              </a:lnSpc>
              <a:buNone/>
            </a:pPr>
            <a:r>
              <a:rPr lang="en-US" sz="2100" dirty="0">
                <a:solidFill>
                  <a:srgbClr val="523236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With N inputs in round-robin, each gets 500 ÷ N kS/s</a:t>
            </a:r>
            <a:endParaRPr lang="en-US" sz="2100" dirty="0"/>
          </a:p>
        </p:txBody>
      </p:sp>
      <p:sp>
        <p:nvSpPr>
          <p:cNvPr id="20" name="Shape 18"/>
          <p:cNvSpPr/>
          <p:nvPr/>
        </p:nvSpPr>
        <p:spPr>
          <a:xfrm>
            <a:off x="2286000" y="6633270"/>
            <a:ext cx="14859000" cy="19050"/>
          </a:xfrm>
          <a:prstGeom prst="rect">
            <a:avLst/>
          </a:prstGeom>
          <a:solidFill>
            <a:srgbClr val="EBD6CB"/>
          </a:solidFill>
          <a:ln/>
        </p:spPr>
      </p:sp>
      <p:sp>
        <p:nvSpPr>
          <p:cNvPr id="21" name="Text 19"/>
          <p:cNvSpPr/>
          <p:nvPr/>
        </p:nvSpPr>
        <p:spPr>
          <a:xfrm>
            <a:off x="2286000" y="6995220"/>
            <a:ext cx="7669530" cy="4238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550" b="1" dirty="0">
                <a:solidFill>
                  <a:srgbClr val="2B1216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Single conversion</a:t>
            </a:r>
            <a:endParaRPr lang="en-US" sz="2550" dirty="0"/>
          </a:p>
        </p:txBody>
      </p:sp>
      <p:sp>
        <p:nvSpPr>
          <p:cNvPr id="22" name="Text 20"/>
          <p:cNvSpPr/>
          <p:nvPr/>
        </p:nvSpPr>
        <p:spPr>
          <a:xfrm>
            <a:off x="2286000" y="7438132"/>
            <a:ext cx="7669530" cy="3981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2836"/>
              </a:lnSpc>
              <a:buNone/>
            </a:pPr>
            <a:r>
              <a:rPr lang="en-US" sz="2100" dirty="0">
                <a:solidFill>
                  <a:srgbClr val="523236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Start once, read RESULT when ready</a:t>
            </a:r>
            <a:endParaRPr lang="en-US" sz="2100" dirty="0"/>
          </a:p>
        </p:txBody>
      </p:sp>
      <p:sp>
        <p:nvSpPr>
          <p:cNvPr id="23" name="Text 21"/>
          <p:cNvSpPr/>
          <p:nvPr/>
        </p:nvSpPr>
        <p:spPr>
          <a:xfrm>
            <a:off x="10172700" y="6995220"/>
            <a:ext cx="7669530" cy="4238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550" b="1" dirty="0">
                <a:solidFill>
                  <a:srgbClr val="2B1216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Free-running</a:t>
            </a:r>
            <a:endParaRPr lang="en-US" sz="2550" dirty="0"/>
          </a:p>
        </p:txBody>
      </p:sp>
      <p:sp>
        <p:nvSpPr>
          <p:cNvPr id="24" name="Text 22"/>
          <p:cNvSpPr/>
          <p:nvPr/>
        </p:nvSpPr>
        <p:spPr>
          <a:xfrm>
            <a:off x="10172700" y="7438132"/>
            <a:ext cx="7669530" cy="3981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2836"/>
              </a:lnSpc>
              <a:buNone/>
            </a:pPr>
            <a:r>
              <a:rPr lang="en-US" sz="2100" dirty="0">
                <a:solidFill>
                  <a:srgbClr val="523236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Continuous conversions; a clock divider sets the rate</a:t>
            </a:r>
            <a:endParaRPr lang="en-US" sz="2100" dirty="0"/>
          </a:p>
        </p:txBody>
      </p:sp>
      <p:sp>
        <p:nvSpPr>
          <p:cNvPr id="25" name="Text 23"/>
          <p:cNvSpPr/>
          <p:nvPr/>
        </p:nvSpPr>
        <p:spPr>
          <a:xfrm>
            <a:off x="2286000" y="8102947"/>
            <a:ext cx="7669530" cy="4238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550" b="1" dirty="0">
                <a:solidFill>
                  <a:srgbClr val="2B1216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Round-robin</a:t>
            </a:r>
            <a:endParaRPr lang="en-US" sz="2550" dirty="0"/>
          </a:p>
        </p:txBody>
      </p:sp>
      <p:sp>
        <p:nvSpPr>
          <p:cNvPr id="26" name="Text 24"/>
          <p:cNvSpPr/>
          <p:nvPr/>
        </p:nvSpPr>
        <p:spPr>
          <a:xfrm>
            <a:off x="2286000" y="8545860"/>
            <a:ext cx="7669530" cy="3981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2836"/>
              </a:lnSpc>
              <a:buNone/>
            </a:pPr>
            <a:r>
              <a:rPr lang="en-US" sz="2100" dirty="0">
                <a:solidFill>
                  <a:srgbClr val="523236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Cycles automatically through the selected inputs</a:t>
            </a:r>
            <a:endParaRPr lang="en-US" sz="2100" dirty="0"/>
          </a:p>
        </p:txBody>
      </p:sp>
      <p:sp>
        <p:nvSpPr>
          <p:cNvPr id="27" name="Text 25"/>
          <p:cNvSpPr/>
          <p:nvPr/>
        </p:nvSpPr>
        <p:spPr>
          <a:xfrm>
            <a:off x="10172700" y="8102947"/>
            <a:ext cx="7669530" cy="4238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550" b="1" dirty="0">
                <a:solidFill>
                  <a:srgbClr val="2B1216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FIFO + DMA</a:t>
            </a:r>
            <a:endParaRPr lang="en-US" sz="2550" dirty="0"/>
          </a:p>
        </p:txBody>
      </p:sp>
      <p:sp>
        <p:nvSpPr>
          <p:cNvPr id="28" name="Text 26"/>
          <p:cNvSpPr/>
          <p:nvPr/>
        </p:nvSpPr>
        <p:spPr>
          <a:xfrm>
            <a:off x="10172700" y="8545860"/>
            <a:ext cx="7669530" cy="3981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2836"/>
              </a:lnSpc>
              <a:buNone/>
            </a:pPr>
            <a:r>
              <a:rPr lang="en-US" sz="2100" dirty="0">
                <a:solidFill>
                  <a:srgbClr val="523236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Streams samples to memory without the CPU</a:t>
            </a:r>
            <a:endParaRPr lang="en-US" sz="2100" dirty="0"/>
          </a:p>
        </p:txBody>
      </p:sp>
      <p:sp>
        <p:nvSpPr>
          <p:cNvPr id="29" name="Text 27"/>
          <p:cNvSpPr/>
          <p:nvPr/>
        </p:nvSpPr>
        <p:spPr>
          <a:xfrm>
            <a:off x="2286000" y="9096375"/>
            <a:ext cx="16344900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7D6164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Source: RP2040 datasheet, section 4.9.2.</a:t>
            </a:r>
            <a:endParaRPr lang="en-US" sz="18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8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" cy="10287000"/>
          </a:xfrm>
          <a:prstGeom prst="rect">
            <a:avLst/>
          </a:prstGeom>
          <a:solidFill>
            <a:srgbClr val="D7263D"/>
          </a:solidFill>
          <a:ln/>
        </p:spPr>
      </p:sp>
      <p:sp>
        <p:nvSpPr>
          <p:cNvPr id="3" name="Text 1"/>
          <p:cNvSpPr/>
          <p:nvPr/>
        </p:nvSpPr>
        <p:spPr>
          <a:xfrm>
            <a:off x="349895" y="609600"/>
            <a:ext cx="59561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3019"/>
              </a:lnSpc>
              <a:buNone/>
            </a:pPr>
            <a:r>
              <a:rPr lang="en-US" sz="3300" b="1" dirty="0">
                <a:solidFill>
                  <a:srgbClr val="FFF8F2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05</a:t>
            </a:r>
            <a:endParaRPr lang="en-US" sz="3300" dirty="0"/>
          </a:p>
        </p:txBody>
      </p:sp>
      <p:sp>
        <p:nvSpPr>
          <p:cNvPr id="4" name="Text 2"/>
          <p:cNvSpPr/>
          <p:nvPr/>
        </p:nvSpPr>
        <p:spPr>
          <a:xfrm rot="10800000">
            <a:off x="471488" y="1409700"/>
            <a:ext cx="352425" cy="636836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 vert="eaVert">
            <a:normAutofit/>
          </a:bodyPr>
          <a:lstStyle/>
          <a:p>
            <a:pPr algn="l" indent="0" marL="0">
              <a:buNone/>
            </a:pPr>
            <a:r>
              <a:rPr lang="en-US" sz="1800" b="1" spc="288" kern="0" dirty="0">
                <a:solidFill>
                  <a:srgbClr val="FFD9D2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ADC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419100" y="8767763"/>
            <a:ext cx="381000" cy="381000"/>
          </a:xfrm>
          <a:prstGeom prst="ellipse">
            <a:avLst/>
          </a:prstGeom>
          <a:solidFill>
            <a:srgbClr val="F0508A"/>
          </a:solidFill>
          <a:ln/>
        </p:spPr>
      </p:sp>
      <p:sp>
        <p:nvSpPr>
          <p:cNvPr id="6" name="Text 4"/>
          <p:cNvSpPr/>
          <p:nvPr/>
        </p:nvSpPr>
        <p:spPr>
          <a:xfrm>
            <a:off x="472380" y="9453563"/>
            <a:ext cx="350565" cy="3381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FFF8F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22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17240250" y="-1047750"/>
            <a:ext cx="2095500" cy="2095500"/>
          </a:xfrm>
          <a:prstGeom prst="ellipse">
            <a:avLst/>
          </a:prstGeom>
          <a:solidFill>
            <a:srgbClr val="F0508A"/>
          </a:solidFill>
          <a:ln/>
        </p:spPr>
      </p:sp>
      <p:sp>
        <p:nvSpPr>
          <p:cNvPr id="8" name="Shape 6"/>
          <p:cNvSpPr/>
          <p:nvPr/>
        </p:nvSpPr>
        <p:spPr>
          <a:xfrm>
            <a:off x="2286000" y="1052513"/>
            <a:ext cx="152400" cy="152400"/>
          </a:xfrm>
          <a:prstGeom prst="ellipse">
            <a:avLst/>
          </a:prstGeom>
          <a:solidFill>
            <a:srgbClr val="F0508A"/>
          </a:solidFill>
          <a:ln/>
        </p:spPr>
      </p:sp>
      <p:sp>
        <p:nvSpPr>
          <p:cNvPr id="9" name="Text 7"/>
          <p:cNvSpPr/>
          <p:nvPr/>
        </p:nvSpPr>
        <p:spPr>
          <a:xfrm>
            <a:off x="2590800" y="990600"/>
            <a:ext cx="5222788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288" kern="0" dirty="0">
                <a:solidFill>
                  <a:srgbClr val="B81D35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INTERNAL TEMPERATURE SENSOR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2286000" y="1495425"/>
            <a:ext cx="14668500" cy="79816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7692"/>
              </a:lnSpc>
              <a:buNone/>
            </a:pPr>
            <a:r>
              <a:rPr lang="en-US" sz="5700" b="1" spc="-171" kern="0" dirty="0">
                <a:solidFill>
                  <a:srgbClr val="2B1216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The chip can measure its own temperature</a:t>
            </a:r>
            <a:endParaRPr lang="en-US" sz="5700" dirty="0"/>
          </a:p>
        </p:txBody>
      </p:sp>
      <p:sp>
        <p:nvSpPr>
          <p:cNvPr id="11" name="Text 9"/>
          <p:cNvSpPr/>
          <p:nvPr/>
        </p:nvSpPr>
        <p:spPr>
          <a:xfrm>
            <a:off x="2286000" y="2636490"/>
            <a:ext cx="4044315" cy="5638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3000" b="1" dirty="0">
                <a:solidFill>
                  <a:srgbClr val="2B1216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How it works</a:t>
            </a:r>
            <a:endParaRPr lang="en-US" sz="3000" dirty="0"/>
          </a:p>
        </p:txBody>
      </p:sp>
      <p:sp>
        <p:nvSpPr>
          <p:cNvPr id="12" name="Shape 10"/>
          <p:cNvSpPr/>
          <p:nvPr/>
        </p:nvSpPr>
        <p:spPr>
          <a:xfrm>
            <a:off x="2286000" y="3486076"/>
            <a:ext cx="152400" cy="152400"/>
          </a:xfrm>
          <a:prstGeom prst="ellipse">
            <a:avLst/>
          </a:prstGeom>
          <a:solidFill>
            <a:srgbClr val="F0508A"/>
          </a:solidFill>
          <a:ln/>
        </p:spPr>
      </p:sp>
      <p:sp>
        <p:nvSpPr>
          <p:cNvPr id="13" name="Text 11"/>
          <p:cNvSpPr/>
          <p:nvPr/>
        </p:nvSpPr>
        <p:spPr>
          <a:xfrm>
            <a:off x="2667000" y="3371776"/>
            <a:ext cx="3394519" cy="11033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5742"/>
              </a:lnSpc>
              <a:buNone/>
            </a:pPr>
            <a:r>
              <a:rPr lang="en-US" sz="1950" dirty="0">
                <a:solidFill>
                  <a:srgbClr val="523236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Measures V</a:t>
            </a:r>
            <a:pPr algn="l" indent="0" marL="0">
              <a:lnSpc>
                <a:spcPct val="115742"/>
              </a:lnSpc>
              <a:buNone/>
            </a:pPr>
            <a:r>
              <a:rPr lang="en-US" sz="1625" baseline="-40000" dirty="0">
                <a:solidFill>
                  <a:srgbClr val="523236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be </a:t>
            </a:r>
            <a:pPr algn="l" indent="0" marL="0">
              <a:lnSpc>
                <a:spcPct val="115742"/>
              </a:lnSpc>
              <a:buNone/>
            </a:pPr>
            <a:r>
              <a:rPr lang="en-US" sz="1950" dirty="0">
                <a:solidFill>
                  <a:srgbClr val="523236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, the voltage of a biased bipolar diode, on input AIN4</a:t>
            </a:r>
            <a:endParaRPr lang="en-US" sz="1950" dirty="0"/>
          </a:p>
        </p:txBody>
      </p:sp>
      <p:sp>
        <p:nvSpPr>
          <p:cNvPr id="14" name="Shape 12"/>
          <p:cNvSpPr/>
          <p:nvPr/>
        </p:nvSpPr>
        <p:spPr>
          <a:xfrm>
            <a:off x="2286000" y="4760863"/>
            <a:ext cx="152400" cy="152400"/>
          </a:xfrm>
          <a:prstGeom prst="ellipse">
            <a:avLst/>
          </a:prstGeom>
          <a:solidFill>
            <a:srgbClr val="F0508A"/>
          </a:solidFill>
          <a:ln/>
        </p:spPr>
      </p:sp>
      <p:sp>
        <p:nvSpPr>
          <p:cNvPr id="15" name="Text 13"/>
          <p:cNvSpPr/>
          <p:nvPr/>
        </p:nvSpPr>
        <p:spPr>
          <a:xfrm>
            <a:off x="2667000" y="4646563"/>
            <a:ext cx="3131872" cy="37980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5742"/>
              </a:lnSpc>
              <a:buNone/>
            </a:pPr>
            <a:r>
              <a:rPr lang="en-US" sz="1950" dirty="0">
                <a:solidFill>
                  <a:srgbClr val="523236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Typically 0.706 V at 27 °C</a:t>
            </a:r>
            <a:endParaRPr lang="en-US" sz="1950" dirty="0"/>
          </a:p>
        </p:txBody>
      </p:sp>
      <p:sp>
        <p:nvSpPr>
          <p:cNvPr id="16" name="Shape 14"/>
          <p:cNvSpPr/>
          <p:nvPr/>
        </p:nvSpPr>
        <p:spPr>
          <a:xfrm>
            <a:off x="2286000" y="5312122"/>
            <a:ext cx="152400" cy="152400"/>
          </a:xfrm>
          <a:prstGeom prst="ellipse">
            <a:avLst/>
          </a:prstGeom>
          <a:solidFill>
            <a:srgbClr val="F0508A"/>
          </a:solidFill>
          <a:ln/>
        </p:spPr>
      </p:sp>
      <p:sp>
        <p:nvSpPr>
          <p:cNvPr id="17" name="Text 15"/>
          <p:cNvSpPr/>
          <p:nvPr/>
        </p:nvSpPr>
        <p:spPr>
          <a:xfrm>
            <a:off x="2667000" y="5197822"/>
            <a:ext cx="2866660" cy="37980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5742"/>
              </a:lnSpc>
              <a:buNone/>
            </a:pPr>
            <a:r>
              <a:rPr lang="en-US" sz="1950" dirty="0">
                <a:solidFill>
                  <a:srgbClr val="523236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Falls by 1.721 mV per °C</a:t>
            </a:r>
            <a:endParaRPr lang="en-US" sz="1950" dirty="0"/>
          </a:p>
        </p:txBody>
      </p:sp>
      <p:sp>
        <p:nvSpPr>
          <p:cNvPr id="18" name="Shape 16"/>
          <p:cNvSpPr/>
          <p:nvPr/>
        </p:nvSpPr>
        <p:spPr>
          <a:xfrm>
            <a:off x="2286000" y="5863382"/>
            <a:ext cx="152400" cy="152400"/>
          </a:xfrm>
          <a:prstGeom prst="ellipse">
            <a:avLst/>
          </a:prstGeom>
          <a:solidFill>
            <a:srgbClr val="F0508A"/>
          </a:solidFill>
          <a:ln/>
        </p:spPr>
      </p:sp>
      <p:sp>
        <p:nvSpPr>
          <p:cNvPr id="19" name="Text 17"/>
          <p:cNvSpPr/>
          <p:nvPr/>
        </p:nvSpPr>
        <p:spPr>
          <a:xfrm>
            <a:off x="2667000" y="5749082"/>
            <a:ext cx="3394519" cy="72151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5742"/>
              </a:lnSpc>
              <a:buNone/>
            </a:pPr>
            <a:r>
              <a:rPr lang="en-US" sz="1950" dirty="0">
                <a:solidFill>
                  <a:srgbClr val="523236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Must be enabled first (TS_EN bit)</a:t>
            </a:r>
            <a:endParaRPr lang="en-US" sz="1950" dirty="0"/>
          </a:p>
        </p:txBody>
      </p:sp>
      <p:sp>
        <p:nvSpPr>
          <p:cNvPr id="20" name="Shape 18"/>
          <p:cNvSpPr/>
          <p:nvPr/>
        </p:nvSpPr>
        <p:spPr>
          <a:xfrm>
            <a:off x="6496050" y="2636490"/>
            <a:ext cx="19050" cy="6269385"/>
          </a:xfrm>
          <a:prstGeom prst="rect">
            <a:avLst/>
          </a:prstGeom>
          <a:solidFill>
            <a:srgbClr val="EBD6CB"/>
          </a:solidFill>
          <a:ln/>
        </p:spPr>
      </p:sp>
      <p:sp>
        <p:nvSpPr>
          <p:cNvPr id="21" name="Text 19"/>
          <p:cNvSpPr/>
          <p:nvPr/>
        </p:nvSpPr>
        <p:spPr>
          <a:xfrm>
            <a:off x="7048500" y="2636490"/>
            <a:ext cx="5867400" cy="410468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lnSpc>
                <a:spcPct val="96543"/>
              </a:lnSpc>
              <a:buNone/>
            </a:pPr>
            <a:r>
              <a:rPr lang="en-US" sz="2550" b="1" spc="-51" kern="0" dirty="0">
                <a:solidFill>
                  <a:srgbClr val="D7263D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T = 27 − (V − 0.706) / 0.001721</a:t>
            </a:r>
            <a:endParaRPr lang="en-US" sz="2550" dirty="0"/>
          </a:p>
        </p:txBody>
      </p:sp>
      <p:pic>
        <p:nvPicPr>
          <p:cNvPr id="2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48500" y="3161258"/>
            <a:ext cx="5334000" cy="4513362"/>
          </a:xfrm>
          <a:prstGeom prst="rect">
            <a:avLst/>
          </a:prstGeom>
        </p:spPr>
      </p:pic>
      <p:sp>
        <p:nvSpPr>
          <p:cNvPr id="23" name="Text 20"/>
          <p:cNvSpPr/>
          <p:nvPr/>
        </p:nvSpPr>
        <p:spPr>
          <a:xfrm>
            <a:off x="7048500" y="7827020"/>
            <a:ext cx="5494020" cy="638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7D616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Linear: −1.721 mV per °C, from −40 to 85 °C</a:t>
            </a:r>
            <a:endParaRPr lang="en-US" sz="1800" dirty="0"/>
          </a:p>
        </p:txBody>
      </p:sp>
      <p:sp>
        <p:nvSpPr>
          <p:cNvPr id="24" name="Shape 21"/>
          <p:cNvSpPr/>
          <p:nvPr/>
        </p:nvSpPr>
        <p:spPr>
          <a:xfrm>
            <a:off x="12915900" y="2636490"/>
            <a:ext cx="19050" cy="6269385"/>
          </a:xfrm>
          <a:prstGeom prst="rect">
            <a:avLst/>
          </a:prstGeom>
          <a:solidFill>
            <a:srgbClr val="EBD6CB"/>
          </a:solidFill>
          <a:ln/>
        </p:spPr>
      </p:sp>
      <p:sp>
        <p:nvSpPr>
          <p:cNvPr id="25" name="Text 22"/>
          <p:cNvSpPr/>
          <p:nvPr/>
        </p:nvSpPr>
        <p:spPr>
          <a:xfrm>
            <a:off x="13468350" y="2636490"/>
            <a:ext cx="4044315" cy="5638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3000" b="1" dirty="0">
                <a:solidFill>
                  <a:srgbClr val="2B1216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Accuracy</a:t>
            </a:r>
            <a:endParaRPr lang="en-US" sz="3000" dirty="0"/>
          </a:p>
        </p:txBody>
      </p:sp>
      <p:sp>
        <p:nvSpPr>
          <p:cNvPr id="26" name="Shape 23"/>
          <p:cNvSpPr/>
          <p:nvPr/>
        </p:nvSpPr>
        <p:spPr>
          <a:xfrm>
            <a:off x="13468350" y="3486076"/>
            <a:ext cx="152400" cy="152400"/>
          </a:xfrm>
          <a:prstGeom prst="ellipse">
            <a:avLst/>
          </a:prstGeom>
          <a:solidFill>
            <a:srgbClr val="F0508A"/>
          </a:solidFill>
          <a:ln/>
        </p:spPr>
      </p:sp>
      <p:sp>
        <p:nvSpPr>
          <p:cNvPr id="27" name="Text 24"/>
          <p:cNvSpPr/>
          <p:nvPr/>
        </p:nvSpPr>
        <p:spPr>
          <a:xfrm>
            <a:off x="13849350" y="3371776"/>
            <a:ext cx="3394519" cy="11033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5742"/>
              </a:lnSpc>
              <a:buNone/>
            </a:pPr>
            <a:r>
              <a:rPr lang="en-US" sz="1950" dirty="0">
                <a:solidFill>
                  <a:srgbClr val="523236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No guaranteed accuracy: V</a:t>
            </a:r>
            <a:pPr algn="l" indent="0" marL="0">
              <a:lnSpc>
                <a:spcPct val="115742"/>
              </a:lnSpc>
              <a:buNone/>
            </a:pPr>
            <a:r>
              <a:rPr lang="en-US" sz="1625" baseline="-40000" dirty="0">
                <a:solidFill>
                  <a:srgbClr val="523236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be </a:t>
            </a:r>
            <a:pPr algn="l" indent="0" marL="0">
              <a:lnSpc>
                <a:spcPct val="115742"/>
              </a:lnSpc>
              <a:buNone/>
            </a:pPr>
            <a:r>
              <a:rPr lang="en-US" sz="1950" dirty="0">
                <a:solidFill>
                  <a:srgbClr val="523236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and its slope vary from chip to chip</a:t>
            </a:r>
            <a:endParaRPr lang="en-US" sz="1950" dirty="0"/>
          </a:p>
        </p:txBody>
      </p:sp>
      <p:sp>
        <p:nvSpPr>
          <p:cNvPr id="28" name="Shape 25"/>
          <p:cNvSpPr/>
          <p:nvPr/>
        </p:nvSpPr>
        <p:spPr>
          <a:xfrm>
            <a:off x="13468350" y="4760863"/>
            <a:ext cx="152400" cy="152400"/>
          </a:xfrm>
          <a:prstGeom prst="ellipse">
            <a:avLst/>
          </a:prstGeom>
          <a:solidFill>
            <a:srgbClr val="F0508A"/>
          </a:solidFill>
          <a:ln/>
        </p:spPr>
      </p:sp>
      <p:sp>
        <p:nvSpPr>
          <p:cNvPr id="29" name="Text 26"/>
          <p:cNvSpPr/>
          <p:nvPr/>
        </p:nvSpPr>
        <p:spPr>
          <a:xfrm>
            <a:off x="13849350" y="4646563"/>
            <a:ext cx="3394519" cy="72151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5742"/>
              </a:lnSpc>
              <a:buNone/>
            </a:pPr>
            <a:r>
              <a:rPr lang="en-US" sz="1950" dirty="0">
                <a:solidFill>
                  <a:srgbClr val="523236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User calibration is needed for accurate readings</a:t>
            </a:r>
            <a:endParaRPr lang="en-US" sz="1950" dirty="0"/>
          </a:p>
        </p:txBody>
      </p:sp>
      <p:sp>
        <p:nvSpPr>
          <p:cNvPr id="30" name="Shape 27"/>
          <p:cNvSpPr/>
          <p:nvPr/>
        </p:nvSpPr>
        <p:spPr>
          <a:xfrm>
            <a:off x="13468350" y="5653832"/>
            <a:ext cx="152400" cy="152400"/>
          </a:xfrm>
          <a:prstGeom prst="ellipse">
            <a:avLst/>
          </a:prstGeom>
          <a:solidFill>
            <a:srgbClr val="F0508A"/>
          </a:solidFill>
          <a:ln/>
        </p:spPr>
      </p:sp>
      <p:sp>
        <p:nvSpPr>
          <p:cNvPr id="31" name="Text 28"/>
          <p:cNvSpPr/>
          <p:nvPr/>
        </p:nvSpPr>
        <p:spPr>
          <a:xfrm>
            <a:off x="13849350" y="5539532"/>
            <a:ext cx="3394519" cy="14049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5742"/>
              </a:lnSpc>
              <a:buNone/>
            </a:pPr>
            <a:r>
              <a:rPr lang="en-US" sz="1950" dirty="0">
                <a:solidFill>
                  <a:srgbClr val="523236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Very sensitive to the reference voltage, which the RP2040 does not provide internally</a:t>
            </a:r>
            <a:endParaRPr lang="en-US" sz="1950" dirty="0"/>
          </a:p>
        </p:txBody>
      </p:sp>
      <p:sp>
        <p:nvSpPr>
          <p:cNvPr id="32" name="Shape 29"/>
          <p:cNvSpPr/>
          <p:nvPr/>
        </p:nvSpPr>
        <p:spPr>
          <a:xfrm>
            <a:off x="13468350" y="7230219"/>
            <a:ext cx="152400" cy="152400"/>
          </a:xfrm>
          <a:prstGeom prst="ellipse">
            <a:avLst/>
          </a:prstGeom>
          <a:solidFill>
            <a:srgbClr val="F0508A"/>
          </a:solidFill>
          <a:ln/>
        </p:spPr>
      </p:sp>
      <p:sp>
        <p:nvSpPr>
          <p:cNvPr id="33" name="Text 30"/>
          <p:cNvSpPr/>
          <p:nvPr/>
        </p:nvSpPr>
        <p:spPr>
          <a:xfrm>
            <a:off x="13849350" y="7115919"/>
            <a:ext cx="3394519" cy="72151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5742"/>
              </a:lnSpc>
              <a:buNone/>
            </a:pPr>
            <a:r>
              <a:rPr lang="en-US" sz="1950" dirty="0">
                <a:solidFill>
                  <a:srgbClr val="523236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1 LSB ≈ 0.8 mV ≈ 0.5 °C at 3.3 V: a coarse sensor</a:t>
            </a:r>
            <a:endParaRPr lang="en-US" sz="1950" dirty="0"/>
          </a:p>
        </p:txBody>
      </p:sp>
      <p:sp>
        <p:nvSpPr>
          <p:cNvPr id="34" name="Text 31"/>
          <p:cNvSpPr/>
          <p:nvPr/>
        </p:nvSpPr>
        <p:spPr>
          <a:xfrm>
            <a:off x="2286000" y="9096375"/>
            <a:ext cx="16344900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7D6164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Sources: RP2040 datasheet, section 4.9.4; Raspberry Pi documentation.</a:t>
            </a:r>
            <a:endParaRPr lang="en-US" sz="18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D726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3429000" y="3238500"/>
            <a:ext cx="11811000" cy="11811000"/>
          </a:xfrm>
          <a:prstGeom prst="ellipse">
            <a:avLst/>
          </a:prstGeom>
          <a:solidFill>
            <a:srgbClr val="94172D"/>
          </a:solidFill>
          <a:ln/>
        </p:spPr>
      </p:sp>
      <p:sp>
        <p:nvSpPr>
          <p:cNvPr id="3" name="Shape 1"/>
          <p:cNvSpPr/>
          <p:nvPr/>
        </p:nvSpPr>
        <p:spPr>
          <a:xfrm>
            <a:off x="16421100" y="1143000"/>
            <a:ext cx="533400" cy="533400"/>
          </a:xfrm>
          <a:prstGeom prst="ellipse">
            <a:avLst/>
          </a:prstGeom>
          <a:solidFill>
            <a:srgbClr val="FF6F59"/>
          </a:solidFill>
          <a:ln/>
        </p:spPr>
      </p:sp>
      <p:sp>
        <p:nvSpPr>
          <p:cNvPr id="4" name="Text 2"/>
          <p:cNvSpPr/>
          <p:nvPr/>
        </p:nvSpPr>
        <p:spPr>
          <a:xfrm>
            <a:off x="9525000" y="3481388"/>
            <a:ext cx="7652385" cy="2171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3582"/>
              </a:lnSpc>
              <a:buNone/>
            </a:pPr>
            <a:r>
              <a:rPr lang="en-US" sz="8400" b="1" spc="-252" kern="0" dirty="0">
                <a:solidFill>
                  <a:srgbClr val="FFF8F2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I²C communication</a:t>
            </a:r>
            <a:endParaRPr lang="en-US" sz="8400" dirty="0"/>
          </a:p>
        </p:txBody>
      </p:sp>
      <p:sp>
        <p:nvSpPr>
          <p:cNvPr id="5" name="Text 3"/>
          <p:cNvSpPr/>
          <p:nvPr/>
        </p:nvSpPr>
        <p:spPr>
          <a:xfrm>
            <a:off x="9525000" y="5995988"/>
            <a:ext cx="7063740" cy="8477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3659"/>
              </a:lnSpc>
              <a:buNone/>
            </a:pPr>
            <a:r>
              <a:rPr lang="en-US" sz="2550" dirty="0">
                <a:solidFill>
                  <a:srgbClr val="FFD9D2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Many sensors on two wires: addressing, reading, configuring, and how fast it can go.</a:t>
            </a:r>
            <a:endParaRPr lang="en-US" sz="255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8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" cy="10287000"/>
          </a:xfrm>
          <a:prstGeom prst="rect">
            <a:avLst/>
          </a:prstGeom>
          <a:solidFill>
            <a:srgbClr val="D7263D"/>
          </a:solidFill>
          <a:ln/>
        </p:spPr>
      </p:sp>
      <p:sp>
        <p:nvSpPr>
          <p:cNvPr id="3" name="Text 1"/>
          <p:cNvSpPr/>
          <p:nvPr/>
        </p:nvSpPr>
        <p:spPr>
          <a:xfrm>
            <a:off x="341412" y="609600"/>
            <a:ext cx="612502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3019"/>
              </a:lnSpc>
              <a:buNone/>
            </a:pPr>
            <a:r>
              <a:rPr lang="en-US" sz="3300" b="1" dirty="0">
                <a:solidFill>
                  <a:srgbClr val="FFF8F2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06</a:t>
            </a:r>
            <a:endParaRPr lang="en-US" sz="3300" dirty="0"/>
          </a:p>
        </p:txBody>
      </p:sp>
      <p:sp>
        <p:nvSpPr>
          <p:cNvPr id="4" name="Text 2"/>
          <p:cNvSpPr/>
          <p:nvPr/>
        </p:nvSpPr>
        <p:spPr>
          <a:xfrm rot="10800000">
            <a:off x="471488" y="1409700"/>
            <a:ext cx="352425" cy="463451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 vert="eaVert">
            <a:normAutofit/>
          </a:bodyPr>
          <a:lstStyle/>
          <a:p>
            <a:pPr algn="l" indent="0" marL="0">
              <a:buNone/>
            </a:pPr>
            <a:r>
              <a:rPr lang="en-US" sz="1800" b="1" spc="288" kern="0" dirty="0">
                <a:solidFill>
                  <a:srgbClr val="FFD9D2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I²C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419100" y="8767763"/>
            <a:ext cx="381000" cy="381000"/>
          </a:xfrm>
          <a:prstGeom prst="ellipse">
            <a:avLst/>
          </a:prstGeom>
          <a:solidFill>
            <a:srgbClr val="FF6F59"/>
          </a:solidFill>
          <a:ln/>
        </p:spPr>
      </p:sp>
      <p:sp>
        <p:nvSpPr>
          <p:cNvPr id="6" name="Text 4"/>
          <p:cNvSpPr/>
          <p:nvPr/>
        </p:nvSpPr>
        <p:spPr>
          <a:xfrm>
            <a:off x="472380" y="9453563"/>
            <a:ext cx="350565" cy="3381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FFF8F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24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17240250" y="-1047750"/>
            <a:ext cx="2095500" cy="2095500"/>
          </a:xfrm>
          <a:prstGeom prst="ellipse">
            <a:avLst/>
          </a:prstGeom>
          <a:solidFill>
            <a:srgbClr val="FF6F59"/>
          </a:solidFill>
          <a:ln/>
        </p:spPr>
      </p:sp>
      <p:sp>
        <p:nvSpPr>
          <p:cNvPr id="8" name="Shape 6"/>
          <p:cNvSpPr/>
          <p:nvPr/>
        </p:nvSpPr>
        <p:spPr>
          <a:xfrm>
            <a:off x="2286000" y="1052513"/>
            <a:ext cx="152400" cy="152400"/>
          </a:xfrm>
          <a:prstGeom prst="ellipse">
            <a:avLst/>
          </a:prstGeom>
          <a:solidFill>
            <a:srgbClr val="FF6F59"/>
          </a:solidFill>
          <a:ln/>
        </p:spPr>
      </p:sp>
      <p:sp>
        <p:nvSpPr>
          <p:cNvPr id="9" name="Text 7"/>
          <p:cNvSpPr/>
          <p:nvPr/>
        </p:nvSpPr>
        <p:spPr>
          <a:xfrm>
            <a:off x="2590800" y="990600"/>
            <a:ext cx="1246584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288" kern="0" dirty="0">
                <a:solidFill>
                  <a:srgbClr val="B81D35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WHY I²C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2286000" y="1495425"/>
            <a:ext cx="15716250" cy="79816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7692"/>
              </a:lnSpc>
              <a:buNone/>
            </a:pPr>
            <a:r>
              <a:rPr lang="en-US" sz="5700" b="1" spc="-171" kern="0" dirty="0">
                <a:solidFill>
                  <a:srgbClr val="2B1216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Several sensors share the same two wires</a:t>
            </a:r>
            <a:endParaRPr lang="en-US" sz="5700" dirty="0"/>
          </a:p>
        </p:txBody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86000" y="2788890"/>
            <a:ext cx="14859000" cy="3143250"/>
          </a:xfrm>
          <a:prstGeom prst="rect">
            <a:avLst/>
          </a:prstGeom>
        </p:spPr>
      </p:pic>
      <p:sp>
        <p:nvSpPr>
          <p:cNvPr id="12" name="Shape 9"/>
          <p:cNvSpPr/>
          <p:nvPr/>
        </p:nvSpPr>
        <p:spPr>
          <a:xfrm>
            <a:off x="2286000" y="8284220"/>
            <a:ext cx="152400" cy="152400"/>
          </a:xfrm>
          <a:prstGeom prst="ellipse">
            <a:avLst/>
          </a:prstGeom>
          <a:solidFill>
            <a:srgbClr val="FF6F59"/>
          </a:solidFill>
          <a:ln/>
        </p:spPr>
      </p:sp>
      <p:sp>
        <p:nvSpPr>
          <p:cNvPr id="13" name="Text 10"/>
          <p:cNvSpPr/>
          <p:nvPr/>
        </p:nvSpPr>
        <p:spPr>
          <a:xfrm>
            <a:off x="2667000" y="8169920"/>
            <a:ext cx="4238244" cy="77405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5343"/>
              </a:lnSpc>
              <a:buNone/>
            </a:pPr>
            <a:r>
              <a:rPr lang="en-US" sz="2100" dirty="0">
                <a:solidFill>
                  <a:srgbClr val="523236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One bus, many devices: no dedicated lines per sensor</a:t>
            </a:r>
            <a:endParaRPr lang="en-US" sz="2100" dirty="0"/>
          </a:p>
        </p:txBody>
      </p:sp>
      <p:sp>
        <p:nvSpPr>
          <p:cNvPr id="14" name="Shape 11"/>
          <p:cNvSpPr/>
          <p:nvPr/>
        </p:nvSpPr>
        <p:spPr>
          <a:xfrm>
            <a:off x="7467600" y="8284220"/>
            <a:ext cx="152400" cy="152400"/>
          </a:xfrm>
          <a:prstGeom prst="ellipse">
            <a:avLst/>
          </a:prstGeom>
          <a:solidFill>
            <a:srgbClr val="FF6F59"/>
          </a:solidFill>
          <a:ln/>
        </p:spPr>
      </p:sp>
      <p:sp>
        <p:nvSpPr>
          <p:cNvPr id="15" name="Text 12"/>
          <p:cNvSpPr/>
          <p:nvPr/>
        </p:nvSpPr>
        <p:spPr>
          <a:xfrm>
            <a:off x="7848600" y="8169920"/>
            <a:ext cx="4238244" cy="77405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5343"/>
              </a:lnSpc>
              <a:buNone/>
            </a:pPr>
            <a:r>
              <a:rPr lang="en-US" sz="2100" b="1" dirty="0">
                <a:solidFill>
                  <a:srgbClr val="2B1216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SDA </a:t>
            </a:r>
            <a:pPr algn="l" indent="0" marL="0">
              <a:lnSpc>
                <a:spcPct val="115343"/>
              </a:lnSpc>
              <a:buNone/>
            </a:pPr>
            <a:r>
              <a:rPr lang="en-US" sz="2100" dirty="0">
                <a:solidFill>
                  <a:srgbClr val="523236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carries the data, in both directions</a:t>
            </a:r>
            <a:endParaRPr lang="en-US" sz="2100" dirty="0"/>
          </a:p>
        </p:txBody>
      </p:sp>
      <p:sp>
        <p:nvSpPr>
          <p:cNvPr id="16" name="Shape 13"/>
          <p:cNvSpPr/>
          <p:nvPr/>
        </p:nvSpPr>
        <p:spPr>
          <a:xfrm>
            <a:off x="12649200" y="8284220"/>
            <a:ext cx="152400" cy="152400"/>
          </a:xfrm>
          <a:prstGeom prst="ellipse">
            <a:avLst/>
          </a:prstGeom>
          <a:solidFill>
            <a:srgbClr val="FF6F59"/>
          </a:solidFill>
          <a:ln/>
        </p:spPr>
      </p:sp>
      <p:sp>
        <p:nvSpPr>
          <p:cNvPr id="17" name="Text 14"/>
          <p:cNvSpPr/>
          <p:nvPr/>
        </p:nvSpPr>
        <p:spPr>
          <a:xfrm>
            <a:off x="13030200" y="8169920"/>
            <a:ext cx="4238244" cy="77405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5343"/>
              </a:lnSpc>
              <a:buNone/>
            </a:pPr>
            <a:r>
              <a:rPr lang="en-US" sz="2100" b="1" dirty="0">
                <a:solidFill>
                  <a:srgbClr val="2B1216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SCL </a:t>
            </a:r>
            <a:pPr algn="l" indent="0" marL="0">
              <a:lnSpc>
                <a:spcPct val="115343"/>
              </a:lnSpc>
              <a:buNone/>
            </a:pPr>
            <a:r>
              <a:rPr lang="en-US" sz="2100" dirty="0">
                <a:solidFill>
                  <a:srgbClr val="523236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carries the clock that synchronizes the exchange</a:t>
            </a:r>
            <a:endParaRPr lang="en-US" sz="2100" dirty="0"/>
          </a:p>
        </p:txBody>
      </p:sp>
      <p:sp>
        <p:nvSpPr>
          <p:cNvPr id="18" name="Text 15"/>
          <p:cNvSpPr/>
          <p:nvPr/>
        </p:nvSpPr>
        <p:spPr>
          <a:xfrm>
            <a:off x="2286000" y="9096375"/>
            <a:ext cx="16344900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7D6164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Example addresses shown for illustration; each device has its own address on the bus.</a:t>
            </a:r>
            <a:endParaRPr lang="en-US" sz="18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8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" cy="10287000"/>
          </a:xfrm>
          <a:prstGeom prst="rect">
            <a:avLst/>
          </a:prstGeom>
          <a:solidFill>
            <a:srgbClr val="D7263D"/>
          </a:solidFill>
          <a:ln/>
        </p:spPr>
      </p:sp>
      <p:sp>
        <p:nvSpPr>
          <p:cNvPr id="3" name="Text 1"/>
          <p:cNvSpPr/>
          <p:nvPr/>
        </p:nvSpPr>
        <p:spPr>
          <a:xfrm>
            <a:off x="341412" y="609600"/>
            <a:ext cx="612502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3019"/>
              </a:lnSpc>
              <a:buNone/>
            </a:pPr>
            <a:r>
              <a:rPr lang="en-US" sz="3300" b="1" dirty="0">
                <a:solidFill>
                  <a:srgbClr val="FFF8F2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06</a:t>
            </a:r>
            <a:endParaRPr lang="en-US" sz="3300" dirty="0"/>
          </a:p>
        </p:txBody>
      </p:sp>
      <p:sp>
        <p:nvSpPr>
          <p:cNvPr id="4" name="Text 2"/>
          <p:cNvSpPr/>
          <p:nvPr/>
        </p:nvSpPr>
        <p:spPr>
          <a:xfrm rot="10800000">
            <a:off x="471488" y="1409700"/>
            <a:ext cx="352425" cy="463451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 vert="eaVert">
            <a:normAutofit/>
          </a:bodyPr>
          <a:lstStyle/>
          <a:p>
            <a:pPr algn="l" indent="0" marL="0">
              <a:buNone/>
            </a:pPr>
            <a:r>
              <a:rPr lang="en-US" sz="1800" b="1" spc="288" kern="0" dirty="0">
                <a:solidFill>
                  <a:srgbClr val="FFD9D2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I²C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419100" y="8767763"/>
            <a:ext cx="381000" cy="381000"/>
          </a:xfrm>
          <a:prstGeom prst="ellipse">
            <a:avLst/>
          </a:prstGeom>
          <a:solidFill>
            <a:srgbClr val="FF6F59"/>
          </a:solidFill>
          <a:ln/>
        </p:spPr>
      </p:sp>
      <p:sp>
        <p:nvSpPr>
          <p:cNvPr id="6" name="Text 4"/>
          <p:cNvSpPr/>
          <p:nvPr/>
        </p:nvSpPr>
        <p:spPr>
          <a:xfrm>
            <a:off x="472380" y="9453563"/>
            <a:ext cx="350565" cy="3381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FFF8F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25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17240250" y="-1047750"/>
            <a:ext cx="2095500" cy="2095500"/>
          </a:xfrm>
          <a:prstGeom prst="ellipse">
            <a:avLst/>
          </a:prstGeom>
          <a:solidFill>
            <a:srgbClr val="FF6F59"/>
          </a:solidFill>
          <a:ln/>
        </p:spPr>
      </p:sp>
      <p:sp>
        <p:nvSpPr>
          <p:cNvPr id="8" name="Shape 6"/>
          <p:cNvSpPr/>
          <p:nvPr/>
        </p:nvSpPr>
        <p:spPr>
          <a:xfrm>
            <a:off x="2286000" y="1052513"/>
            <a:ext cx="152400" cy="152400"/>
          </a:xfrm>
          <a:prstGeom prst="ellipse">
            <a:avLst/>
          </a:prstGeom>
          <a:solidFill>
            <a:srgbClr val="FF6F59"/>
          </a:solidFill>
          <a:ln/>
        </p:spPr>
      </p:sp>
      <p:sp>
        <p:nvSpPr>
          <p:cNvPr id="9" name="Text 7"/>
          <p:cNvSpPr/>
          <p:nvPr/>
        </p:nvSpPr>
        <p:spPr>
          <a:xfrm>
            <a:off x="2590800" y="990600"/>
            <a:ext cx="3799649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288" kern="0" dirty="0">
                <a:solidFill>
                  <a:srgbClr val="B81D35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SDA, SCL AND PULL-UPS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2286000" y="1495425"/>
            <a:ext cx="15716250" cy="79816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7692"/>
              </a:lnSpc>
              <a:buNone/>
            </a:pPr>
            <a:r>
              <a:rPr lang="en-US" sz="5700" b="1" spc="-171" kern="0" dirty="0">
                <a:solidFill>
                  <a:srgbClr val="2B1216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Pull-ups give the bus a defined high level</a:t>
            </a:r>
            <a:endParaRPr lang="en-US" sz="5700" dirty="0"/>
          </a:p>
        </p:txBody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86000" y="3332783"/>
            <a:ext cx="5334000" cy="4953000"/>
          </a:xfrm>
          <a:prstGeom prst="rect">
            <a:avLst/>
          </a:prstGeom>
        </p:spPr>
      </p:pic>
      <p:sp>
        <p:nvSpPr>
          <p:cNvPr id="12" name="Shape 9"/>
          <p:cNvSpPr/>
          <p:nvPr/>
        </p:nvSpPr>
        <p:spPr>
          <a:xfrm>
            <a:off x="8534400" y="3896916"/>
            <a:ext cx="152400" cy="152400"/>
          </a:xfrm>
          <a:prstGeom prst="ellipse">
            <a:avLst/>
          </a:prstGeom>
          <a:solidFill>
            <a:srgbClr val="FF6F59"/>
          </a:solidFill>
          <a:ln/>
        </p:spPr>
      </p:sp>
      <p:sp>
        <p:nvSpPr>
          <p:cNvPr id="13" name="Text 10"/>
          <p:cNvSpPr/>
          <p:nvPr/>
        </p:nvSpPr>
        <p:spPr>
          <a:xfrm>
            <a:off x="8915400" y="3782616"/>
            <a:ext cx="7508275" cy="40607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5343"/>
              </a:lnSpc>
              <a:buNone/>
            </a:pPr>
            <a:r>
              <a:rPr lang="en-US" sz="2100" dirty="0">
                <a:solidFill>
                  <a:srgbClr val="523236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Devices never drive the line high: they can only </a:t>
            </a:r>
            <a:pPr algn="l" indent="0" marL="0">
              <a:lnSpc>
                <a:spcPct val="115343"/>
              </a:lnSpc>
              <a:buNone/>
            </a:pPr>
            <a:r>
              <a:rPr lang="en-US" sz="2100" b="1" dirty="0">
                <a:solidFill>
                  <a:srgbClr val="2B1216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pull it low</a:t>
            </a:r>
            <a:endParaRPr lang="en-US" sz="2100" dirty="0"/>
          </a:p>
        </p:txBody>
      </p:sp>
      <p:sp>
        <p:nvSpPr>
          <p:cNvPr id="14" name="Shape 11"/>
          <p:cNvSpPr/>
          <p:nvPr/>
        </p:nvSpPr>
        <p:spPr>
          <a:xfrm>
            <a:off x="8534400" y="4455393"/>
            <a:ext cx="152400" cy="152400"/>
          </a:xfrm>
          <a:prstGeom prst="ellipse">
            <a:avLst/>
          </a:prstGeom>
          <a:solidFill>
            <a:srgbClr val="FF6F59"/>
          </a:solidFill>
          <a:ln/>
        </p:spPr>
      </p:sp>
      <p:sp>
        <p:nvSpPr>
          <p:cNvPr id="15" name="Text 12"/>
          <p:cNvSpPr/>
          <p:nvPr/>
        </p:nvSpPr>
        <p:spPr>
          <a:xfrm>
            <a:off x="8915400" y="4341093"/>
            <a:ext cx="8476488" cy="77405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5343"/>
              </a:lnSpc>
              <a:buNone/>
            </a:pPr>
            <a:r>
              <a:rPr lang="en-US" sz="2100" dirty="0">
                <a:solidFill>
                  <a:srgbClr val="523236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When no one pulls, the resistor brings the line back to a known high level</a:t>
            </a:r>
            <a:endParaRPr lang="en-US" sz="2100" dirty="0"/>
          </a:p>
        </p:txBody>
      </p:sp>
      <p:sp>
        <p:nvSpPr>
          <p:cNvPr id="16" name="Shape 13"/>
          <p:cNvSpPr/>
          <p:nvPr/>
        </p:nvSpPr>
        <p:spPr>
          <a:xfrm>
            <a:off x="8534400" y="5381848"/>
            <a:ext cx="152400" cy="152400"/>
          </a:xfrm>
          <a:prstGeom prst="ellipse">
            <a:avLst/>
          </a:prstGeom>
          <a:solidFill>
            <a:srgbClr val="FF6F59"/>
          </a:solidFill>
          <a:ln/>
        </p:spPr>
      </p:sp>
      <p:sp>
        <p:nvSpPr>
          <p:cNvPr id="17" name="Text 14"/>
          <p:cNvSpPr/>
          <p:nvPr/>
        </p:nvSpPr>
        <p:spPr>
          <a:xfrm>
            <a:off x="8915400" y="5267548"/>
            <a:ext cx="8476488" cy="77405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5343"/>
              </a:lnSpc>
              <a:buNone/>
            </a:pPr>
            <a:r>
              <a:rPr lang="en-US" sz="2100" dirty="0">
                <a:solidFill>
                  <a:srgbClr val="523236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Without pull-up, an idle line </a:t>
            </a:r>
            <a:pPr algn="l" indent="0" marL="0">
              <a:lnSpc>
                <a:spcPct val="115343"/>
              </a:lnSpc>
              <a:buNone/>
            </a:pPr>
            <a:r>
              <a:rPr lang="en-US" sz="2100" b="1" dirty="0">
                <a:solidFill>
                  <a:srgbClr val="2B1216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floats </a:t>
            </a:r>
            <a:pPr algn="l" indent="0" marL="0">
              <a:lnSpc>
                <a:spcPct val="115343"/>
              </a:lnSpc>
              <a:buNone/>
            </a:pPr>
            <a:r>
              <a:rPr lang="en-US" sz="2100" dirty="0">
                <a:solidFill>
                  <a:srgbClr val="523236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: neither high nor low, so readings become random</a:t>
            </a:r>
            <a:endParaRPr lang="en-US" sz="2100" dirty="0"/>
          </a:p>
        </p:txBody>
      </p:sp>
      <p:sp>
        <p:nvSpPr>
          <p:cNvPr id="18" name="Shape 15"/>
          <p:cNvSpPr/>
          <p:nvPr/>
        </p:nvSpPr>
        <p:spPr>
          <a:xfrm>
            <a:off x="8534400" y="6308303"/>
            <a:ext cx="152400" cy="152400"/>
          </a:xfrm>
          <a:prstGeom prst="ellipse">
            <a:avLst/>
          </a:prstGeom>
          <a:solidFill>
            <a:srgbClr val="FF6F59"/>
          </a:solidFill>
          <a:ln/>
        </p:spPr>
      </p:sp>
      <p:sp>
        <p:nvSpPr>
          <p:cNvPr id="19" name="Text 16"/>
          <p:cNvSpPr/>
          <p:nvPr/>
        </p:nvSpPr>
        <p:spPr>
          <a:xfrm>
            <a:off x="8915400" y="6194003"/>
            <a:ext cx="8476488" cy="77405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5343"/>
              </a:lnSpc>
              <a:buNone/>
            </a:pPr>
            <a:r>
              <a:rPr lang="en-US" sz="2100" dirty="0">
                <a:solidFill>
                  <a:srgbClr val="523236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Both SDA and SCL need one, typically a few kΩ (10 kΩ in the SHTC3 example)</a:t>
            </a:r>
            <a:endParaRPr lang="en-US" sz="2100" dirty="0"/>
          </a:p>
        </p:txBody>
      </p:sp>
      <p:sp>
        <p:nvSpPr>
          <p:cNvPr id="20" name="Shape 17"/>
          <p:cNvSpPr/>
          <p:nvPr/>
        </p:nvSpPr>
        <p:spPr>
          <a:xfrm>
            <a:off x="8534400" y="7272858"/>
            <a:ext cx="8610600" cy="19050"/>
          </a:xfrm>
          <a:prstGeom prst="rect">
            <a:avLst/>
          </a:prstGeom>
          <a:solidFill>
            <a:srgbClr val="EBD6CB"/>
          </a:solidFill>
          <a:ln/>
        </p:spPr>
      </p:sp>
      <p:sp>
        <p:nvSpPr>
          <p:cNvPr id="21" name="Text 18"/>
          <p:cNvSpPr/>
          <p:nvPr/>
        </p:nvSpPr>
        <p:spPr>
          <a:xfrm>
            <a:off x="8534400" y="7520508"/>
            <a:ext cx="2414573" cy="3535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5143"/>
              </a:lnSpc>
              <a:buNone/>
            </a:pPr>
            <a:r>
              <a:rPr lang="en-US" sz="1800" b="1" dirty="0">
                <a:solidFill>
                  <a:srgbClr val="2B121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Idle </a:t>
            </a:r>
            <a:pPr algn="l" indent="0" marL="0">
              <a:lnSpc>
                <a:spcPct val="105143"/>
              </a:lnSpc>
              <a:buNone/>
            </a:pPr>
            <a:r>
              <a:rPr lang="en-US" sz="1800" dirty="0">
                <a:solidFill>
                  <a:srgbClr val="52323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→ line high</a:t>
            </a:r>
            <a:endParaRPr lang="en-US" sz="1800" dirty="0"/>
          </a:p>
        </p:txBody>
      </p:sp>
      <p:sp>
        <p:nvSpPr>
          <p:cNvPr id="22" name="Text 19"/>
          <p:cNvSpPr/>
          <p:nvPr/>
        </p:nvSpPr>
        <p:spPr>
          <a:xfrm>
            <a:off x="11262866" y="7520508"/>
            <a:ext cx="4828654" cy="3535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5143"/>
              </a:lnSpc>
              <a:buNone/>
            </a:pPr>
            <a:r>
              <a:rPr lang="en-US" sz="1800" b="1" dirty="0">
                <a:solidFill>
                  <a:srgbClr val="2B121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Talking </a:t>
            </a:r>
            <a:pPr algn="l" indent="0" marL="0">
              <a:lnSpc>
                <a:spcPct val="105143"/>
              </a:lnSpc>
              <a:buNone/>
            </a:pPr>
            <a:r>
              <a:rPr lang="en-US" sz="1800" dirty="0">
                <a:solidFill>
                  <a:srgbClr val="52323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→ pulled low when needed</a:t>
            </a:r>
            <a:endParaRPr lang="en-US" sz="1800" dirty="0"/>
          </a:p>
        </p:txBody>
      </p:sp>
      <p:sp>
        <p:nvSpPr>
          <p:cNvPr id="23" name="Text 20"/>
          <p:cNvSpPr/>
          <p:nvPr/>
        </p:nvSpPr>
        <p:spPr>
          <a:xfrm>
            <a:off x="2286000" y="9096375"/>
            <a:ext cx="16344900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7D6164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Pull-ups may also be built into a microcontroller or a sensor breakout board. Source: SHTC3 datasheet, section 4.</a:t>
            </a:r>
            <a:endParaRPr lang="en-US" sz="18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8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" cy="10287000"/>
          </a:xfrm>
          <a:prstGeom prst="rect">
            <a:avLst/>
          </a:prstGeom>
          <a:solidFill>
            <a:srgbClr val="D7263D"/>
          </a:solidFill>
          <a:ln/>
        </p:spPr>
      </p:sp>
      <p:sp>
        <p:nvSpPr>
          <p:cNvPr id="3" name="Text 1"/>
          <p:cNvSpPr/>
          <p:nvPr/>
        </p:nvSpPr>
        <p:spPr>
          <a:xfrm>
            <a:off x="341412" y="609600"/>
            <a:ext cx="612502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3019"/>
              </a:lnSpc>
              <a:buNone/>
            </a:pPr>
            <a:r>
              <a:rPr lang="en-US" sz="3300" b="1" dirty="0">
                <a:solidFill>
                  <a:srgbClr val="FFF8F2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06</a:t>
            </a:r>
            <a:endParaRPr lang="en-US" sz="3300" dirty="0"/>
          </a:p>
        </p:txBody>
      </p:sp>
      <p:sp>
        <p:nvSpPr>
          <p:cNvPr id="4" name="Text 2"/>
          <p:cNvSpPr/>
          <p:nvPr/>
        </p:nvSpPr>
        <p:spPr>
          <a:xfrm rot="10800000">
            <a:off x="471488" y="1409700"/>
            <a:ext cx="352425" cy="463451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 vert="eaVert">
            <a:normAutofit/>
          </a:bodyPr>
          <a:lstStyle/>
          <a:p>
            <a:pPr algn="l" indent="0" marL="0">
              <a:buNone/>
            </a:pPr>
            <a:r>
              <a:rPr lang="en-US" sz="1800" b="1" spc="288" kern="0" dirty="0">
                <a:solidFill>
                  <a:srgbClr val="FFD9D2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I²C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419100" y="8767763"/>
            <a:ext cx="381000" cy="381000"/>
          </a:xfrm>
          <a:prstGeom prst="ellipse">
            <a:avLst/>
          </a:prstGeom>
          <a:solidFill>
            <a:srgbClr val="FF6F59"/>
          </a:solidFill>
          <a:ln/>
        </p:spPr>
      </p:sp>
      <p:sp>
        <p:nvSpPr>
          <p:cNvPr id="6" name="Text 4"/>
          <p:cNvSpPr/>
          <p:nvPr/>
        </p:nvSpPr>
        <p:spPr>
          <a:xfrm>
            <a:off x="472380" y="9453563"/>
            <a:ext cx="350565" cy="3381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FFF8F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26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17240250" y="-1047750"/>
            <a:ext cx="2095500" cy="2095500"/>
          </a:xfrm>
          <a:prstGeom prst="ellipse">
            <a:avLst/>
          </a:prstGeom>
          <a:solidFill>
            <a:srgbClr val="FF6F59"/>
          </a:solidFill>
          <a:ln/>
        </p:spPr>
      </p:sp>
      <p:sp>
        <p:nvSpPr>
          <p:cNvPr id="8" name="Shape 6"/>
          <p:cNvSpPr/>
          <p:nvPr/>
        </p:nvSpPr>
        <p:spPr>
          <a:xfrm>
            <a:off x="2286000" y="1052513"/>
            <a:ext cx="152400" cy="152400"/>
          </a:xfrm>
          <a:prstGeom prst="ellipse">
            <a:avLst/>
          </a:prstGeom>
          <a:solidFill>
            <a:srgbClr val="FF6F59"/>
          </a:solidFill>
          <a:ln/>
        </p:spPr>
      </p:sp>
      <p:sp>
        <p:nvSpPr>
          <p:cNvPr id="9" name="Text 7"/>
          <p:cNvSpPr/>
          <p:nvPr/>
        </p:nvSpPr>
        <p:spPr>
          <a:xfrm>
            <a:off x="2590800" y="990600"/>
            <a:ext cx="1688678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288" kern="0" dirty="0">
                <a:solidFill>
                  <a:srgbClr val="B81D35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PROTOCOL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2286000" y="1495425"/>
            <a:ext cx="15716250" cy="79816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7692"/>
              </a:lnSpc>
              <a:buNone/>
            </a:pPr>
            <a:r>
              <a:rPr lang="en-US" sz="5700" b="1" spc="-171" kern="0" dirty="0">
                <a:solidFill>
                  <a:srgbClr val="2B1216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Every exchange starts with an address</a:t>
            </a:r>
            <a:endParaRPr lang="en-US" sz="5700" dirty="0"/>
          </a:p>
        </p:txBody>
      </p:sp>
      <p:sp>
        <p:nvSpPr>
          <p:cNvPr id="11" name="Text 9"/>
          <p:cNvSpPr/>
          <p:nvPr/>
        </p:nvSpPr>
        <p:spPr>
          <a:xfrm>
            <a:off x="3924300" y="2788890"/>
            <a:ext cx="764753" cy="3381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7D616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start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4371845" y="2788890"/>
            <a:ext cx="5302188" cy="3381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800" dirty="0">
                <a:solidFill>
                  <a:srgbClr val="7D616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7-bit address · 0x70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9394924" y="2788890"/>
            <a:ext cx="764753" cy="3381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800" dirty="0">
                <a:solidFill>
                  <a:srgbClr val="7D616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R/W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1016704" y="2788890"/>
            <a:ext cx="4544616" cy="3381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800" dirty="0">
                <a:solidFill>
                  <a:srgbClr val="7D616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data byte(s)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6380247" y="2788890"/>
            <a:ext cx="764753" cy="3381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1800" dirty="0">
                <a:solidFill>
                  <a:srgbClr val="7D616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stop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2286000" y="3448496"/>
            <a:ext cx="1466850" cy="4238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550" b="1" dirty="0">
                <a:solidFill>
                  <a:srgbClr val="2B1216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Write</a:t>
            </a:r>
            <a:endParaRPr lang="en-US" sz="2550" dirty="0"/>
          </a:p>
        </p:txBody>
      </p:sp>
      <p:sp>
        <p:nvSpPr>
          <p:cNvPr id="17" name="Shape 15"/>
          <p:cNvSpPr/>
          <p:nvPr/>
        </p:nvSpPr>
        <p:spPr>
          <a:xfrm>
            <a:off x="3924300" y="3984278"/>
            <a:ext cx="13220700" cy="19050"/>
          </a:xfrm>
          <a:prstGeom prst="rect">
            <a:avLst/>
          </a:prstGeom>
          <a:solidFill>
            <a:srgbClr val="2B1216"/>
          </a:solidFill>
          <a:ln/>
        </p:spPr>
      </p:sp>
      <p:sp>
        <p:nvSpPr>
          <p:cNvPr id="18" name="Shape 16"/>
          <p:cNvSpPr/>
          <p:nvPr/>
        </p:nvSpPr>
        <p:spPr>
          <a:xfrm>
            <a:off x="3924300" y="3279428"/>
            <a:ext cx="13220700" cy="19050"/>
          </a:xfrm>
          <a:prstGeom prst="rect">
            <a:avLst/>
          </a:prstGeom>
          <a:solidFill>
            <a:srgbClr val="2B1216"/>
          </a:solidFill>
          <a:ln/>
        </p:spPr>
      </p:sp>
      <p:sp>
        <p:nvSpPr>
          <p:cNvPr id="19" name="Shape 17"/>
          <p:cNvSpPr/>
          <p:nvPr/>
        </p:nvSpPr>
        <p:spPr>
          <a:xfrm>
            <a:off x="3924300" y="3279428"/>
            <a:ext cx="19050" cy="723900"/>
          </a:xfrm>
          <a:prstGeom prst="rect">
            <a:avLst/>
          </a:prstGeom>
          <a:solidFill>
            <a:srgbClr val="2B1216"/>
          </a:solidFill>
          <a:ln/>
        </p:spPr>
      </p:sp>
      <p:sp>
        <p:nvSpPr>
          <p:cNvPr id="20" name="Shape 18"/>
          <p:cNvSpPr/>
          <p:nvPr/>
        </p:nvSpPr>
        <p:spPr>
          <a:xfrm>
            <a:off x="3943350" y="3298478"/>
            <a:ext cx="693688" cy="685800"/>
          </a:xfrm>
          <a:prstGeom prst="rect">
            <a:avLst/>
          </a:prstGeom>
          <a:solidFill>
            <a:srgbClr val="FCEEE4"/>
          </a:solidFill>
          <a:ln/>
        </p:spPr>
      </p:sp>
      <p:sp>
        <p:nvSpPr>
          <p:cNvPr id="21" name="Shape 19"/>
          <p:cNvSpPr/>
          <p:nvPr/>
        </p:nvSpPr>
        <p:spPr>
          <a:xfrm>
            <a:off x="4617988" y="3298478"/>
            <a:ext cx="19050" cy="685800"/>
          </a:xfrm>
          <a:prstGeom prst="rect">
            <a:avLst/>
          </a:prstGeom>
          <a:solidFill>
            <a:srgbClr val="2B1216"/>
          </a:solidFill>
          <a:ln/>
        </p:spPr>
      </p:sp>
      <p:sp>
        <p:nvSpPr>
          <p:cNvPr id="22" name="Text 20"/>
          <p:cNvSpPr/>
          <p:nvPr/>
        </p:nvSpPr>
        <p:spPr>
          <a:xfrm>
            <a:off x="3905250" y="3298478"/>
            <a:ext cx="750838" cy="723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950" b="1" dirty="0">
                <a:solidFill>
                  <a:srgbClr val="2B121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</a:t>
            </a:r>
            <a:endParaRPr lang="en-US" sz="1950" dirty="0"/>
          </a:p>
        </p:txBody>
      </p:sp>
      <p:sp>
        <p:nvSpPr>
          <p:cNvPr id="23" name="Shape 21"/>
          <p:cNvSpPr/>
          <p:nvPr/>
        </p:nvSpPr>
        <p:spPr>
          <a:xfrm>
            <a:off x="4637038" y="3298478"/>
            <a:ext cx="693762" cy="685800"/>
          </a:xfrm>
          <a:prstGeom prst="rect">
            <a:avLst/>
          </a:prstGeom>
          <a:solidFill>
            <a:srgbClr val="FCEEE4"/>
          </a:solidFill>
          <a:ln/>
        </p:spPr>
      </p:sp>
      <p:sp>
        <p:nvSpPr>
          <p:cNvPr id="24" name="Shape 22"/>
          <p:cNvSpPr/>
          <p:nvPr/>
        </p:nvSpPr>
        <p:spPr>
          <a:xfrm>
            <a:off x="5311750" y="3298478"/>
            <a:ext cx="19050" cy="685800"/>
          </a:xfrm>
          <a:prstGeom prst="rect">
            <a:avLst/>
          </a:prstGeom>
          <a:solidFill>
            <a:srgbClr val="2B1216"/>
          </a:solidFill>
          <a:ln/>
        </p:spPr>
      </p:sp>
      <p:sp>
        <p:nvSpPr>
          <p:cNvPr id="25" name="Text 23"/>
          <p:cNvSpPr/>
          <p:nvPr/>
        </p:nvSpPr>
        <p:spPr>
          <a:xfrm>
            <a:off x="4598938" y="3298478"/>
            <a:ext cx="750912" cy="723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950" b="1" dirty="0">
                <a:solidFill>
                  <a:srgbClr val="2B121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</a:t>
            </a:r>
            <a:endParaRPr lang="en-US" sz="1950" dirty="0"/>
          </a:p>
        </p:txBody>
      </p:sp>
      <p:sp>
        <p:nvSpPr>
          <p:cNvPr id="26" name="Shape 24"/>
          <p:cNvSpPr/>
          <p:nvPr/>
        </p:nvSpPr>
        <p:spPr>
          <a:xfrm>
            <a:off x="5330800" y="3298478"/>
            <a:ext cx="693688" cy="685800"/>
          </a:xfrm>
          <a:prstGeom prst="rect">
            <a:avLst/>
          </a:prstGeom>
          <a:solidFill>
            <a:srgbClr val="FCEEE4"/>
          </a:solidFill>
          <a:ln/>
        </p:spPr>
      </p:sp>
      <p:sp>
        <p:nvSpPr>
          <p:cNvPr id="27" name="Shape 25"/>
          <p:cNvSpPr/>
          <p:nvPr/>
        </p:nvSpPr>
        <p:spPr>
          <a:xfrm>
            <a:off x="6005438" y="3298478"/>
            <a:ext cx="19050" cy="685800"/>
          </a:xfrm>
          <a:prstGeom prst="rect">
            <a:avLst/>
          </a:prstGeom>
          <a:solidFill>
            <a:srgbClr val="2B1216"/>
          </a:solidFill>
          <a:ln/>
        </p:spPr>
      </p:sp>
      <p:sp>
        <p:nvSpPr>
          <p:cNvPr id="28" name="Text 26"/>
          <p:cNvSpPr/>
          <p:nvPr/>
        </p:nvSpPr>
        <p:spPr>
          <a:xfrm>
            <a:off x="5292700" y="3298478"/>
            <a:ext cx="750838" cy="723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950" b="1" dirty="0">
                <a:solidFill>
                  <a:srgbClr val="2B121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</a:t>
            </a:r>
            <a:endParaRPr lang="en-US" sz="1950" dirty="0"/>
          </a:p>
        </p:txBody>
      </p:sp>
      <p:sp>
        <p:nvSpPr>
          <p:cNvPr id="29" name="Shape 27"/>
          <p:cNvSpPr/>
          <p:nvPr/>
        </p:nvSpPr>
        <p:spPr>
          <a:xfrm>
            <a:off x="6024488" y="3298478"/>
            <a:ext cx="693762" cy="685800"/>
          </a:xfrm>
          <a:prstGeom prst="rect">
            <a:avLst/>
          </a:prstGeom>
          <a:solidFill>
            <a:srgbClr val="FCEEE4"/>
          </a:solidFill>
          <a:ln/>
        </p:spPr>
      </p:sp>
      <p:sp>
        <p:nvSpPr>
          <p:cNvPr id="30" name="Shape 28"/>
          <p:cNvSpPr/>
          <p:nvPr/>
        </p:nvSpPr>
        <p:spPr>
          <a:xfrm>
            <a:off x="6699200" y="3298478"/>
            <a:ext cx="19050" cy="685800"/>
          </a:xfrm>
          <a:prstGeom prst="rect">
            <a:avLst/>
          </a:prstGeom>
          <a:solidFill>
            <a:srgbClr val="2B1216"/>
          </a:solidFill>
          <a:ln/>
        </p:spPr>
      </p:sp>
      <p:sp>
        <p:nvSpPr>
          <p:cNvPr id="31" name="Text 29"/>
          <p:cNvSpPr/>
          <p:nvPr/>
        </p:nvSpPr>
        <p:spPr>
          <a:xfrm>
            <a:off x="5986388" y="3298478"/>
            <a:ext cx="750912" cy="723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950" b="1" dirty="0">
                <a:solidFill>
                  <a:srgbClr val="2B121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</a:t>
            </a:r>
            <a:endParaRPr lang="en-US" sz="1950" dirty="0"/>
          </a:p>
        </p:txBody>
      </p:sp>
      <p:sp>
        <p:nvSpPr>
          <p:cNvPr id="32" name="Shape 30"/>
          <p:cNvSpPr/>
          <p:nvPr/>
        </p:nvSpPr>
        <p:spPr>
          <a:xfrm>
            <a:off x="6718250" y="3298478"/>
            <a:ext cx="693688" cy="685800"/>
          </a:xfrm>
          <a:prstGeom prst="rect">
            <a:avLst/>
          </a:prstGeom>
          <a:solidFill>
            <a:srgbClr val="FCEEE4"/>
          </a:solidFill>
          <a:ln/>
        </p:spPr>
      </p:sp>
      <p:sp>
        <p:nvSpPr>
          <p:cNvPr id="33" name="Shape 31"/>
          <p:cNvSpPr/>
          <p:nvPr/>
        </p:nvSpPr>
        <p:spPr>
          <a:xfrm>
            <a:off x="7392888" y="3298478"/>
            <a:ext cx="19050" cy="685800"/>
          </a:xfrm>
          <a:prstGeom prst="rect">
            <a:avLst/>
          </a:prstGeom>
          <a:solidFill>
            <a:srgbClr val="2B1216"/>
          </a:solidFill>
          <a:ln/>
        </p:spPr>
      </p:sp>
      <p:sp>
        <p:nvSpPr>
          <p:cNvPr id="34" name="Text 32"/>
          <p:cNvSpPr/>
          <p:nvPr/>
        </p:nvSpPr>
        <p:spPr>
          <a:xfrm>
            <a:off x="6680150" y="3298478"/>
            <a:ext cx="750838" cy="723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950" b="1" dirty="0">
                <a:solidFill>
                  <a:srgbClr val="2B121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</a:t>
            </a:r>
            <a:endParaRPr lang="en-US" sz="1950" dirty="0"/>
          </a:p>
        </p:txBody>
      </p:sp>
      <p:sp>
        <p:nvSpPr>
          <p:cNvPr id="35" name="Shape 33"/>
          <p:cNvSpPr/>
          <p:nvPr/>
        </p:nvSpPr>
        <p:spPr>
          <a:xfrm>
            <a:off x="7411938" y="3298478"/>
            <a:ext cx="693762" cy="685800"/>
          </a:xfrm>
          <a:prstGeom prst="rect">
            <a:avLst/>
          </a:prstGeom>
          <a:solidFill>
            <a:srgbClr val="FCEEE4"/>
          </a:solidFill>
          <a:ln/>
        </p:spPr>
      </p:sp>
      <p:sp>
        <p:nvSpPr>
          <p:cNvPr id="36" name="Shape 34"/>
          <p:cNvSpPr/>
          <p:nvPr/>
        </p:nvSpPr>
        <p:spPr>
          <a:xfrm>
            <a:off x="8086651" y="3298478"/>
            <a:ext cx="19050" cy="685800"/>
          </a:xfrm>
          <a:prstGeom prst="rect">
            <a:avLst/>
          </a:prstGeom>
          <a:solidFill>
            <a:srgbClr val="2B1216"/>
          </a:solidFill>
          <a:ln/>
        </p:spPr>
      </p:sp>
      <p:sp>
        <p:nvSpPr>
          <p:cNvPr id="37" name="Text 35"/>
          <p:cNvSpPr/>
          <p:nvPr/>
        </p:nvSpPr>
        <p:spPr>
          <a:xfrm>
            <a:off x="7373838" y="3298478"/>
            <a:ext cx="750912" cy="723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950" b="1" dirty="0">
                <a:solidFill>
                  <a:srgbClr val="2B121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</a:t>
            </a:r>
            <a:endParaRPr lang="en-US" sz="1950" dirty="0"/>
          </a:p>
        </p:txBody>
      </p:sp>
      <p:sp>
        <p:nvSpPr>
          <p:cNvPr id="38" name="Shape 36"/>
          <p:cNvSpPr/>
          <p:nvPr/>
        </p:nvSpPr>
        <p:spPr>
          <a:xfrm>
            <a:off x="8105701" y="3298478"/>
            <a:ext cx="693688" cy="685800"/>
          </a:xfrm>
          <a:prstGeom prst="rect">
            <a:avLst/>
          </a:prstGeom>
          <a:solidFill>
            <a:srgbClr val="FCEEE4"/>
          </a:solidFill>
          <a:ln/>
        </p:spPr>
      </p:sp>
      <p:sp>
        <p:nvSpPr>
          <p:cNvPr id="39" name="Shape 37"/>
          <p:cNvSpPr/>
          <p:nvPr/>
        </p:nvSpPr>
        <p:spPr>
          <a:xfrm>
            <a:off x="8780338" y="3298478"/>
            <a:ext cx="19050" cy="685800"/>
          </a:xfrm>
          <a:prstGeom prst="rect">
            <a:avLst/>
          </a:prstGeom>
          <a:solidFill>
            <a:srgbClr val="2B1216"/>
          </a:solidFill>
          <a:ln/>
        </p:spPr>
      </p:sp>
      <p:sp>
        <p:nvSpPr>
          <p:cNvPr id="40" name="Text 38"/>
          <p:cNvSpPr/>
          <p:nvPr/>
        </p:nvSpPr>
        <p:spPr>
          <a:xfrm>
            <a:off x="8067601" y="3298478"/>
            <a:ext cx="750838" cy="723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950" b="1" dirty="0">
                <a:solidFill>
                  <a:srgbClr val="2B121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</a:t>
            </a:r>
            <a:endParaRPr lang="en-US" sz="1950" dirty="0"/>
          </a:p>
        </p:txBody>
      </p:sp>
      <p:sp>
        <p:nvSpPr>
          <p:cNvPr id="41" name="Shape 39"/>
          <p:cNvSpPr/>
          <p:nvPr/>
        </p:nvSpPr>
        <p:spPr>
          <a:xfrm>
            <a:off x="8799388" y="3298478"/>
            <a:ext cx="693762" cy="685800"/>
          </a:xfrm>
          <a:prstGeom prst="rect">
            <a:avLst/>
          </a:prstGeom>
          <a:solidFill>
            <a:srgbClr val="FCEEE4"/>
          </a:solidFill>
          <a:ln/>
        </p:spPr>
      </p:sp>
      <p:sp>
        <p:nvSpPr>
          <p:cNvPr id="42" name="Shape 40"/>
          <p:cNvSpPr/>
          <p:nvPr/>
        </p:nvSpPr>
        <p:spPr>
          <a:xfrm>
            <a:off x="9474101" y="3298478"/>
            <a:ext cx="19050" cy="685800"/>
          </a:xfrm>
          <a:prstGeom prst="rect">
            <a:avLst/>
          </a:prstGeom>
          <a:solidFill>
            <a:srgbClr val="2B1216"/>
          </a:solidFill>
          <a:ln/>
        </p:spPr>
      </p:sp>
      <p:sp>
        <p:nvSpPr>
          <p:cNvPr id="43" name="Text 41"/>
          <p:cNvSpPr/>
          <p:nvPr/>
        </p:nvSpPr>
        <p:spPr>
          <a:xfrm>
            <a:off x="8761288" y="3298478"/>
            <a:ext cx="750912" cy="723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950" b="1" dirty="0">
                <a:solidFill>
                  <a:srgbClr val="2B121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</a:t>
            </a:r>
            <a:endParaRPr lang="en-US" sz="1950" dirty="0"/>
          </a:p>
        </p:txBody>
      </p:sp>
      <p:sp>
        <p:nvSpPr>
          <p:cNvPr id="44" name="Shape 42"/>
          <p:cNvSpPr/>
          <p:nvPr/>
        </p:nvSpPr>
        <p:spPr>
          <a:xfrm>
            <a:off x="9493151" y="3298478"/>
            <a:ext cx="693762" cy="685800"/>
          </a:xfrm>
          <a:prstGeom prst="rect">
            <a:avLst/>
          </a:prstGeom>
          <a:solidFill>
            <a:srgbClr val="D7263D"/>
          </a:solidFill>
          <a:ln/>
        </p:spPr>
      </p:sp>
      <p:sp>
        <p:nvSpPr>
          <p:cNvPr id="45" name="Shape 43"/>
          <p:cNvSpPr/>
          <p:nvPr/>
        </p:nvSpPr>
        <p:spPr>
          <a:xfrm>
            <a:off x="10167863" y="3298478"/>
            <a:ext cx="19050" cy="685800"/>
          </a:xfrm>
          <a:prstGeom prst="rect">
            <a:avLst/>
          </a:prstGeom>
          <a:solidFill>
            <a:srgbClr val="2B1216"/>
          </a:solidFill>
          <a:ln/>
        </p:spPr>
      </p:sp>
      <p:sp>
        <p:nvSpPr>
          <p:cNvPr id="46" name="Text 44"/>
          <p:cNvSpPr/>
          <p:nvPr/>
        </p:nvSpPr>
        <p:spPr>
          <a:xfrm>
            <a:off x="9455051" y="3298478"/>
            <a:ext cx="750912" cy="723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950" b="1" dirty="0">
                <a:solidFill>
                  <a:srgbClr val="FFF8F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</a:t>
            </a:r>
            <a:endParaRPr lang="en-US" sz="1950" dirty="0"/>
          </a:p>
        </p:txBody>
      </p:sp>
      <p:sp>
        <p:nvSpPr>
          <p:cNvPr id="47" name="Shape 45"/>
          <p:cNvSpPr/>
          <p:nvPr/>
        </p:nvSpPr>
        <p:spPr>
          <a:xfrm>
            <a:off x="10186913" y="3298478"/>
            <a:ext cx="1098575" cy="685800"/>
          </a:xfrm>
          <a:prstGeom prst="rect">
            <a:avLst/>
          </a:prstGeom>
          <a:solidFill>
            <a:srgbClr val="FFD9D2"/>
          </a:solidFill>
          <a:ln/>
        </p:spPr>
      </p:sp>
      <p:sp>
        <p:nvSpPr>
          <p:cNvPr id="48" name="Shape 46"/>
          <p:cNvSpPr/>
          <p:nvPr/>
        </p:nvSpPr>
        <p:spPr>
          <a:xfrm>
            <a:off x="11266438" y="3298478"/>
            <a:ext cx="19050" cy="685800"/>
          </a:xfrm>
          <a:prstGeom prst="rect">
            <a:avLst/>
          </a:prstGeom>
          <a:solidFill>
            <a:srgbClr val="2B1216"/>
          </a:solidFill>
          <a:ln/>
        </p:spPr>
      </p:sp>
      <p:sp>
        <p:nvSpPr>
          <p:cNvPr id="49" name="Text 47"/>
          <p:cNvSpPr/>
          <p:nvPr/>
        </p:nvSpPr>
        <p:spPr>
          <a:xfrm>
            <a:off x="10148813" y="3298478"/>
            <a:ext cx="1155725" cy="723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950" b="1" dirty="0">
                <a:solidFill>
                  <a:srgbClr val="2B121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ACK</a:t>
            </a:r>
            <a:endParaRPr lang="en-US" sz="1950" dirty="0"/>
          </a:p>
        </p:txBody>
      </p:sp>
      <p:sp>
        <p:nvSpPr>
          <p:cNvPr id="50" name="Shape 48"/>
          <p:cNvSpPr/>
          <p:nvPr/>
        </p:nvSpPr>
        <p:spPr>
          <a:xfrm>
            <a:off x="11285488" y="3298478"/>
            <a:ext cx="4067175" cy="685800"/>
          </a:xfrm>
          <a:prstGeom prst="rect">
            <a:avLst/>
          </a:prstGeom>
          <a:solidFill>
            <a:srgbClr val="FCEEE4"/>
          </a:solidFill>
          <a:ln/>
        </p:spPr>
      </p:sp>
      <p:sp>
        <p:nvSpPr>
          <p:cNvPr id="51" name="Shape 49"/>
          <p:cNvSpPr/>
          <p:nvPr/>
        </p:nvSpPr>
        <p:spPr>
          <a:xfrm>
            <a:off x="15333613" y="3298478"/>
            <a:ext cx="19050" cy="685800"/>
          </a:xfrm>
          <a:prstGeom prst="rect">
            <a:avLst/>
          </a:prstGeom>
          <a:solidFill>
            <a:srgbClr val="2B1216"/>
          </a:solidFill>
          <a:ln/>
        </p:spPr>
      </p:sp>
      <p:sp>
        <p:nvSpPr>
          <p:cNvPr id="52" name="Text 50"/>
          <p:cNvSpPr/>
          <p:nvPr/>
        </p:nvSpPr>
        <p:spPr>
          <a:xfrm>
            <a:off x="11224480" y="3298478"/>
            <a:ext cx="4170140" cy="723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950" b="1" dirty="0">
                <a:solidFill>
                  <a:srgbClr val="2B121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command or register → sensor</a:t>
            </a:r>
            <a:endParaRPr lang="en-US" sz="1950" dirty="0"/>
          </a:p>
        </p:txBody>
      </p:sp>
      <p:sp>
        <p:nvSpPr>
          <p:cNvPr id="53" name="Shape 51"/>
          <p:cNvSpPr/>
          <p:nvPr/>
        </p:nvSpPr>
        <p:spPr>
          <a:xfrm>
            <a:off x="15352663" y="3298478"/>
            <a:ext cx="1098575" cy="685800"/>
          </a:xfrm>
          <a:prstGeom prst="rect">
            <a:avLst/>
          </a:prstGeom>
          <a:solidFill>
            <a:srgbClr val="FFD9D2"/>
          </a:solidFill>
          <a:ln/>
        </p:spPr>
      </p:sp>
      <p:sp>
        <p:nvSpPr>
          <p:cNvPr id="54" name="Shape 52"/>
          <p:cNvSpPr/>
          <p:nvPr/>
        </p:nvSpPr>
        <p:spPr>
          <a:xfrm>
            <a:off x="16432188" y="3298478"/>
            <a:ext cx="19050" cy="685800"/>
          </a:xfrm>
          <a:prstGeom prst="rect">
            <a:avLst/>
          </a:prstGeom>
          <a:solidFill>
            <a:srgbClr val="2B1216"/>
          </a:solidFill>
          <a:ln/>
        </p:spPr>
      </p:sp>
      <p:sp>
        <p:nvSpPr>
          <p:cNvPr id="55" name="Text 53"/>
          <p:cNvSpPr/>
          <p:nvPr/>
        </p:nvSpPr>
        <p:spPr>
          <a:xfrm>
            <a:off x="15314563" y="3298478"/>
            <a:ext cx="1155725" cy="723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950" b="1" dirty="0">
                <a:solidFill>
                  <a:srgbClr val="2B121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ACK</a:t>
            </a:r>
            <a:endParaRPr lang="en-US" sz="1950" dirty="0"/>
          </a:p>
        </p:txBody>
      </p:sp>
      <p:sp>
        <p:nvSpPr>
          <p:cNvPr id="56" name="Shape 54"/>
          <p:cNvSpPr/>
          <p:nvPr/>
        </p:nvSpPr>
        <p:spPr>
          <a:xfrm>
            <a:off x="16451238" y="3298478"/>
            <a:ext cx="693762" cy="685800"/>
          </a:xfrm>
          <a:prstGeom prst="rect">
            <a:avLst/>
          </a:prstGeom>
          <a:solidFill>
            <a:srgbClr val="FCEEE4"/>
          </a:solidFill>
          <a:ln/>
        </p:spPr>
      </p:sp>
      <p:sp>
        <p:nvSpPr>
          <p:cNvPr id="57" name="Shape 55"/>
          <p:cNvSpPr/>
          <p:nvPr/>
        </p:nvSpPr>
        <p:spPr>
          <a:xfrm>
            <a:off x="17125950" y="3298478"/>
            <a:ext cx="19050" cy="685800"/>
          </a:xfrm>
          <a:prstGeom prst="rect">
            <a:avLst/>
          </a:prstGeom>
          <a:solidFill>
            <a:srgbClr val="2B1216"/>
          </a:solidFill>
          <a:ln/>
        </p:spPr>
      </p:sp>
      <p:sp>
        <p:nvSpPr>
          <p:cNvPr id="58" name="Text 56"/>
          <p:cNvSpPr/>
          <p:nvPr/>
        </p:nvSpPr>
        <p:spPr>
          <a:xfrm>
            <a:off x="16413138" y="3298478"/>
            <a:ext cx="750912" cy="723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950" b="1" dirty="0">
                <a:solidFill>
                  <a:srgbClr val="2B121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</a:t>
            </a:r>
            <a:endParaRPr lang="en-US" sz="1950" dirty="0"/>
          </a:p>
        </p:txBody>
      </p:sp>
      <p:sp>
        <p:nvSpPr>
          <p:cNvPr id="59" name="Text 57"/>
          <p:cNvSpPr/>
          <p:nvPr/>
        </p:nvSpPr>
        <p:spPr>
          <a:xfrm>
            <a:off x="2286000" y="4362896"/>
            <a:ext cx="1466850" cy="4238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550" b="1" dirty="0">
                <a:solidFill>
                  <a:srgbClr val="2B1216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Read</a:t>
            </a:r>
            <a:endParaRPr lang="en-US" sz="2550" dirty="0"/>
          </a:p>
        </p:txBody>
      </p:sp>
      <p:sp>
        <p:nvSpPr>
          <p:cNvPr id="60" name="Shape 58"/>
          <p:cNvSpPr/>
          <p:nvPr/>
        </p:nvSpPr>
        <p:spPr>
          <a:xfrm>
            <a:off x="3924300" y="4898678"/>
            <a:ext cx="13220700" cy="19050"/>
          </a:xfrm>
          <a:prstGeom prst="rect">
            <a:avLst/>
          </a:prstGeom>
          <a:solidFill>
            <a:srgbClr val="2B1216"/>
          </a:solidFill>
          <a:ln/>
        </p:spPr>
      </p:sp>
      <p:sp>
        <p:nvSpPr>
          <p:cNvPr id="61" name="Shape 59"/>
          <p:cNvSpPr/>
          <p:nvPr/>
        </p:nvSpPr>
        <p:spPr>
          <a:xfrm>
            <a:off x="3924300" y="4193828"/>
            <a:ext cx="13220700" cy="19050"/>
          </a:xfrm>
          <a:prstGeom prst="rect">
            <a:avLst/>
          </a:prstGeom>
          <a:solidFill>
            <a:srgbClr val="2B1216"/>
          </a:solidFill>
          <a:ln/>
        </p:spPr>
      </p:sp>
      <p:sp>
        <p:nvSpPr>
          <p:cNvPr id="62" name="Shape 60"/>
          <p:cNvSpPr/>
          <p:nvPr/>
        </p:nvSpPr>
        <p:spPr>
          <a:xfrm>
            <a:off x="3924300" y="4193828"/>
            <a:ext cx="19050" cy="723900"/>
          </a:xfrm>
          <a:prstGeom prst="rect">
            <a:avLst/>
          </a:prstGeom>
          <a:solidFill>
            <a:srgbClr val="2B1216"/>
          </a:solidFill>
          <a:ln/>
        </p:spPr>
      </p:sp>
      <p:sp>
        <p:nvSpPr>
          <p:cNvPr id="63" name="Shape 61"/>
          <p:cNvSpPr/>
          <p:nvPr/>
        </p:nvSpPr>
        <p:spPr>
          <a:xfrm>
            <a:off x="3943350" y="4212878"/>
            <a:ext cx="693688" cy="685800"/>
          </a:xfrm>
          <a:prstGeom prst="rect">
            <a:avLst/>
          </a:prstGeom>
          <a:solidFill>
            <a:srgbClr val="FCEEE4"/>
          </a:solidFill>
          <a:ln/>
        </p:spPr>
      </p:sp>
      <p:sp>
        <p:nvSpPr>
          <p:cNvPr id="64" name="Shape 62"/>
          <p:cNvSpPr/>
          <p:nvPr/>
        </p:nvSpPr>
        <p:spPr>
          <a:xfrm>
            <a:off x="4617988" y="4212878"/>
            <a:ext cx="19050" cy="685800"/>
          </a:xfrm>
          <a:prstGeom prst="rect">
            <a:avLst/>
          </a:prstGeom>
          <a:solidFill>
            <a:srgbClr val="2B1216"/>
          </a:solidFill>
          <a:ln/>
        </p:spPr>
      </p:sp>
      <p:sp>
        <p:nvSpPr>
          <p:cNvPr id="65" name="Text 63"/>
          <p:cNvSpPr/>
          <p:nvPr/>
        </p:nvSpPr>
        <p:spPr>
          <a:xfrm>
            <a:off x="3905250" y="4212878"/>
            <a:ext cx="750838" cy="723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950" b="1" dirty="0">
                <a:solidFill>
                  <a:srgbClr val="2B121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</a:t>
            </a:r>
            <a:endParaRPr lang="en-US" sz="1950" dirty="0"/>
          </a:p>
        </p:txBody>
      </p:sp>
      <p:sp>
        <p:nvSpPr>
          <p:cNvPr id="66" name="Shape 64"/>
          <p:cNvSpPr/>
          <p:nvPr/>
        </p:nvSpPr>
        <p:spPr>
          <a:xfrm>
            <a:off x="4637038" y="4212878"/>
            <a:ext cx="693762" cy="685800"/>
          </a:xfrm>
          <a:prstGeom prst="rect">
            <a:avLst/>
          </a:prstGeom>
          <a:solidFill>
            <a:srgbClr val="FCEEE4"/>
          </a:solidFill>
          <a:ln/>
        </p:spPr>
      </p:sp>
      <p:sp>
        <p:nvSpPr>
          <p:cNvPr id="67" name="Shape 65"/>
          <p:cNvSpPr/>
          <p:nvPr/>
        </p:nvSpPr>
        <p:spPr>
          <a:xfrm>
            <a:off x="5311750" y="4212878"/>
            <a:ext cx="19050" cy="685800"/>
          </a:xfrm>
          <a:prstGeom prst="rect">
            <a:avLst/>
          </a:prstGeom>
          <a:solidFill>
            <a:srgbClr val="2B1216"/>
          </a:solidFill>
          <a:ln/>
        </p:spPr>
      </p:sp>
      <p:sp>
        <p:nvSpPr>
          <p:cNvPr id="68" name="Text 66"/>
          <p:cNvSpPr/>
          <p:nvPr/>
        </p:nvSpPr>
        <p:spPr>
          <a:xfrm>
            <a:off x="4598938" y="4212878"/>
            <a:ext cx="750912" cy="723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950" b="1" dirty="0">
                <a:solidFill>
                  <a:srgbClr val="2B121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</a:t>
            </a:r>
            <a:endParaRPr lang="en-US" sz="1950" dirty="0"/>
          </a:p>
        </p:txBody>
      </p:sp>
      <p:sp>
        <p:nvSpPr>
          <p:cNvPr id="69" name="Shape 67"/>
          <p:cNvSpPr/>
          <p:nvPr/>
        </p:nvSpPr>
        <p:spPr>
          <a:xfrm>
            <a:off x="5330800" y="4212878"/>
            <a:ext cx="693688" cy="685800"/>
          </a:xfrm>
          <a:prstGeom prst="rect">
            <a:avLst/>
          </a:prstGeom>
          <a:solidFill>
            <a:srgbClr val="FCEEE4"/>
          </a:solidFill>
          <a:ln/>
        </p:spPr>
      </p:sp>
      <p:sp>
        <p:nvSpPr>
          <p:cNvPr id="70" name="Shape 68"/>
          <p:cNvSpPr/>
          <p:nvPr/>
        </p:nvSpPr>
        <p:spPr>
          <a:xfrm>
            <a:off x="6005438" y="4212878"/>
            <a:ext cx="19050" cy="685800"/>
          </a:xfrm>
          <a:prstGeom prst="rect">
            <a:avLst/>
          </a:prstGeom>
          <a:solidFill>
            <a:srgbClr val="2B1216"/>
          </a:solidFill>
          <a:ln/>
        </p:spPr>
      </p:sp>
      <p:sp>
        <p:nvSpPr>
          <p:cNvPr id="71" name="Text 69"/>
          <p:cNvSpPr/>
          <p:nvPr/>
        </p:nvSpPr>
        <p:spPr>
          <a:xfrm>
            <a:off x="5292700" y="4212878"/>
            <a:ext cx="750838" cy="723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950" b="1" dirty="0">
                <a:solidFill>
                  <a:srgbClr val="2B121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</a:t>
            </a:r>
            <a:endParaRPr lang="en-US" sz="1950" dirty="0"/>
          </a:p>
        </p:txBody>
      </p:sp>
      <p:sp>
        <p:nvSpPr>
          <p:cNvPr id="72" name="Shape 70"/>
          <p:cNvSpPr/>
          <p:nvPr/>
        </p:nvSpPr>
        <p:spPr>
          <a:xfrm>
            <a:off x="6024488" y="4212878"/>
            <a:ext cx="693762" cy="685800"/>
          </a:xfrm>
          <a:prstGeom prst="rect">
            <a:avLst/>
          </a:prstGeom>
          <a:solidFill>
            <a:srgbClr val="FCEEE4"/>
          </a:solidFill>
          <a:ln/>
        </p:spPr>
      </p:sp>
      <p:sp>
        <p:nvSpPr>
          <p:cNvPr id="73" name="Shape 71"/>
          <p:cNvSpPr/>
          <p:nvPr/>
        </p:nvSpPr>
        <p:spPr>
          <a:xfrm>
            <a:off x="6699200" y="4212878"/>
            <a:ext cx="19050" cy="685800"/>
          </a:xfrm>
          <a:prstGeom prst="rect">
            <a:avLst/>
          </a:prstGeom>
          <a:solidFill>
            <a:srgbClr val="2B1216"/>
          </a:solidFill>
          <a:ln/>
        </p:spPr>
      </p:sp>
      <p:sp>
        <p:nvSpPr>
          <p:cNvPr id="74" name="Text 72"/>
          <p:cNvSpPr/>
          <p:nvPr/>
        </p:nvSpPr>
        <p:spPr>
          <a:xfrm>
            <a:off x="5986388" y="4212878"/>
            <a:ext cx="750912" cy="723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950" b="1" dirty="0">
                <a:solidFill>
                  <a:srgbClr val="2B121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</a:t>
            </a:r>
            <a:endParaRPr lang="en-US" sz="1950" dirty="0"/>
          </a:p>
        </p:txBody>
      </p:sp>
      <p:sp>
        <p:nvSpPr>
          <p:cNvPr id="75" name="Shape 73"/>
          <p:cNvSpPr/>
          <p:nvPr/>
        </p:nvSpPr>
        <p:spPr>
          <a:xfrm>
            <a:off x="6718250" y="4212878"/>
            <a:ext cx="693688" cy="685800"/>
          </a:xfrm>
          <a:prstGeom prst="rect">
            <a:avLst/>
          </a:prstGeom>
          <a:solidFill>
            <a:srgbClr val="FCEEE4"/>
          </a:solidFill>
          <a:ln/>
        </p:spPr>
      </p:sp>
      <p:sp>
        <p:nvSpPr>
          <p:cNvPr id="76" name="Shape 74"/>
          <p:cNvSpPr/>
          <p:nvPr/>
        </p:nvSpPr>
        <p:spPr>
          <a:xfrm>
            <a:off x="7392888" y="4212878"/>
            <a:ext cx="19050" cy="685800"/>
          </a:xfrm>
          <a:prstGeom prst="rect">
            <a:avLst/>
          </a:prstGeom>
          <a:solidFill>
            <a:srgbClr val="2B1216"/>
          </a:solidFill>
          <a:ln/>
        </p:spPr>
      </p:sp>
      <p:sp>
        <p:nvSpPr>
          <p:cNvPr id="77" name="Text 75"/>
          <p:cNvSpPr/>
          <p:nvPr/>
        </p:nvSpPr>
        <p:spPr>
          <a:xfrm>
            <a:off x="6680150" y="4212878"/>
            <a:ext cx="750838" cy="723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950" b="1" dirty="0">
                <a:solidFill>
                  <a:srgbClr val="2B121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</a:t>
            </a:r>
            <a:endParaRPr lang="en-US" sz="1950" dirty="0"/>
          </a:p>
        </p:txBody>
      </p:sp>
      <p:sp>
        <p:nvSpPr>
          <p:cNvPr id="78" name="Shape 76"/>
          <p:cNvSpPr/>
          <p:nvPr/>
        </p:nvSpPr>
        <p:spPr>
          <a:xfrm>
            <a:off x="7411938" y="4212878"/>
            <a:ext cx="693762" cy="685800"/>
          </a:xfrm>
          <a:prstGeom prst="rect">
            <a:avLst/>
          </a:prstGeom>
          <a:solidFill>
            <a:srgbClr val="FCEEE4"/>
          </a:solidFill>
          <a:ln/>
        </p:spPr>
      </p:sp>
      <p:sp>
        <p:nvSpPr>
          <p:cNvPr id="79" name="Shape 77"/>
          <p:cNvSpPr/>
          <p:nvPr/>
        </p:nvSpPr>
        <p:spPr>
          <a:xfrm>
            <a:off x="8086651" y="4212878"/>
            <a:ext cx="19050" cy="685800"/>
          </a:xfrm>
          <a:prstGeom prst="rect">
            <a:avLst/>
          </a:prstGeom>
          <a:solidFill>
            <a:srgbClr val="2B1216"/>
          </a:solidFill>
          <a:ln/>
        </p:spPr>
      </p:sp>
      <p:sp>
        <p:nvSpPr>
          <p:cNvPr id="80" name="Text 78"/>
          <p:cNvSpPr/>
          <p:nvPr/>
        </p:nvSpPr>
        <p:spPr>
          <a:xfrm>
            <a:off x="7373838" y="4212878"/>
            <a:ext cx="750912" cy="723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950" b="1" dirty="0">
                <a:solidFill>
                  <a:srgbClr val="2B121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</a:t>
            </a:r>
            <a:endParaRPr lang="en-US" sz="1950" dirty="0"/>
          </a:p>
        </p:txBody>
      </p:sp>
      <p:sp>
        <p:nvSpPr>
          <p:cNvPr id="81" name="Shape 79"/>
          <p:cNvSpPr/>
          <p:nvPr/>
        </p:nvSpPr>
        <p:spPr>
          <a:xfrm>
            <a:off x="8105701" y="4212878"/>
            <a:ext cx="693688" cy="685800"/>
          </a:xfrm>
          <a:prstGeom prst="rect">
            <a:avLst/>
          </a:prstGeom>
          <a:solidFill>
            <a:srgbClr val="FCEEE4"/>
          </a:solidFill>
          <a:ln/>
        </p:spPr>
      </p:sp>
      <p:sp>
        <p:nvSpPr>
          <p:cNvPr id="82" name="Shape 80"/>
          <p:cNvSpPr/>
          <p:nvPr/>
        </p:nvSpPr>
        <p:spPr>
          <a:xfrm>
            <a:off x="8780338" y="4212878"/>
            <a:ext cx="19050" cy="685800"/>
          </a:xfrm>
          <a:prstGeom prst="rect">
            <a:avLst/>
          </a:prstGeom>
          <a:solidFill>
            <a:srgbClr val="2B1216"/>
          </a:solidFill>
          <a:ln/>
        </p:spPr>
      </p:sp>
      <p:sp>
        <p:nvSpPr>
          <p:cNvPr id="83" name="Text 81"/>
          <p:cNvSpPr/>
          <p:nvPr/>
        </p:nvSpPr>
        <p:spPr>
          <a:xfrm>
            <a:off x="8067601" y="4212878"/>
            <a:ext cx="750838" cy="723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950" b="1" dirty="0">
                <a:solidFill>
                  <a:srgbClr val="2B121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</a:t>
            </a:r>
            <a:endParaRPr lang="en-US" sz="1950" dirty="0"/>
          </a:p>
        </p:txBody>
      </p:sp>
      <p:sp>
        <p:nvSpPr>
          <p:cNvPr id="84" name="Shape 82"/>
          <p:cNvSpPr/>
          <p:nvPr/>
        </p:nvSpPr>
        <p:spPr>
          <a:xfrm>
            <a:off x="8799388" y="4212878"/>
            <a:ext cx="693762" cy="685800"/>
          </a:xfrm>
          <a:prstGeom prst="rect">
            <a:avLst/>
          </a:prstGeom>
          <a:solidFill>
            <a:srgbClr val="FCEEE4"/>
          </a:solidFill>
          <a:ln/>
        </p:spPr>
      </p:sp>
      <p:sp>
        <p:nvSpPr>
          <p:cNvPr id="85" name="Shape 83"/>
          <p:cNvSpPr/>
          <p:nvPr/>
        </p:nvSpPr>
        <p:spPr>
          <a:xfrm>
            <a:off x="9474101" y="4212878"/>
            <a:ext cx="19050" cy="685800"/>
          </a:xfrm>
          <a:prstGeom prst="rect">
            <a:avLst/>
          </a:prstGeom>
          <a:solidFill>
            <a:srgbClr val="2B1216"/>
          </a:solidFill>
          <a:ln/>
        </p:spPr>
      </p:sp>
      <p:sp>
        <p:nvSpPr>
          <p:cNvPr id="86" name="Text 84"/>
          <p:cNvSpPr/>
          <p:nvPr/>
        </p:nvSpPr>
        <p:spPr>
          <a:xfrm>
            <a:off x="8761288" y="4212878"/>
            <a:ext cx="750912" cy="723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950" b="1" dirty="0">
                <a:solidFill>
                  <a:srgbClr val="2B121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</a:t>
            </a:r>
            <a:endParaRPr lang="en-US" sz="1950" dirty="0"/>
          </a:p>
        </p:txBody>
      </p:sp>
      <p:sp>
        <p:nvSpPr>
          <p:cNvPr id="87" name="Shape 85"/>
          <p:cNvSpPr/>
          <p:nvPr/>
        </p:nvSpPr>
        <p:spPr>
          <a:xfrm>
            <a:off x="9493151" y="4212878"/>
            <a:ext cx="693762" cy="685800"/>
          </a:xfrm>
          <a:prstGeom prst="rect">
            <a:avLst/>
          </a:prstGeom>
          <a:solidFill>
            <a:srgbClr val="D7263D"/>
          </a:solidFill>
          <a:ln/>
        </p:spPr>
      </p:sp>
      <p:sp>
        <p:nvSpPr>
          <p:cNvPr id="88" name="Shape 86"/>
          <p:cNvSpPr/>
          <p:nvPr/>
        </p:nvSpPr>
        <p:spPr>
          <a:xfrm>
            <a:off x="10167863" y="4212878"/>
            <a:ext cx="19050" cy="685800"/>
          </a:xfrm>
          <a:prstGeom prst="rect">
            <a:avLst/>
          </a:prstGeom>
          <a:solidFill>
            <a:srgbClr val="2B1216"/>
          </a:solidFill>
          <a:ln/>
        </p:spPr>
      </p:sp>
      <p:sp>
        <p:nvSpPr>
          <p:cNvPr id="89" name="Text 87"/>
          <p:cNvSpPr/>
          <p:nvPr/>
        </p:nvSpPr>
        <p:spPr>
          <a:xfrm>
            <a:off x="9455051" y="4212878"/>
            <a:ext cx="750912" cy="723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950" b="1" dirty="0">
                <a:solidFill>
                  <a:srgbClr val="FFF8F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</a:t>
            </a:r>
            <a:endParaRPr lang="en-US" sz="1950" dirty="0"/>
          </a:p>
        </p:txBody>
      </p:sp>
      <p:sp>
        <p:nvSpPr>
          <p:cNvPr id="90" name="Shape 88"/>
          <p:cNvSpPr/>
          <p:nvPr/>
        </p:nvSpPr>
        <p:spPr>
          <a:xfrm>
            <a:off x="10186913" y="4212878"/>
            <a:ext cx="1098575" cy="685800"/>
          </a:xfrm>
          <a:prstGeom prst="rect">
            <a:avLst/>
          </a:prstGeom>
          <a:solidFill>
            <a:srgbClr val="FFD9D2"/>
          </a:solidFill>
          <a:ln/>
        </p:spPr>
      </p:sp>
      <p:sp>
        <p:nvSpPr>
          <p:cNvPr id="91" name="Shape 89"/>
          <p:cNvSpPr/>
          <p:nvPr/>
        </p:nvSpPr>
        <p:spPr>
          <a:xfrm>
            <a:off x="11266438" y="4212878"/>
            <a:ext cx="19050" cy="685800"/>
          </a:xfrm>
          <a:prstGeom prst="rect">
            <a:avLst/>
          </a:prstGeom>
          <a:solidFill>
            <a:srgbClr val="2B1216"/>
          </a:solidFill>
          <a:ln/>
        </p:spPr>
      </p:sp>
      <p:sp>
        <p:nvSpPr>
          <p:cNvPr id="92" name="Text 90"/>
          <p:cNvSpPr/>
          <p:nvPr/>
        </p:nvSpPr>
        <p:spPr>
          <a:xfrm>
            <a:off x="10148813" y="4212878"/>
            <a:ext cx="1155725" cy="723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950" b="1" dirty="0">
                <a:solidFill>
                  <a:srgbClr val="2B121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ACK</a:t>
            </a:r>
            <a:endParaRPr lang="en-US" sz="1950" dirty="0"/>
          </a:p>
        </p:txBody>
      </p:sp>
      <p:sp>
        <p:nvSpPr>
          <p:cNvPr id="93" name="Shape 91"/>
          <p:cNvSpPr/>
          <p:nvPr/>
        </p:nvSpPr>
        <p:spPr>
          <a:xfrm>
            <a:off x="11285488" y="4212878"/>
            <a:ext cx="4067175" cy="685800"/>
          </a:xfrm>
          <a:prstGeom prst="rect">
            <a:avLst/>
          </a:prstGeom>
          <a:solidFill>
            <a:srgbClr val="FFD9D2"/>
          </a:solidFill>
          <a:ln/>
        </p:spPr>
      </p:sp>
      <p:sp>
        <p:nvSpPr>
          <p:cNvPr id="94" name="Shape 92"/>
          <p:cNvSpPr/>
          <p:nvPr/>
        </p:nvSpPr>
        <p:spPr>
          <a:xfrm>
            <a:off x="15333613" y="4212878"/>
            <a:ext cx="19050" cy="685800"/>
          </a:xfrm>
          <a:prstGeom prst="rect">
            <a:avLst/>
          </a:prstGeom>
          <a:solidFill>
            <a:srgbClr val="2B1216"/>
          </a:solidFill>
          <a:ln/>
        </p:spPr>
      </p:sp>
      <p:sp>
        <p:nvSpPr>
          <p:cNvPr id="95" name="Text 93"/>
          <p:cNvSpPr/>
          <p:nvPr/>
        </p:nvSpPr>
        <p:spPr>
          <a:xfrm>
            <a:off x="11224480" y="4212878"/>
            <a:ext cx="4170140" cy="723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950" b="1" dirty="0">
                <a:solidFill>
                  <a:srgbClr val="2B121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measurement bytes ← sensor</a:t>
            </a:r>
            <a:endParaRPr lang="en-US" sz="1950" dirty="0"/>
          </a:p>
        </p:txBody>
      </p:sp>
      <p:sp>
        <p:nvSpPr>
          <p:cNvPr id="96" name="Shape 94"/>
          <p:cNvSpPr/>
          <p:nvPr/>
        </p:nvSpPr>
        <p:spPr>
          <a:xfrm>
            <a:off x="15352663" y="4212878"/>
            <a:ext cx="1098575" cy="685800"/>
          </a:xfrm>
          <a:prstGeom prst="rect">
            <a:avLst/>
          </a:prstGeom>
          <a:solidFill>
            <a:srgbClr val="FCEEE4"/>
          </a:solidFill>
          <a:ln/>
        </p:spPr>
      </p:sp>
      <p:sp>
        <p:nvSpPr>
          <p:cNvPr id="97" name="Shape 95"/>
          <p:cNvSpPr/>
          <p:nvPr/>
        </p:nvSpPr>
        <p:spPr>
          <a:xfrm>
            <a:off x="16432188" y="4212878"/>
            <a:ext cx="19050" cy="685800"/>
          </a:xfrm>
          <a:prstGeom prst="rect">
            <a:avLst/>
          </a:prstGeom>
          <a:solidFill>
            <a:srgbClr val="2B1216"/>
          </a:solidFill>
          <a:ln/>
        </p:spPr>
      </p:sp>
      <p:sp>
        <p:nvSpPr>
          <p:cNvPr id="98" name="Text 96"/>
          <p:cNvSpPr/>
          <p:nvPr/>
        </p:nvSpPr>
        <p:spPr>
          <a:xfrm>
            <a:off x="15314563" y="4212878"/>
            <a:ext cx="1155725" cy="723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950" b="1" dirty="0">
                <a:solidFill>
                  <a:srgbClr val="2B121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ACK</a:t>
            </a:r>
            <a:endParaRPr lang="en-US" sz="1950" dirty="0"/>
          </a:p>
        </p:txBody>
      </p:sp>
      <p:sp>
        <p:nvSpPr>
          <p:cNvPr id="99" name="Shape 97"/>
          <p:cNvSpPr/>
          <p:nvPr/>
        </p:nvSpPr>
        <p:spPr>
          <a:xfrm>
            <a:off x="16451238" y="4212878"/>
            <a:ext cx="693762" cy="685800"/>
          </a:xfrm>
          <a:prstGeom prst="rect">
            <a:avLst/>
          </a:prstGeom>
          <a:solidFill>
            <a:srgbClr val="FCEEE4"/>
          </a:solidFill>
          <a:ln/>
        </p:spPr>
      </p:sp>
      <p:sp>
        <p:nvSpPr>
          <p:cNvPr id="100" name="Shape 98"/>
          <p:cNvSpPr/>
          <p:nvPr/>
        </p:nvSpPr>
        <p:spPr>
          <a:xfrm>
            <a:off x="17125950" y="4212878"/>
            <a:ext cx="19050" cy="685800"/>
          </a:xfrm>
          <a:prstGeom prst="rect">
            <a:avLst/>
          </a:prstGeom>
          <a:solidFill>
            <a:srgbClr val="2B1216"/>
          </a:solidFill>
          <a:ln/>
        </p:spPr>
      </p:sp>
      <p:sp>
        <p:nvSpPr>
          <p:cNvPr id="101" name="Text 99"/>
          <p:cNvSpPr/>
          <p:nvPr/>
        </p:nvSpPr>
        <p:spPr>
          <a:xfrm>
            <a:off x="16413138" y="4212878"/>
            <a:ext cx="750912" cy="723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950" b="1" dirty="0">
                <a:solidFill>
                  <a:srgbClr val="2B121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</a:t>
            </a:r>
            <a:endParaRPr lang="en-US" sz="1950" dirty="0"/>
          </a:p>
        </p:txBody>
      </p:sp>
      <p:sp>
        <p:nvSpPr>
          <p:cNvPr id="102" name="Shape 100"/>
          <p:cNvSpPr/>
          <p:nvPr/>
        </p:nvSpPr>
        <p:spPr>
          <a:xfrm>
            <a:off x="2286000" y="5184428"/>
            <a:ext cx="304800" cy="304800"/>
          </a:xfrm>
          <a:prstGeom prst="rect">
            <a:avLst/>
          </a:prstGeom>
          <a:solidFill>
            <a:srgbClr val="FCEEE4"/>
          </a:solidFill>
          <a:ln w="19050">
            <a:solidFill>
              <a:srgbClr val="2B1216"/>
            </a:solidFill>
            <a:prstDash val="solid"/>
          </a:ln>
        </p:spPr>
      </p:sp>
      <p:sp>
        <p:nvSpPr>
          <p:cNvPr id="103" name="Text 101"/>
          <p:cNvSpPr/>
          <p:nvPr/>
        </p:nvSpPr>
        <p:spPr>
          <a:xfrm>
            <a:off x="2705100" y="5186809"/>
            <a:ext cx="2545110" cy="3381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52323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sent by the RP2040</a:t>
            </a:r>
            <a:endParaRPr lang="en-US" sz="1800" dirty="0"/>
          </a:p>
        </p:txBody>
      </p:sp>
      <p:sp>
        <p:nvSpPr>
          <p:cNvPr id="104" name="Shape 102"/>
          <p:cNvSpPr/>
          <p:nvPr/>
        </p:nvSpPr>
        <p:spPr>
          <a:xfrm>
            <a:off x="5555010" y="5184428"/>
            <a:ext cx="304800" cy="304800"/>
          </a:xfrm>
          <a:prstGeom prst="rect">
            <a:avLst/>
          </a:prstGeom>
          <a:solidFill>
            <a:srgbClr val="FFD9D2"/>
          </a:solidFill>
          <a:ln w="19050">
            <a:solidFill>
              <a:srgbClr val="2B1216"/>
            </a:solidFill>
            <a:prstDash val="solid"/>
          </a:ln>
        </p:spPr>
      </p:sp>
      <p:sp>
        <p:nvSpPr>
          <p:cNvPr id="105" name="Text 103"/>
          <p:cNvSpPr/>
          <p:nvPr/>
        </p:nvSpPr>
        <p:spPr>
          <a:xfrm>
            <a:off x="5974110" y="5186809"/>
            <a:ext cx="2545110" cy="3381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52323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sent by the sensor</a:t>
            </a:r>
            <a:endParaRPr lang="en-US" sz="1800" dirty="0"/>
          </a:p>
        </p:txBody>
      </p:sp>
      <p:sp>
        <p:nvSpPr>
          <p:cNvPr id="106" name="Shape 104"/>
          <p:cNvSpPr/>
          <p:nvPr/>
        </p:nvSpPr>
        <p:spPr>
          <a:xfrm>
            <a:off x="2286000" y="7916242"/>
            <a:ext cx="152400" cy="152400"/>
          </a:xfrm>
          <a:prstGeom prst="ellipse">
            <a:avLst/>
          </a:prstGeom>
          <a:solidFill>
            <a:srgbClr val="FF6F59"/>
          </a:solidFill>
          <a:ln/>
        </p:spPr>
      </p:sp>
      <p:sp>
        <p:nvSpPr>
          <p:cNvPr id="107" name="Text 105"/>
          <p:cNvSpPr/>
          <p:nvPr/>
        </p:nvSpPr>
        <p:spPr>
          <a:xfrm>
            <a:off x="2667000" y="7801942"/>
            <a:ext cx="4238244" cy="77405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5343"/>
              </a:lnSpc>
              <a:buNone/>
            </a:pPr>
            <a:r>
              <a:rPr lang="en-US" sz="2100" dirty="0">
                <a:solidFill>
                  <a:srgbClr val="523236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START: the controller takes the bus</a:t>
            </a:r>
            <a:endParaRPr lang="en-US" sz="2100" dirty="0"/>
          </a:p>
        </p:txBody>
      </p:sp>
      <p:sp>
        <p:nvSpPr>
          <p:cNvPr id="108" name="Shape 106"/>
          <p:cNvSpPr/>
          <p:nvPr/>
        </p:nvSpPr>
        <p:spPr>
          <a:xfrm>
            <a:off x="7467600" y="7916242"/>
            <a:ext cx="152400" cy="152400"/>
          </a:xfrm>
          <a:prstGeom prst="ellipse">
            <a:avLst/>
          </a:prstGeom>
          <a:solidFill>
            <a:srgbClr val="FF6F59"/>
          </a:solidFill>
          <a:ln/>
        </p:spPr>
      </p:sp>
      <p:sp>
        <p:nvSpPr>
          <p:cNvPr id="109" name="Text 107"/>
          <p:cNvSpPr/>
          <p:nvPr/>
        </p:nvSpPr>
        <p:spPr>
          <a:xfrm>
            <a:off x="7848600" y="7801942"/>
            <a:ext cx="4238244" cy="11420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5343"/>
              </a:lnSpc>
              <a:buNone/>
            </a:pPr>
            <a:r>
              <a:rPr lang="en-US" sz="2100" dirty="0">
                <a:solidFill>
                  <a:srgbClr val="523236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Address + R/W bit: only the matching device answers; 0 = write, 1 = read</a:t>
            </a:r>
            <a:endParaRPr lang="en-US" sz="2100" dirty="0"/>
          </a:p>
        </p:txBody>
      </p:sp>
      <p:sp>
        <p:nvSpPr>
          <p:cNvPr id="110" name="Shape 108"/>
          <p:cNvSpPr/>
          <p:nvPr/>
        </p:nvSpPr>
        <p:spPr>
          <a:xfrm>
            <a:off x="12649200" y="7916242"/>
            <a:ext cx="152400" cy="152400"/>
          </a:xfrm>
          <a:prstGeom prst="ellipse">
            <a:avLst/>
          </a:prstGeom>
          <a:solidFill>
            <a:srgbClr val="FF6F59"/>
          </a:solidFill>
          <a:ln/>
        </p:spPr>
      </p:sp>
      <p:sp>
        <p:nvSpPr>
          <p:cNvPr id="111" name="Text 109"/>
          <p:cNvSpPr/>
          <p:nvPr/>
        </p:nvSpPr>
        <p:spPr>
          <a:xfrm>
            <a:off x="13030200" y="7801942"/>
            <a:ext cx="4238244" cy="77405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5343"/>
              </a:lnSpc>
              <a:buNone/>
            </a:pPr>
            <a:r>
              <a:rPr lang="en-US" sz="2100" dirty="0">
                <a:solidFill>
                  <a:srgbClr val="523236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ACK: the receiver confirms each byte by pulling SDA low</a:t>
            </a:r>
            <a:endParaRPr lang="en-US" sz="2100" dirty="0"/>
          </a:p>
        </p:txBody>
      </p:sp>
      <p:sp>
        <p:nvSpPr>
          <p:cNvPr id="112" name="Text 110"/>
          <p:cNvSpPr/>
          <p:nvPr/>
        </p:nvSpPr>
        <p:spPr>
          <a:xfrm>
            <a:off x="2286000" y="9096375"/>
            <a:ext cx="16344900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7D6164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Example: SHTC3, fixed address 0x70. Source: SHTC3 datasheet, section 5.1.</a:t>
            </a:r>
            <a:endParaRPr lang="en-US" sz="18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8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" cy="10287000"/>
          </a:xfrm>
          <a:prstGeom prst="rect">
            <a:avLst/>
          </a:prstGeom>
          <a:solidFill>
            <a:srgbClr val="D7263D"/>
          </a:solidFill>
          <a:ln/>
        </p:spPr>
      </p:sp>
      <p:sp>
        <p:nvSpPr>
          <p:cNvPr id="3" name="Text 1"/>
          <p:cNvSpPr/>
          <p:nvPr/>
        </p:nvSpPr>
        <p:spPr>
          <a:xfrm>
            <a:off x="341412" y="609600"/>
            <a:ext cx="612502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3019"/>
              </a:lnSpc>
              <a:buNone/>
            </a:pPr>
            <a:r>
              <a:rPr lang="en-US" sz="3300" b="1" dirty="0">
                <a:solidFill>
                  <a:srgbClr val="FFF8F2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06</a:t>
            </a:r>
            <a:endParaRPr lang="en-US" sz="3300" dirty="0"/>
          </a:p>
        </p:txBody>
      </p:sp>
      <p:sp>
        <p:nvSpPr>
          <p:cNvPr id="4" name="Text 2"/>
          <p:cNvSpPr/>
          <p:nvPr/>
        </p:nvSpPr>
        <p:spPr>
          <a:xfrm rot="10800000">
            <a:off x="471488" y="1409700"/>
            <a:ext cx="352425" cy="463451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 vert="eaVert">
            <a:normAutofit/>
          </a:bodyPr>
          <a:lstStyle/>
          <a:p>
            <a:pPr algn="l" indent="0" marL="0">
              <a:buNone/>
            </a:pPr>
            <a:r>
              <a:rPr lang="en-US" sz="1800" b="1" spc="288" kern="0" dirty="0">
                <a:solidFill>
                  <a:srgbClr val="FFD9D2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I²C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419100" y="8767763"/>
            <a:ext cx="381000" cy="381000"/>
          </a:xfrm>
          <a:prstGeom prst="ellipse">
            <a:avLst/>
          </a:prstGeom>
          <a:solidFill>
            <a:srgbClr val="FF6F59"/>
          </a:solidFill>
          <a:ln/>
        </p:spPr>
      </p:sp>
      <p:sp>
        <p:nvSpPr>
          <p:cNvPr id="6" name="Text 4"/>
          <p:cNvSpPr/>
          <p:nvPr/>
        </p:nvSpPr>
        <p:spPr>
          <a:xfrm>
            <a:off x="472380" y="9453563"/>
            <a:ext cx="350565" cy="3381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FFF8F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27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17240250" y="-1047750"/>
            <a:ext cx="2095500" cy="2095500"/>
          </a:xfrm>
          <a:prstGeom prst="ellipse">
            <a:avLst/>
          </a:prstGeom>
          <a:solidFill>
            <a:srgbClr val="FF6F59"/>
          </a:solidFill>
          <a:ln/>
        </p:spPr>
      </p:sp>
      <p:sp>
        <p:nvSpPr>
          <p:cNvPr id="8" name="Shape 6"/>
          <p:cNvSpPr/>
          <p:nvPr/>
        </p:nvSpPr>
        <p:spPr>
          <a:xfrm>
            <a:off x="2286000" y="1052513"/>
            <a:ext cx="152400" cy="152400"/>
          </a:xfrm>
          <a:prstGeom prst="ellipse">
            <a:avLst/>
          </a:prstGeom>
          <a:solidFill>
            <a:srgbClr val="FF6F59"/>
          </a:solidFill>
          <a:ln/>
        </p:spPr>
      </p:sp>
      <p:sp>
        <p:nvSpPr>
          <p:cNvPr id="9" name="Text 7"/>
          <p:cNvSpPr/>
          <p:nvPr/>
        </p:nvSpPr>
        <p:spPr>
          <a:xfrm>
            <a:off x="2590800" y="990600"/>
            <a:ext cx="4380577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288" kern="0" dirty="0">
                <a:solidFill>
                  <a:srgbClr val="B81D35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TWO-WAY COMMUNICATION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2286000" y="1495425"/>
            <a:ext cx="15716250" cy="79816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7692"/>
              </a:lnSpc>
              <a:buNone/>
            </a:pPr>
            <a:r>
              <a:rPr lang="en-US" sz="5700" b="1" spc="-171" kern="0" dirty="0">
                <a:solidFill>
                  <a:srgbClr val="2B1216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An I²C sensor can be read and configured</a:t>
            </a:r>
            <a:endParaRPr lang="en-US" sz="5700" dirty="0"/>
          </a:p>
        </p:txBody>
      </p:sp>
      <p:sp>
        <p:nvSpPr>
          <p:cNvPr id="11" name="Text 9"/>
          <p:cNvSpPr/>
          <p:nvPr/>
        </p:nvSpPr>
        <p:spPr>
          <a:xfrm>
            <a:off x="2286000" y="2788890"/>
            <a:ext cx="7239953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1667"/>
              </a:lnSpc>
              <a:buNone/>
            </a:pPr>
            <a:r>
              <a:rPr lang="en-US" sz="3000" b="1" dirty="0">
                <a:solidFill>
                  <a:srgbClr val="2B1216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Analog sensor</a:t>
            </a:r>
            <a:endParaRPr lang="en-US" sz="3000" dirty="0"/>
          </a:p>
        </p:txBody>
      </p:sp>
      <p:sp>
        <p:nvSpPr>
          <p:cNvPr id="12" name="Shape 10"/>
          <p:cNvSpPr/>
          <p:nvPr/>
        </p:nvSpPr>
        <p:spPr>
          <a:xfrm>
            <a:off x="2286000" y="3512790"/>
            <a:ext cx="152400" cy="152400"/>
          </a:xfrm>
          <a:prstGeom prst="ellipse">
            <a:avLst/>
          </a:prstGeom>
          <a:solidFill>
            <a:srgbClr val="FF6F59"/>
          </a:solidFill>
          <a:ln/>
        </p:spPr>
      </p:sp>
      <p:sp>
        <p:nvSpPr>
          <p:cNvPr id="13" name="Text 11"/>
          <p:cNvSpPr/>
          <p:nvPr/>
        </p:nvSpPr>
        <p:spPr>
          <a:xfrm>
            <a:off x="2667000" y="3398490"/>
            <a:ext cx="6310811" cy="40607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5343"/>
              </a:lnSpc>
              <a:buNone/>
            </a:pPr>
            <a:r>
              <a:rPr lang="en-US" sz="2100" dirty="0">
                <a:solidFill>
                  <a:srgbClr val="523236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One direction only: the sensor outputs a voltage</a:t>
            </a:r>
            <a:endParaRPr lang="en-US" sz="2100" dirty="0"/>
          </a:p>
        </p:txBody>
      </p:sp>
      <p:sp>
        <p:nvSpPr>
          <p:cNvPr id="14" name="Shape 12"/>
          <p:cNvSpPr/>
          <p:nvPr/>
        </p:nvSpPr>
        <p:spPr>
          <a:xfrm>
            <a:off x="2286000" y="4071268"/>
            <a:ext cx="152400" cy="152400"/>
          </a:xfrm>
          <a:prstGeom prst="ellipse">
            <a:avLst/>
          </a:prstGeom>
          <a:solidFill>
            <a:srgbClr val="FF6F59"/>
          </a:solidFill>
          <a:ln/>
        </p:spPr>
      </p:sp>
      <p:sp>
        <p:nvSpPr>
          <p:cNvPr id="15" name="Text 13"/>
          <p:cNvSpPr/>
          <p:nvPr/>
        </p:nvSpPr>
        <p:spPr>
          <a:xfrm>
            <a:off x="2667000" y="3956968"/>
            <a:ext cx="5860524" cy="40607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5343"/>
              </a:lnSpc>
              <a:buNone/>
            </a:pPr>
            <a:r>
              <a:rPr lang="en-US" sz="2100" dirty="0">
                <a:solidFill>
                  <a:srgbClr val="523236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The microcontroller measures it with its ADC</a:t>
            </a:r>
            <a:endParaRPr lang="en-US" sz="2100" dirty="0"/>
          </a:p>
        </p:txBody>
      </p:sp>
      <p:sp>
        <p:nvSpPr>
          <p:cNvPr id="16" name="Shape 14"/>
          <p:cNvSpPr/>
          <p:nvPr/>
        </p:nvSpPr>
        <p:spPr>
          <a:xfrm>
            <a:off x="2286000" y="4629745"/>
            <a:ext cx="152400" cy="152400"/>
          </a:xfrm>
          <a:prstGeom prst="ellipse">
            <a:avLst/>
          </a:prstGeom>
          <a:solidFill>
            <a:srgbClr val="FF6F59"/>
          </a:solidFill>
          <a:ln/>
        </p:spPr>
      </p:sp>
      <p:sp>
        <p:nvSpPr>
          <p:cNvPr id="17" name="Text 15"/>
          <p:cNvSpPr/>
          <p:nvPr/>
        </p:nvSpPr>
        <p:spPr>
          <a:xfrm>
            <a:off x="2667000" y="4515445"/>
            <a:ext cx="5316103" cy="40607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5343"/>
              </a:lnSpc>
              <a:buNone/>
            </a:pPr>
            <a:r>
              <a:rPr lang="en-US" sz="2100" dirty="0">
                <a:solidFill>
                  <a:srgbClr val="523236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No way to change how the sensor works</a:t>
            </a:r>
            <a:endParaRPr lang="en-US" sz="2100" dirty="0"/>
          </a:p>
        </p:txBody>
      </p:sp>
      <p:sp>
        <p:nvSpPr>
          <p:cNvPr id="18" name="Shape 16"/>
          <p:cNvSpPr/>
          <p:nvPr/>
        </p:nvSpPr>
        <p:spPr>
          <a:xfrm>
            <a:off x="9705975" y="2788890"/>
            <a:ext cx="19050" cy="6116985"/>
          </a:xfrm>
          <a:prstGeom prst="rect">
            <a:avLst/>
          </a:prstGeom>
          <a:solidFill>
            <a:srgbClr val="EBD6CB"/>
          </a:solidFill>
          <a:ln/>
        </p:spPr>
      </p:sp>
      <p:sp>
        <p:nvSpPr>
          <p:cNvPr id="19" name="Text 17"/>
          <p:cNvSpPr/>
          <p:nvPr/>
        </p:nvSpPr>
        <p:spPr>
          <a:xfrm>
            <a:off x="10563225" y="2788890"/>
            <a:ext cx="7239953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1667"/>
              </a:lnSpc>
              <a:buNone/>
            </a:pPr>
            <a:r>
              <a:rPr lang="en-US" sz="3000" b="1" dirty="0">
                <a:solidFill>
                  <a:srgbClr val="2B1216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I²C sensor</a:t>
            </a:r>
            <a:endParaRPr lang="en-US" sz="3000" dirty="0"/>
          </a:p>
        </p:txBody>
      </p:sp>
      <p:sp>
        <p:nvSpPr>
          <p:cNvPr id="20" name="Shape 18"/>
          <p:cNvSpPr/>
          <p:nvPr/>
        </p:nvSpPr>
        <p:spPr>
          <a:xfrm>
            <a:off x="10563225" y="3512790"/>
            <a:ext cx="152400" cy="152400"/>
          </a:xfrm>
          <a:prstGeom prst="ellipse">
            <a:avLst/>
          </a:prstGeom>
          <a:solidFill>
            <a:srgbClr val="FF6F59"/>
          </a:solidFill>
          <a:ln/>
        </p:spPr>
      </p:sp>
      <p:sp>
        <p:nvSpPr>
          <p:cNvPr id="21" name="Text 19"/>
          <p:cNvSpPr/>
          <p:nvPr/>
        </p:nvSpPr>
        <p:spPr>
          <a:xfrm>
            <a:off x="10944225" y="3398490"/>
            <a:ext cx="6590102" cy="40607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5343"/>
              </a:lnSpc>
              <a:buNone/>
            </a:pPr>
            <a:r>
              <a:rPr lang="en-US" sz="2100" b="1" dirty="0">
                <a:solidFill>
                  <a:srgbClr val="2B1216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Read: </a:t>
            </a:r>
            <a:pPr algn="l" indent="0" marL="0">
              <a:lnSpc>
                <a:spcPct val="115343"/>
              </a:lnSpc>
              <a:buNone/>
            </a:pPr>
            <a:r>
              <a:rPr lang="en-US" sz="2100" dirty="0">
                <a:solidFill>
                  <a:srgbClr val="523236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the sensor sends digital bytes, not a voltage</a:t>
            </a:r>
            <a:endParaRPr lang="en-US" sz="2100" dirty="0"/>
          </a:p>
        </p:txBody>
      </p:sp>
      <p:sp>
        <p:nvSpPr>
          <p:cNvPr id="22" name="Shape 20"/>
          <p:cNvSpPr/>
          <p:nvPr/>
        </p:nvSpPr>
        <p:spPr>
          <a:xfrm>
            <a:off x="10563225" y="4071268"/>
            <a:ext cx="152400" cy="152400"/>
          </a:xfrm>
          <a:prstGeom prst="ellipse">
            <a:avLst/>
          </a:prstGeom>
          <a:solidFill>
            <a:srgbClr val="FF6F59"/>
          </a:solidFill>
          <a:ln/>
        </p:spPr>
      </p:sp>
      <p:sp>
        <p:nvSpPr>
          <p:cNvPr id="23" name="Text 21"/>
          <p:cNvSpPr/>
          <p:nvPr/>
        </p:nvSpPr>
        <p:spPr>
          <a:xfrm>
            <a:off x="10944225" y="3956968"/>
            <a:ext cx="6386798" cy="77405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5343"/>
              </a:lnSpc>
              <a:buNone/>
            </a:pPr>
            <a:r>
              <a:rPr lang="en-US" sz="2100" b="1" dirty="0">
                <a:solidFill>
                  <a:srgbClr val="2B1216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Write: </a:t>
            </a:r>
            <a:pPr algn="l" indent="0" marL="0">
              <a:lnSpc>
                <a:spcPct val="115343"/>
              </a:lnSpc>
              <a:buNone/>
            </a:pPr>
            <a:r>
              <a:rPr lang="en-US" sz="2100" dirty="0">
                <a:solidFill>
                  <a:srgbClr val="523236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the controller sends commands or register values</a:t>
            </a:r>
            <a:endParaRPr lang="en-US" sz="2100" dirty="0"/>
          </a:p>
        </p:txBody>
      </p:sp>
      <p:sp>
        <p:nvSpPr>
          <p:cNvPr id="24" name="Shape 22"/>
          <p:cNvSpPr/>
          <p:nvPr/>
        </p:nvSpPr>
        <p:spPr>
          <a:xfrm>
            <a:off x="10563225" y="4997723"/>
            <a:ext cx="152400" cy="152400"/>
          </a:xfrm>
          <a:prstGeom prst="ellipse">
            <a:avLst/>
          </a:prstGeom>
          <a:solidFill>
            <a:srgbClr val="FF6F59"/>
          </a:solidFill>
          <a:ln/>
        </p:spPr>
      </p:sp>
      <p:sp>
        <p:nvSpPr>
          <p:cNvPr id="25" name="Text 23"/>
          <p:cNvSpPr/>
          <p:nvPr/>
        </p:nvSpPr>
        <p:spPr>
          <a:xfrm>
            <a:off x="10944225" y="4883423"/>
            <a:ext cx="6386798" cy="77405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5343"/>
              </a:lnSpc>
              <a:buNone/>
            </a:pPr>
            <a:r>
              <a:rPr lang="en-US" sz="2100" dirty="0">
                <a:solidFill>
                  <a:srgbClr val="523236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Configure operating mode, resolution or sampling behavior</a:t>
            </a:r>
            <a:endParaRPr lang="en-US" sz="2100" dirty="0"/>
          </a:p>
        </p:txBody>
      </p:sp>
      <p:sp>
        <p:nvSpPr>
          <p:cNvPr id="26" name="Shape 24"/>
          <p:cNvSpPr/>
          <p:nvPr/>
        </p:nvSpPr>
        <p:spPr>
          <a:xfrm>
            <a:off x="10563225" y="5924178"/>
            <a:ext cx="152400" cy="152400"/>
          </a:xfrm>
          <a:prstGeom prst="ellipse">
            <a:avLst/>
          </a:prstGeom>
          <a:solidFill>
            <a:srgbClr val="FF6F59"/>
          </a:solidFill>
          <a:ln/>
        </p:spPr>
      </p:sp>
      <p:sp>
        <p:nvSpPr>
          <p:cNvPr id="27" name="Text 25"/>
          <p:cNvSpPr/>
          <p:nvPr/>
        </p:nvSpPr>
        <p:spPr>
          <a:xfrm>
            <a:off x="10944225" y="5809878"/>
            <a:ext cx="6722708" cy="40607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5343"/>
              </a:lnSpc>
              <a:buNone/>
            </a:pPr>
            <a:r>
              <a:rPr lang="en-US" sz="2100" dirty="0">
                <a:solidFill>
                  <a:srgbClr val="523236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Bytes must be decoded using the sensor datasheet</a:t>
            </a:r>
            <a:endParaRPr lang="en-US" sz="2100" dirty="0"/>
          </a:p>
        </p:txBody>
      </p:sp>
      <p:sp>
        <p:nvSpPr>
          <p:cNvPr id="28" name="Shape 26"/>
          <p:cNvSpPr/>
          <p:nvPr/>
        </p:nvSpPr>
        <p:spPr>
          <a:xfrm>
            <a:off x="10563225" y="6482655"/>
            <a:ext cx="6581775" cy="1584796"/>
          </a:xfrm>
          <a:prstGeom prst="roundRect">
            <a:avLst>
              <a:gd name="adj" fmla="val 7212"/>
            </a:avLst>
          </a:prstGeom>
          <a:solidFill>
            <a:srgbClr val="FCEEE4"/>
          </a:solidFill>
          <a:ln/>
        </p:spPr>
      </p:sp>
      <p:sp>
        <p:nvSpPr>
          <p:cNvPr id="29" name="Text 27"/>
          <p:cNvSpPr/>
          <p:nvPr/>
        </p:nvSpPr>
        <p:spPr>
          <a:xfrm>
            <a:off x="10829925" y="6711255"/>
            <a:ext cx="6653212" cy="3535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4207"/>
              </a:lnSpc>
              <a:buNone/>
            </a:pPr>
            <a:r>
              <a:rPr lang="en-US" sz="1800" b="1" spc="288" kern="0" dirty="0">
                <a:solidFill>
                  <a:srgbClr val="B81D35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SHTC3 EXAMPLE</a:t>
            </a:r>
            <a:endParaRPr lang="en-US" sz="1800" dirty="0"/>
          </a:p>
        </p:txBody>
      </p:sp>
      <p:sp>
        <p:nvSpPr>
          <p:cNvPr id="30" name="Text 28"/>
          <p:cNvSpPr/>
          <p:nvPr/>
        </p:nvSpPr>
        <p:spPr>
          <a:xfrm>
            <a:off x="10829925" y="7102897"/>
            <a:ext cx="6229826" cy="77405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5343"/>
              </a:lnSpc>
              <a:buNone/>
            </a:pPr>
            <a:r>
              <a:rPr lang="en-US" sz="2100" dirty="0">
                <a:solidFill>
                  <a:srgbClr val="523236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Writing a command selects normal or low-power mode, sleep or wake-up</a:t>
            </a:r>
            <a:endParaRPr lang="en-US" sz="2100" dirty="0"/>
          </a:p>
        </p:txBody>
      </p:sp>
      <p:sp>
        <p:nvSpPr>
          <p:cNvPr id="31" name="Text 29"/>
          <p:cNvSpPr/>
          <p:nvPr/>
        </p:nvSpPr>
        <p:spPr>
          <a:xfrm>
            <a:off x="2286000" y="9096375"/>
            <a:ext cx="16344900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7D6164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Source: SHTC3 datasheet, sections 5.2 and 5.3.</a:t>
            </a:r>
            <a:endParaRPr lang="en-US" sz="18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8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" cy="10287000"/>
          </a:xfrm>
          <a:prstGeom prst="rect">
            <a:avLst/>
          </a:prstGeom>
          <a:solidFill>
            <a:srgbClr val="D7263D"/>
          </a:solidFill>
          <a:ln/>
        </p:spPr>
      </p:sp>
      <p:sp>
        <p:nvSpPr>
          <p:cNvPr id="3" name="Text 1"/>
          <p:cNvSpPr/>
          <p:nvPr/>
        </p:nvSpPr>
        <p:spPr>
          <a:xfrm>
            <a:off x="341412" y="609600"/>
            <a:ext cx="612502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3019"/>
              </a:lnSpc>
              <a:buNone/>
            </a:pPr>
            <a:r>
              <a:rPr lang="en-US" sz="3300" b="1" dirty="0">
                <a:solidFill>
                  <a:srgbClr val="FFF8F2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06</a:t>
            </a:r>
            <a:endParaRPr lang="en-US" sz="3300" dirty="0"/>
          </a:p>
        </p:txBody>
      </p:sp>
      <p:sp>
        <p:nvSpPr>
          <p:cNvPr id="4" name="Text 2"/>
          <p:cNvSpPr/>
          <p:nvPr/>
        </p:nvSpPr>
        <p:spPr>
          <a:xfrm rot="10800000">
            <a:off x="471488" y="1409700"/>
            <a:ext cx="352425" cy="463451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 vert="eaVert">
            <a:normAutofit/>
          </a:bodyPr>
          <a:lstStyle/>
          <a:p>
            <a:pPr algn="l" indent="0" marL="0">
              <a:buNone/>
            </a:pPr>
            <a:r>
              <a:rPr lang="en-US" sz="1800" b="1" spc="288" kern="0" dirty="0">
                <a:solidFill>
                  <a:srgbClr val="FFD9D2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I²C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419100" y="8767763"/>
            <a:ext cx="381000" cy="381000"/>
          </a:xfrm>
          <a:prstGeom prst="ellipse">
            <a:avLst/>
          </a:prstGeom>
          <a:solidFill>
            <a:srgbClr val="FF6F59"/>
          </a:solidFill>
          <a:ln/>
        </p:spPr>
      </p:sp>
      <p:sp>
        <p:nvSpPr>
          <p:cNvPr id="6" name="Text 4"/>
          <p:cNvSpPr/>
          <p:nvPr/>
        </p:nvSpPr>
        <p:spPr>
          <a:xfrm>
            <a:off x="472380" y="9453563"/>
            <a:ext cx="350565" cy="3381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FFF8F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28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17240250" y="-1047750"/>
            <a:ext cx="2095500" cy="2095500"/>
          </a:xfrm>
          <a:prstGeom prst="ellipse">
            <a:avLst/>
          </a:prstGeom>
          <a:solidFill>
            <a:srgbClr val="FF6F59"/>
          </a:solidFill>
          <a:ln/>
        </p:spPr>
      </p:sp>
      <p:sp>
        <p:nvSpPr>
          <p:cNvPr id="8" name="Shape 6"/>
          <p:cNvSpPr/>
          <p:nvPr/>
        </p:nvSpPr>
        <p:spPr>
          <a:xfrm>
            <a:off x="2286000" y="1052513"/>
            <a:ext cx="152400" cy="152400"/>
          </a:xfrm>
          <a:prstGeom prst="ellipse">
            <a:avLst/>
          </a:prstGeom>
          <a:solidFill>
            <a:srgbClr val="FF6F59"/>
          </a:solidFill>
          <a:ln/>
        </p:spPr>
      </p:sp>
      <p:sp>
        <p:nvSpPr>
          <p:cNvPr id="9" name="Text 7"/>
          <p:cNvSpPr/>
          <p:nvPr/>
        </p:nvSpPr>
        <p:spPr>
          <a:xfrm>
            <a:off x="2590800" y="990600"/>
            <a:ext cx="3217002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288" kern="0" dirty="0">
                <a:solidFill>
                  <a:srgbClr val="B81D35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READING THE SHTC3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2286000" y="1495425"/>
            <a:ext cx="15716250" cy="79816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7692"/>
              </a:lnSpc>
              <a:buNone/>
            </a:pPr>
            <a:r>
              <a:rPr lang="en-US" sz="5700" b="1" spc="-171" kern="0" dirty="0">
                <a:solidFill>
                  <a:srgbClr val="2B1216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One measurement takes four I²C exchanges</a:t>
            </a:r>
            <a:endParaRPr lang="en-US" sz="5700" dirty="0"/>
          </a:p>
        </p:txBody>
      </p:sp>
      <p:sp>
        <p:nvSpPr>
          <p:cNvPr id="11" name="Text 9"/>
          <p:cNvSpPr/>
          <p:nvPr/>
        </p:nvSpPr>
        <p:spPr>
          <a:xfrm>
            <a:off x="2286000" y="2712690"/>
            <a:ext cx="254571" cy="571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3582"/>
              </a:lnSpc>
              <a:buNone/>
            </a:pPr>
            <a:r>
              <a:rPr lang="en-US" sz="4200" b="1" dirty="0">
                <a:solidFill>
                  <a:srgbClr val="D7263D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1</a:t>
            </a:r>
            <a:endParaRPr lang="en-US" sz="4200" dirty="0"/>
          </a:p>
        </p:txBody>
      </p:sp>
      <p:sp>
        <p:nvSpPr>
          <p:cNvPr id="12" name="Text 10"/>
          <p:cNvSpPr/>
          <p:nvPr/>
        </p:nvSpPr>
        <p:spPr>
          <a:xfrm>
            <a:off x="2616771" y="2855565"/>
            <a:ext cx="1455800" cy="4238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550" b="1" dirty="0">
                <a:solidFill>
                  <a:srgbClr val="2B1216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Wake up</a:t>
            </a:r>
            <a:endParaRPr lang="en-US" sz="2550" dirty="0"/>
          </a:p>
        </p:txBody>
      </p:sp>
      <p:sp>
        <p:nvSpPr>
          <p:cNvPr id="13" name="Shape 11"/>
          <p:cNvSpPr/>
          <p:nvPr/>
        </p:nvSpPr>
        <p:spPr>
          <a:xfrm>
            <a:off x="2286000" y="3379440"/>
            <a:ext cx="1089720" cy="414338"/>
          </a:xfrm>
          <a:prstGeom prst="roundRect">
            <a:avLst>
              <a:gd name="adj" fmla="val 13793"/>
            </a:avLst>
          </a:prstGeom>
          <a:solidFill>
            <a:srgbClr val="FCEEE4"/>
          </a:solidFill>
          <a:ln w="19050">
            <a:solidFill>
              <a:srgbClr val="2B121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419350" y="3436590"/>
            <a:ext cx="899220" cy="3381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2B121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0x70 W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3451920" y="3379440"/>
            <a:ext cx="815355" cy="414338"/>
          </a:xfrm>
          <a:prstGeom prst="roundRect">
            <a:avLst>
              <a:gd name="adj" fmla="val 13793"/>
            </a:avLst>
          </a:prstGeom>
          <a:solidFill>
            <a:srgbClr val="FCEEE4"/>
          </a:solidFill>
          <a:ln w="19050">
            <a:solidFill>
              <a:srgbClr val="2B121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585270" y="3436590"/>
            <a:ext cx="624855" cy="3381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2B121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0x35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4343474" y="3379440"/>
            <a:ext cx="815355" cy="414338"/>
          </a:xfrm>
          <a:prstGeom prst="roundRect">
            <a:avLst>
              <a:gd name="adj" fmla="val 13793"/>
            </a:avLst>
          </a:prstGeom>
          <a:solidFill>
            <a:srgbClr val="FCEEE4"/>
          </a:solidFill>
          <a:ln w="19050">
            <a:solidFill>
              <a:srgbClr val="2B121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476824" y="3436590"/>
            <a:ext cx="624855" cy="3381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2B121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0x17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2286000" y="3927128"/>
            <a:ext cx="3709035" cy="3381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7D616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wait ≤ 240 µs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6115050" y="2712690"/>
            <a:ext cx="386432" cy="571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3582"/>
              </a:lnSpc>
              <a:buNone/>
            </a:pPr>
            <a:r>
              <a:rPr lang="en-US" sz="4200" b="1" dirty="0">
                <a:solidFill>
                  <a:srgbClr val="D7263D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2</a:t>
            </a:r>
            <a:endParaRPr lang="en-US" sz="4200" dirty="0"/>
          </a:p>
        </p:txBody>
      </p:sp>
      <p:sp>
        <p:nvSpPr>
          <p:cNvPr id="21" name="Text 19"/>
          <p:cNvSpPr/>
          <p:nvPr/>
        </p:nvSpPr>
        <p:spPr>
          <a:xfrm>
            <a:off x="6577682" y="2855565"/>
            <a:ext cx="1488542" cy="4238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550" b="1" dirty="0">
                <a:solidFill>
                  <a:srgbClr val="2B1216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Measure</a:t>
            </a:r>
            <a:endParaRPr lang="en-US" sz="2550" dirty="0"/>
          </a:p>
        </p:txBody>
      </p:sp>
      <p:sp>
        <p:nvSpPr>
          <p:cNvPr id="22" name="Shape 20"/>
          <p:cNvSpPr/>
          <p:nvPr/>
        </p:nvSpPr>
        <p:spPr>
          <a:xfrm>
            <a:off x="6115050" y="3379440"/>
            <a:ext cx="1089720" cy="414338"/>
          </a:xfrm>
          <a:prstGeom prst="roundRect">
            <a:avLst>
              <a:gd name="adj" fmla="val 13793"/>
            </a:avLst>
          </a:prstGeom>
          <a:solidFill>
            <a:srgbClr val="FCEEE4"/>
          </a:solidFill>
          <a:ln w="19050">
            <a:solidFill>
              <a:srgbClr val="2B121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248400" y="3436590"/>
            <a:ext cx="899220" cy="3381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2B121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0x70 W</a:t>
            </a:r>
            <a:endParaRPr lang="en-US" sz="1800" dirty="0"/>
          </a:p>
        </p:txBody>
      </p:sp>
      <p:sp>
        <p:nvSpPr>
          <p:cNvPr id="24" name="Shape 22"/>
          <p:cNvSpPr/>
          <p:nvPr/>
        </p:nvSpPr>
        <p:spPr>
          <a:xfrm>
            <a:off x="7280970" y="3379440"/>
            <a:ext cx="815355" cy="414338"/>
          </a:xfrm>
          <a:prstGeom prst="roundRect">
            <a:avLst>
              <a:gd name="adj" fmla="val 13793"/>
            </a:avLst>
          </a:prstGeom>
          <a:solidFill>
            <a:srgbClr val="FCEEE4"/>
          </a:solidFill>
          <a:ln w="19050">
            <a:solidFill>
              <a:srgbClr val="2B121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414320" y="3436590"/>
            <a:ext cx="624855" cy="3381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2B121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0x7C</a:t>
            </a:r>
            <a:endParaRPr lang="en-US" sz="1800" dirty="0"/>
          </a:p>
        </p:txBody>
      </p:sp>
      <p:sp>
        <p:nvSpPr>
          <p:cNvPr id="26" name="Shape 24"/>
          <p:cNvSpPr/>
          <p:nvPr/>
        </p:nvSpPr>
        <p:spPr>
          <a:xfrm>
            <a:off x="8172524" y="3379440"/>
            <a:ext cx="815355" cy="414338"/>
          </a:xfrm>
          <a:prstGeom prst="roundRect">
            <a:avLst>
              <a:gd name="adj" fmla="val 13793"/>
            </a:avLst>
          </a:prstGeom>
          <a:solidFill>
            <a:srgbClr val="FCEEE4"/>
          </a:solidFill>
          <a:ln w="19050">
            <a:solidFill>
              <a:srgbClr val="2B121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305874" y="3436590"/>
            <a:ext cx="624855" cy="3381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2B121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0xA2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6115050" y="3927128"/>
            <a:ext cx="3709035" cy="3381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7D616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wait ≤ 12.1 ms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9944100" y="2712690"/>
            <a:ext cx="389558" cy="571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3582"/>
              </a:lnSpc>
              <a:buNone/>
            </a:pPr>
            <a:r>
              <a:rPr lang="en-US" sz="4200" b="1" dirty="0">
                <a:solidFill>
                  <a:srgbClr val="D7263D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3</a:t>
            </a:r>
            <a:endParaRPr lang="en-US" sz="4200" dirty="0"/>
          </a:p>
        </p:txBody>
      </p:sp>
      <p:sp>
        <p:nvSpPr>
          <p:cNvPr id="30" name="Text 28"/>
          <p:cNvSpPr/>
          <p:nvPr/>
        </p:nvSpPr>
        <p:spPr>
          <a:xfrm>
            <a:off x="10409858" y="2855565"/>
            <a:ext cx="860524" cy="4238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550" b="1" dirty="0">
                <a:solidFill>
                  <a:srgbClr val="2B1216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Read</a:t>
            </a:r>
            <a:endParaRPr lang="en-US" sz="2550" dirty="0"/>
          </a:p>
        </p:txBody>
      </p:sp>
      <p:sp>
        <p:nvSpPr>
          <p:cNvPr id="31" name="Shape 29"/>
          <p:cNvSpPr/>
          <p:nvPr/>
        </p:nvSpPr>
        <p:spPr>
          <a:xfrm>
            <a:off x="9944100" y="3379440"/>
            <a:ext cx="1089720" cy="414338"/>
          </a:xfrm>
          <a:prstGeom prst="roundRect">
            <a:avLst>
              <a:gd name="adj" fmla="val 13793"/>
            </a:avLst>
          </a:prstGeom>
          <a:solidFill>
            <a:srgbClr val="FCEEE4"/>
          </a:solidFill>
          <a:ln w="19050">
            <a:solidFill>
              <a:srgbClr val="2B1216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0077450" y="3436590"/>
            <a:ext cx="899220" cy="3381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2B121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0x70 R</a:t>
            </a:r>
            <a:endParaRPr lang="en-US" sz="1800" dirty="0"/>
          </a:p>
        </p:txBody>
      </p:sp>
      <p:sp>
        <p:nvSpPr>
          <p:cNvPr id="33" name="Shape 31"/>
          <p:cNvSpPr/>
          <p:nvPr/>
        </p:nvSpPr>
        <p:spPr>
          <a:xfrm>
            <a:off x="11110020" y="3379440"/>
            <a:ext cx="952500" cy="414338"/>
          </a:xfrm>
          <a:prstGeom prst="roundRect">
            <a:avLst>
              <a:gd name="adj" fmla="val 13793"/>
            </a:avLst>
          </a:prstGeom>
          <a:solidFill>
            <a:srgbClr val="FFD9D2"/>
          </a:solidFill>
          <a:ln w="19050">
            <a:solidFill>
              <a:srgbClr val="2B1216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11243370" y="3436590"/>
            <a:ext cx="762000" cy="3381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2B121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T MSB</a:t>
            </a:r>
            <a:endParaRPr lang="en-US" sz="1800" dirty="0"/>
          </a:p>
        </p:txBody>
      </p:sp>
      <p:sp>
        <p:nvSpPr>
          <p:cNvPr id="35" name="Shape 33"/>
          <p:cNvSpPr/>
          <p:nvPr/>
        </p:nvSpPr>
        <p:spPr>
          <a:xfrm>
            <a:off x="12138720" y="3379440"/>
            <a:ext cx="952500" cy="414338"/>
          </a:xfrm>
          <a:prstGeom prst="roundRect">
            <a:avLst>
              <a:gd name="adj" fmla="val 13793"/>
            </a:avLst>
          </a:prstGeom>
          <a:solidFill>
            <a:srgbClr val="FFD9D2"/>
          </a:solidFill>
          <a:ln w="19050">
            <a:solidFill>
              <a:srgbClr val="2B1216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12272070" y="3436590"/>
            <a:ext cx="762000" cy="3381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2B121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T LSB</a:t>
            </a:r>
            <a:endParaRPr lang="en-US" sz="1800" dirty="0"/>
          </a:p>
        </p:txBody>
      </p:sp>
      <p:sp>
        <p:nvSpPr>
          <p:cNvPr id="37" name="Shape 35"/>
          <p:cNvSpPr/>
          <p:nvPr/>
        </p:nvSpPr>
        <p:spPr>
          <a:xfrm>
            <a:off x="9944100" y="3869978"/>
            <a:ext cx="678210" cy="414338"/>
          </a:xfrm>
          <a:prstGeom prst="roundRect">
            <a:avLst>
              <a:gd name="adj" fmla="val 13793"/>
            </a:avLst>
          </a:prstGeom>
          <a:solidFill>
            <a:srgbClr val="FFD9D2"/>
          </a:solidFill>
          <a:ln w="19050">
            <a:solidFill>
              <a:srgbClr val="2B1216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10077450" y="3927128"/>
            <a:ext cx="487710" cy="3381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2B121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CRC</a:t>
            </a:r>
            <a:endParaRPr lang="en-US" sz="1800" dirty="0"/>
          </a:p>
        </p:txBody>
      </p:sp>
      <p:sp>
        <p:nvSpPr>
          <p:cNvPr id="39" name="Shape 37"/>
          <p:cNvSpPr/>
          <p:nvPr/>
        </p:nvSpPr>
        <p:spPr>
          <a:xfrm>
            <a:off x="10698510" y="3869978"/>
            <a:ext cx="1089720" cy="414338"/>
          </a:xfrm>
          <a:prstGeom prst="roundRect">
            <a:avLst>
              <a:gd name="adj" fmla="val 13793"/>
            </a:avLst>
          </a:prstGeom>
          <a:solidFill>
            <a:srgbClr val="FFD9D2"/>
          </a:solidFill>
          <a:ln w="19050">
            <a:solidFill>
              <a:srgbClr val="2B1216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10831860" y="3927128"/>
            <a:ext cx="899220" cy="3381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2B121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RH MSB</a:t>
            </a:r>
            <a:endParaRPr lang="en-US" sz="1800" dirty="0"/>
          </a:p>
        </p:txBody>
      </p:sp>
      <p:sp>
        <p:nvSpPr>
          <p:cNvPr id="41" name="Shape 39"/>
          <p:cNvSpPr/>
          <p:nvPr/>
        </p:nvSpPr>
        <p:spPr>
          <a:xfrm>
            <a:off x="11864429" y="3869978"/>
            <a:ext cx="1089720" cy="414338"/>
          </a:xfrm>
          <a:prstGeom prst="roundRect">
            <a:avLst>
              <a:gd name="adj" fmla="val 13793"/>
            </a:avLst>
          </a:prstGeom>
          <a:solidFill>
            <a:srgbClr val="FFD9D2"/>
          </a:solidFill>
          <a:ln w="19050">
            <a:solidFill>
              <a:srgbClr val="2B1216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11997779" y="3927128"/>
            <a:ext cx="899220" cy="3381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2B121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RH LSB</a:t>
            </a:r>
            <a:endParaRPr lang="en-US" sz="1800" dirty="0"/>
          </a:p>
        </p:txBody>
      </p:sp>
      <p:sp>
        <p:nvSpPr>
          <p:cNvPr id="43" name="Shape 41"/>
          <p:cNvSpPr/>
          <p:nvPr/>
        </p:nvSpPr>
        <p:spPr>
          <a:xfrm>
            <a:off x="9944100" y="4360515"/>
            <a:ext cx="678210" cy="414338"/>
          </a:xfrm>
          <a:prstGeom prst="roundRect">
            <a:avLst>
              <a:gd name="adj" fmla="val 13793"/>
            </a:avLst>
          </a:prstGeom>
          <a:solidFill>
            <a:srgbClr val="FFD9D2"/>
          </a:solidFill>
          <a:ln w="19050">
            <a:solidFill>
              <a:srgbClr val="2B1216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10077450" y="4417665"/>
            <a:ext cx="487710" cy="3381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2B121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CRC</a:t>
            </a:r>
            <a:endParaRPr lang="en-US" sz="1800" dirty="0"/>
          </a:p>
        </p:txBody>
      </p:sp>
      <p:sp>
        <p:nvSpPr>
          <p:cNvPr id="45" name="Text 43"/>
          <p:cNvSpPr/>
          <p:nvPr/>
        </p:nvSpPr>
        <p:spPr>
          <a:xfrm>
            <a:off x="9944100" y="4908203"/>
            <a:ext cx="3709035" cy="3381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7D616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6 bytes received</a:t>
            </a:r>
            <a:endParaRPr lang="en-US" sz="1800" dirty="0"/>
          </a:p>
        </p:txBody>
      </p:sp>
      <p:sp>
        <p:nvSpPr>
          <p:cNvPr id="46" name="Text 44"/>
          <p:cNvSpPr/>
          <p:nvPr/>
        </p:nvSpPr>
        <p:spPr>
          <a:xfrm>
            <a:off x="13773150" y="2712690"/>
            <a:ext cx="408161" cy="571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3582"/>
              </a:lnSpc>
              <a:buNone/>
            </a:pPr>
            <a:r>
              <a:rPr lang="en-US" sz="4200" b="1" dirty="0">
                <a:solidFill>
                  <a:srgbClr val="D7263D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4</a:t>
            </a:r>
            <a:endParaRPr lang="en-US" sz="4200" dirty="0"/>
          </a:p>
        </p:txBody>
      </p:sp>
      <p:sp>
        <p:nvSpPr>
          <p:cNvPr id="47" name="Text 45"/>
          <p:cNvSpPr/>
          <p:nvPr/>
        </p:nvSpPr>
        <p:spPr>
          <a:xfrm>
            <a:off x="14257511" y="2855565"/>
            <a:ext cx="937692" cy="4238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550" b="1" dirty="0">
                <a:solidFill>
                  <a:srgbClr val="2B1216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Sleep</a:t>
            </a:r>
            <a:endParaRPr lang="en-US" sz="2550" dirty="0"/>
          </a:p>
        </p:txBody>
      </p:sp>
      <p:sp>
        <p:nvSpPr>
          <p:cNvPr id="48" name="Shape 46"/>
          <p:cNvSpPr/>
          <p:nvPr/>
        </p:nvSpPr>
        <p:spPr>
          <a:xfrm>
            <a:off x="13773150" y="3379440"/>
            <a:ext cx="1089720" cy="414338"/>
          </a:xfrm>
          <a:prstGeom prst="roundRect">
            <a:avLst>
              <a:gd name="adj" fmla="val 13793"/>
            </a:avLst>
          </a:prstGeom>
          <a:solidFill>
            <a:srgbClr val="FCEEE4"/>
          </a:solidFill>
          <a:ln w="19050">
            <a:solidFill>
              <a:srgbClr val="2B1216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13906500" y="3436590"/>
            <a:ext cx="899220" cy="3381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2B121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0x70 W</a:t>
            </a:r>
            <a:endParaRPr lang="en-US" sz="1800" dirty="0"/>
          </a:p>
        </p:txBody>
      </p:sp>
      <p:sp>
        <p:nvSpPr>
          <p:cNvPr id="50" name="Shape 48"/>
          <p:cNvSpPr/>
          <p:nvPr/>
        </p:nvSpPr>
        <p:spPr>
          <a:xfrm>
            <a:off x="14939070" y="3379440"/>
            <a:ext cx="815355" cy="414338"/>
          </a:xfrm>
          <a:prstGeom prst="roundRect">
            <a:avLst>
              <a:gd name="adj" fmla="val 13793"/>
            </a:avLst>
          </a:prstGeom>
          <a:solidFill>
            <a:srgbClr val="FCEEE4"/>
          </a:solidFill>
          <a:ln w="19050">
            <a:solidFill>
              <a:srgbClr val="2B1216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15072420" y="3436590"/>
            <a:ext cx="624855" cy="3381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2B121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0xB0</a:t>
            </a:r>
            <a:endParaRPr lang="en-US" sz="1800" dirty="0"/>
          </a:p>
        </p:txBody>
      </p:sp>
      <p:sp>
        <p:nvSpPr>
          <p:cNvPr id="52" name="Shape 50"/>
          <p:cNvSpPr/>
          <p:nvPr/>
        </p:nvSpPr>
        <p:spPr>
          <a:xfrm>
            <a:off x="15830624" y="3379440"/>
            <a:ext cx="815355" cy="414338"/>
          </a:xfrm>
          <a:prstGeom prst="roundRect">
            <a:avLst>
              <a:gd name="adj" fmla="val 13793"/>
            </a:avLst>
          </a:prstGeom>
          <a:solidFill>
            <a:srgbClr val="FCEEE4"/>
          </a:solidFill>
          <a:ln w="19050">
            <a:solidFill>
              <a:srgbClr val="2B1216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15963974" y="3436590"/>
            <a:ext cx="624855" cy="3381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2B121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0x98</a:t>
            </a:r>
            <a:endParaRPr lang="en-US" sz="1800" dirty="0"/>
          </a:p>
        </p:txBody>
      </p:sp>
      <p:sp>
        <p:nvSpPr>
          <p:cNvPr id="54" name="Text 52"/>
          <p:cNvSpPr/>
          <p:nvPr/>
        </p:nvSpPr>
        <p:spPr>
          <a:xfrm>
            <a:off x="13773150" y="3927128"/>
            <a:ext cx="3709035" cy="3381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7D616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saves power</a:t>
            </a:r>
            <a:endParaRPr lang="en-US" sz="1800" dirty="0"/>
          </a:p>
        </p:txBody>
      </p:sp>
      <p:sp>
        <p:nvSpPr>
          <p:cNvPr id="55" name="Shape 53"/>
          <p:cNvSpPr/>
          <p:nvPr/>
        </p:nvSpPr>
        <p:spPr>
          <a:xfrm>
            <a:off x="2286000" y="7415287"/>
            <a:ext cx="14859000" cy="19050"/>
          </a:xfrm>
          <a:prstGeom prst="rect">
            <a:avLst/>
          </a:prstGeom>
          <a:solidFill>
            <a:srgbClr val="EBD6CB"/>
          </a:solidFill>
          <a:ln/>
        </p:spPr>
      </p:sp>
      <p:sp>
        <p:nvSpPr>
          <p:cNvPr id="56" name="Text 54"/>
          <p:cNvSpPr/>
          <p:nvPr/>
        </p:nvSpPr>
        <p:spPr>
          <a:xfrm>
            <a:off x="2286000" y="7777237"/>
            <a:ext cx="6009992" cy="73052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1667"/>
              </a:lnSpc>
              <a:buNone/>
            </a:pPr>
            <a:r>
              <a:rPr lang="en-US" sz="4500" b="1" spc="-90" kern="0" dirty="0">
                <a:solidFill>
                  <a:srgbClr val="D7263D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T = −45 + 175 · S</a:t>
            </a:r>
            <a:pPr algn="l" indent="0" marL="0">
              <a:lnSpc>
                <a:spcPct val="91667"/>
              </a:lnSpc>
              <a:buNone/>
            </a:pPr>
            <a:r>
              <a:rPr lang="en-US" sz="2400" b="1" baseline="-40000" spc="-90" kern="0" dirty="0">
                <a:solidFill>
                  <a:srgbClr val="D7263D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T </a:t>
            </a:r>
            <a:pPr algn="l" indent="0" marL="0">
              <a:lnSpc>
                <a:spcPct val="91667"/>
              </a:lnSpc>
              <a:buNone/>
            </a:pPr>
            <a:r>
              <a:rPr lang="en-US" sz="4500" b="1" spc="-90" kern="0" dirty="0">
                <a:solidFill>
                  <a:srgbClr val="D7263D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/ 2</a:t>
            </a:r>
            <a:pPr algn="l" indent="0" marL="0">
              <a:lnSpc>
                <a:spcPct val="91667"/>
              </a:lnSpc>
              <a:buNone/>
            </a:pPr>
            <a:r>
              <a:rPr lang="en-US" sz="2400" b="1" baseline="30000" spc="-90" kern="0" dirty="0">
                <a:solidFill>
                  <a:srgbClr val="D7263D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16</a:t>
            </a:r>
            <a:endParaRPr lang="en-US" sz="4500" dirty="0"/>
          </a:p>
        </p:txBody>
      </p:sp>
      <p:sp>
        <p:nvSpPr>
          <p:cNvPr id="57" name="Text 55"/>
          <p:cNvSpPr/>
          <p:nvPr/>
        </p:nvSpPr>
        <p:spPr>
          <a:xfrm>
            <a:off x="2286000" y="8564910"/>
            <a:ext cx="6009992" cy="37906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7D616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</a:t>
            </a:r>
            <a:pPr algn="l" indent="0" marL="0">
              <a:buNone/>
            </a:pPr>
            <a:r>
              <a:rPr lang="en-US" sz="1500" baseline="-40000" dirty="0">
                <a:solidFill>
                  <a:srgbClr val="7D616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T</a:t>
            </a:r>
            <a:pPr algn="l" indent="0" marL="0">
              <a:buNone/>
            </a:pPr>
            <a:r>
              <a:rPr lang="en-US" sz="1800" dirty="0">
                <a:solidFill>
                  <a:srgbClr val="7D616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: raw 16-bit value = (MSB × 256) + LSB</a:t>
            </a:r>
            <a:endParaRPr lang="en-US" sz="1800" dirty="0"/>
          </a:p>
        </p:txBody>
      </p:sp>
      <p:sp>
        <p:nvSpPr>
          <p:cNvPr id="58" name="Shape 56"/>
          <p:cNvSpPr/>
          <p:nvPr/>
        </p:nvSpPr>
        <p:spPr>
          <a:xfrm>
            <a:off x="8511629" y="8008516"/>
            <a:ext cx="152400" cy="152400"/>
          </a:xfrm>
          <a:prstGeom prst="ellipse">
            <a:avLst/>
          </a:prstGeom>
          <a:solidFill>
            <a:srgbClr val="FF6F59"/>
          </a:solidFill>
          <a:ln/>
        </p:spPr>
      </p:sp>
      <p:sp>
        <p:nvSpPr>
          <p:cNvPr id="59" name="Text 57"/>
          <p:cNvSpPr/>
          <p:nvPr/>
        </p:nvSpPr>
        <p:spPr>
          <a:xfrm>
            <a:off x="8892629" y="7894216"/>
            <a:ext cx="6125490" cy="45050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5343"/>
              </a:lnSpc>
              <a:buNone/>
            </a:pPr>
            <a:r>
              <a:rPr lang="en-US" sz="2100" dirty="0">
                <a:solidFill>
                  <a:srgbClr val="523236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Example: 0x64, 0x8B → S</a:t>
            </a:r>
            <a:pPr algn="l" indent="0" marL="0">
              <a:lnSpc>
                <a:spcPct val="115343"/>
              </a:lnSpc>
              <a:buNone/>
            </a:pPr>
            <a:r>
              <a:rPr lang="en-US" sz="1750" baseline="-40000" dirty="0">
                <a:solidFill>
                  <a:srgbClr val="523236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T </a:t>
            </a:r>
            <a:pPr algn="l" indent="0" marL="0">
              <a:lnSpc>
                <a:spcPct val="115343"/>
              </a:lnSpc>
              <a:buNone/>
            </a:pPr>
            <a:r>
              <a:rPr lang="en-US" sz="2100" dirty="0">
                <a:solidFill>
                  <a:srgbClr val="523236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= 25 739 → </a:t>
            </a:r>
            <a:pPr algn="l" indent="0" marL="0">
              <a:lnSpc>
                <a:spcPct val="115343"/>
              </a:lnSpc>
              <a:buNone/>
            </a:pPr>
            <a:r>
              <a:rPr lang="en-US" sz="2100" b="1" dirty="0">
                <a:solidFill>
                  <a:srgbClr val="2B1216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23.7 °C</a:t>
            </a:r>
            <a:endParaRPr lang="en-US" sz="2100" dirty="0"/>
          </a:p>
        </p:txBody>
      </p:sp>
      <p:sp>
        <p:nvSpPr>
          <p:cNvPr id="60" name="Shape 58"/>
          <p:cNvSpPr/>
          <p:nvPr/>
        </p:nvSpPr>
        <p:spPr>
          <a:xfrm>
            <a:off x="8511629" y="8535219"/>
            <a:ext cx="152400" cy="152400"/>
          </a:xfrm>
          <a:prstGeom prst="ellipse">
            <a:avLst/>
          </a:prstGeom>
          <a:solidFill>
            <a:srgbClr val="FF6F59"/>
          </a:solidFill>
          <a:ln/>
        </p:spPr>
      </p:sp>
      <p:sp>
        <p:nvSpPr>
          <p:cNvPr id="61" name="Text 59"/>
          <p:cNvSpPr/>
          <p:nvPr/>
        </p:nvSpPr>
        <p:spPr>
          <a:xfrm>
            <a:off x="8892629" y="8420919"/>
            <a:ext cx="5694194" cy="40607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5343"/>
              </a:lnSpc>
              <a:buNone/>
            </a:pPr>
            <a:r>
              <a:rPr lang="en-US" sz="2100" dirty="0">
                <a:solidFill>
                  <a:srgbClr val="523236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CRC byte lets us detect transmission errors</a:t>
            </a:r>
            <a:endParaRPr lang="en-US" sz="2100" dirty="0"/>
          </a:p>
        </p:txBody>
      </p:sp>
      <p:sp>
        <p:nvSpPr>
          <p:cNvPr id="62" name="Text 60"/>
          <p:cNvSpPr/>
          <p:nvPr/>
        </p:nvSpPr>
        <p:spPr>
          <a:xfrm>
            <a:off x="2286000" y="9096375"/>
            <a:ext cx="16344900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7D6164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Command 0x7CA2: normal mode, temperature first, clock stretching. Source: SHTC3 datasheet, sections 5.3–5.11.</a:t>
            </a:r>
            <a:endParaRPr lang="en-US" sz="18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8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" cy="10287000"/>
          </a:xfrm>
          <a:prstGeom prst="rect">
            <a:avLst/>
          </a:prstGeom>
          <a:solidFill>
            <a:srgbClr val="D7263D"/>
          </a:solidFill>
          <a:ln/>
        </p:spPr>
      </p:sp>
      <p:sp>
        <p:nvSpPr>
          <p:cNvPr id="3" name="Text 1"/>
          <p:cNvSpPr/>
          <p:nvPr/>
        </p:nvSpPr>
        <p:spPr>
          <a:xfrm>
            <a:off x="341412" y="609600"/>
            <a:ext cx="612502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3019"/>
              </a:lnSpc>
              <a:buNone/>
            </a:pPr>
            <a:r>
              <a:rPr lang="en-US" sz="3300" b="1" dirty="0">
                <a:solidFill>
                  <a:srgbClr val="FFF8F2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06</a:t>
            </a:r>
            <a:endParaRPr lang="en-US" sz="3300" dirty="0"/>
          </a:p>
        </p:txBody>
      </p:sp>
      <p:sp>
        <p:nvSpPr>
          <p:cNvPr id="4" name="Text 2"/>
          <p:cNvSpPr/>
          <p:nvPr/>
        </p:nvSpPr>
        <p:spPr>
          <a:xfrm rot="10800000">
            <a:off x="471488" y="1409700"/>
            <a:ext cx="352425" cy="463451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 vert="eaVert">
            <a:normAutofit/>
          </a:bodyPr>
          <a:lstStyle/>
          <a:p>
            <a:pPr algn="l" indent="0" marL="0">
              <a:buNone/>
            </a:pPr>
            <a:r>
              <a:rPr lang="en-US" sz="1800" b="1" spc="288" kern="0" dirty="0">
                <a:solidFill>
                  <a:srgbClr val="FFD9D2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I²C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419100" y="8767763"/>
            <a:ext cx="381000" cy="381000"/>
          </a:xfrm>
          <a:prstGeom prst="ellipse">
            <a:avLst/>
          </a:prstGeom>
          <a:solidFill>
            <a:srgbClr val="FF6F59"/>
          </a:solidFill>
          <a:ln/>
        </p:spPr>
      </p:sp>
      <p:sp>
        <p:nvSpPr>
          <p:cNvPr id="6" name="Text 4"/>
          <p:cNvSpPr/>
          <p:nvPr/>
        </p:nvSpPr>
        <p:spPr>
          <a:xfrm>
            <a:off x="472380" y="9453563"/>
            <a:ext cx="350565" cy="3381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FFF8F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29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17240250" y="-1047750"/>
            <a:ext cx="2095500" cy="2095500"/>
          </a:xfrm>
          <a:prstGeom prst="ellipse">
            <a:avLst/>
          </a:prstGeom>
          <a:solidFill>
            <a:srgbClr val="FF6F59"/>
          </a:solidFill>
          <a:ln/>
        </p:spPr>
      </p:sp>
      <p:sp>
        <p:nvSpPr>
          <p:cNvPr id="8" name="Shape 6"/>
          <p:cNvSpPr/>
          <p:nvPr/>
        </p:nvSpPr>
        <p:spPr>
          <a:xfrm>
            <a:off x="2286000" y="1052513"/>
            <a:ext cx="152400" cy="152400"/>
          </a:xfrm>
          <a:prstGeom prst="ellipse">
            <a:avLst/>
          </a:prstGeom>
          <a:solidFill>
            <a:srgbClr val="FF6F59"/>
          </a:solidFill>
          <a:ln/>
        </p:spPr>
      </p:sp>
      <p:sp>
        <p:nvSpPr>
          <p:cNvPr id="9" name="Text 7"/>
          <p:cNvSpPr/>
          <p:nvPr/>
        </p:nvSpPr>
        <p:spPr>
          <a:xfrm>
            <a:off x="2590800" y="990600"/>
            <a:ext cx="2971681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288" kern="0" dirty="0">
                <a:solidFill>
                  <a:srgbClr val="B81D35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ARDUINO EXAMPLE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2286000" y="1495425"/>
            <a:ext cx="15716250" cy="79816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7692"/>
              </a:lnSpc>
              <a:buNone/>
            </a:pPr>
            <a:r>
              <a:rPr lang="en-US" sz="5700" b="1" spc="-171" kern="0" dirty="0">
                <a:solidFill>
                  <a:srgbClr val="2B1216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Reading the SHTC3 with Arduino</a:t>
            </a:r>
            <a:endParaRPr lang="en-US" sz="5700" dirty="0"/>
          </a:p>
        </p:txBody>
      </p:sp>
      <p:sp>
        <p:nvSpPr>
          <p:cNvPr id="11" name="Shape 9"/>
          <p:cNvSpPr/>
          <p:nvPr/>
        </p:nvSpPr>
        <p:spPr>
          <a:xfrm>
            <a:off x="2286000" y="2598390"/>
            <a:ext cx="133350" cy="133350"/>
          </a:xfrm>
          <a:prstGeom prst="ellipse">
            <a:avLst/>
          </a:prstGeom>
          <a:solidFill>
            <a:srgbClr val="FF6F59"/>
          </a:solidFill>
          <a:ln/>
        </p:spPr>
      </p:sp>
      <p:sp>
        <p:nvSpPr>
          <p:cNvPr id="12" name="Text 10"/>
          <p:cNvSpPr/>
          <p:nvPr/>
        </p:nvSpPr>
        <p:spPr>
          <a:xfrm>
            <a:off x="2609850" y="2484090"/>
            <a:ext cx="5513642" cy="7478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4646"/>
              </a:lnSpc>
              <a:buNone/>
            </a:pPr>
            <a:r>
              <a:rPr lang="en-US" sz="2025" b="1" dirty="0">
                <a:solidFill>
                  <a:srgbClr val="2B1216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Wire </a:t>
            </a:r>
            <a:pPr algn="l" indent="0" marL="0">
              <a:lnSpc>
                <a:spcPct val="114646"/>
              </a:lnSpc>
              <a:buNone/>
            </a:pPr>
            <a:r>
              <a:rPr lang="en-US" sz="2025" dirty="0">
                <a:solidFill>
                  <a:srgbClr val="523236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is the Arduino I²C library: it drives the bus as controller</a:t>
            </a:r>
            <a:endParaRPr lang="en-US" sz="2025" dirty="0"/>
          </a:p>
        </p:txBody>
      </p:sp>
      <p:sp>
        <p:nvSpPr>
          <p:cNvPr id="13" name="Shape 11"/>
          <p:cNvSpPr/>
          <p:nvPr/>
        </p:nvSpPr>
        <p:spPr>
          <a:xfrm>
            <a:off x="2286000" y="3517702"/>
            <a:ext cx="133350" cy="133350"/>
          </a:xfrm>
          <a:prstGeom prst="ellipse">
            <a:avLst/>
          </a:prstGeom>
          <a:solidFill>
            <a:srgbClr val="FF6F59"/>
          </a:solidFill>
          <a:ln/>
        </p:spPr>
      </p:sp>
      <p:sp>
        <p:nvSpPr>
          <p:cNvPr id="14" name="Text 12"/>
          <p:cNvSpPr/>
          <p:nvPr/>
        </p:nvSpPr>
        <p:spPr>
          <a:xfrm>
            <a:off x="2609850" y="3403402"/>
            <a:ext cx="5513642" cy="7478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4646"/>
              </a:lnSpc>
              <a:buNone/>
            </a:pPr>
            <a:r>
              <a:rPr lang="en-US" sz="2025" b="1" dirty="0">
                <a:solidFill>
                  <a:srgbClr val="2B1216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SDA </a:t>
            </a:r>
            <a:pPr algn="l" indent="0" marL="0">
              <a:lnSpc>
                <a:spcPct val="114646"/>
              </a:lnSpc>
              <a:buNone/>
            </a:pPr>
            <a:r>
              <a:rPr lang="en-US" sz="2025" dirty="0">
                <a:solidFill>
                  <a:srgbClr val="523236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and </a:t>
            </a:r>
            <a:pPr algn="l" indent="0" marL="0">
              <a:lnSpc>
                <a:spcPct val="114646"/>
              </a:lnSpc>
              <a:buNone/>
            </a:pPr>
            <a:r>
              <a:rPr lang="en-US" sz="2025" b="1" dirty="0">
                <a:solidFill>
                  <a:srgbClr val="2B1216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SCL </a:t>
            </a:r>
            <a:pPr algn="l" indent="0" marL="0">
              <a:lnSpc>
                <a:spcPct val="114646"/>
              </a:lnSpc>
              <a:buNone/>
            </a:pPr>
            <a:r>
              <a:rPr lang="en-US" sz="2025" dirty="0">
                <a:solidFill>
                  <a:srgbClr val="523236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on the Pico: GP4 and GP5 by default (Arduino-Pico core)</a:t>
            </a:r>
            <a:endParaRPr lang="en-US" sz="2025" dirty="0"/>
          </a:p>
        </p:txBody>
      </p:sp>
      <p:sp>
        <p:nvSpPr>
          <p:cNvPr id="15" name="Shape 13"/>
          <p:cNvSpPr/>
          <p:nvPr/>
        </p:nvSpPr>
        <p:spPr>
          <a:xfrm>
            <a:off x="2286000" y="4437013"/>
            <a:ext cx="133350" cy="133350"/>
          </a:xfrm>
          <a:prstGeom prst="ellipse">
            <a:avLst/>
          </a:prstGeom>
          <a:solidFill>
            <a:srgbClr val="FF6F59"/>
          </a:solidFill>
          <a:ln/>
        </p:spPr>
      </p:sp>
      <p:sp>
        <p:nvSpPr>
          <p:cNvPr id="16" name="Text 14"/>
          <p:cNvSpPr/>
          <p:nvPr/>
        </p:nvSpPr>
        <p:spPr>
          <a:xfrm>
            <a:off x="2609850" y="4322713"/>
            <a:ext cx="4504916" cy="39298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4646"/>
              </a:lnSpc>
              <a:buNone/>
            </a:pPr>
            <a:r>
              <a:rPr lang="en-US" sz="2025" b="1" dirty="0">
                <a:solidFill>
                  <a:srgbClr val="2B1216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0x70 </a:t>
            </a:r>
            <a:pPr algn="l" indent="0" marL="0">
              <a:lnSpc>
                <a:spcPct val="114646"/>
              </a:lnSpc>
              <a:buNone/>
            </a:pPr>
            <a:r>
              <a:rPr lang="en-US" sz="2025" dirty="0">
                <a:solidFill>
                  <a:srgbClr val="523236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selects the SHTC3 on the bus</a:t>
            </a:r>
            <a:endParaRPr lang="en-US" sz="2025" dirty="0"/>
          </a:p>
        </p:txBody>
      </p:sp>
      <p:sp>
        <p:nvSpPr>
          <p:cNvPr id="17" name="Shape 15"/>
          <p:cNvSpPr/>
          <p:nvPr/>
        </p:nvSpPr>
        <p:spPr>
          <a:xfrm>
            <a:off x="2286000" y="5001444"/>
            <a:ext cx="133350" cy="133350"/>
          </a:xfrm>
          <a:prstGeom prst="ellipse">
            <a:avLst/>
          </a:prstGeom>
          <a:solidFill>
            <a:srgbClr val="FF6F59"/>
          </a:solidFill>
          <a:ln/>
        </p:spPr>
      </p:sp>
      <p:sp>
        <p:nvSpPr>
          <p:cNvPr id="18" name="Text 16"/>
          <p:cNvSpPr/>
          <p:nvPr/>
        </p:nvSpPr>
        <p:spPr>
          <a:xfrm>
            <a:off x="2609850" y="4887144"/>
            <a:ext cx="5513642" cy="110274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4646"/>
              </a:lnSpc>
              <a:buNone/>
            </a:pPr>
            <a:r>
              <a:rPr lang="en-US" sz="2025" dirty="0">
                <a:solidFill>
                  <a:srgbClr val="523236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The SHTC3 has no temperature register: a write command starts the measurement, then we read 2 bytes</a:t>
            </a:r>
            <a:endParaRPr lang="en-US" sz="2025" dirty="0"/>
          </a:p>
        </p:txBody>
      </p:sp>
      <p:sp>
        <p:nvSpPr>
          <p:cNvPr id="19" name="Shape 17"/>
          <p:cNvSpPr/>
          <p:nvPr/>
        </p:nvSpPr>
        <p:spPr>
          <a:xfrm>
            <a:off x="2286000" y="7167860"/>
            <a:ext cx="5676900" cy="1738015"/>
          </a:xfrm>
          <a:prstGeom prst="roundRect">
            <a:avLst>
              <a:gd name="adj" fmla="val 6576"/>
            </a:avLst>
          </a:prstGeom>
          <a:solidFill>
            <a:srgbClr val="FCEEE4"/>
          </a:solidFill>
          <a:ln/>
        </p:spPr>
      </p:sp>
      <p:sp>
        <p:nvSpPr>
          <p:cNvPr id="20" name="Text 18"/>
          <p:cNvSpPr/>
          <p:nvPr/>
        </p:nvSpPr>
        <p:spPr>
          <a:xfrm>
            <a:off x="2533650" y="7377410"/>
            <a:ext cx="5699760" cy="3535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4207"/>
              </a:lnSpc>
              <a:buNone/>
            </a:pPr>
            <a:r>
              <a:rPr lang="en-US" sz="1800" b="1" spc="288" kern="0" dirty="0">
                <a:solidFill>
                  <a:srgbClr val="B81D35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SERIAL MONITOR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2533650" y="7750001"/>
            <a:ext cx="5337048" cy="98442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5143"/>
              </a:lnSpc>
              <a:buNone/>
            </a:pPr>
            <a:r>
              <a:rPr lang="en-US" sz="1800" dirty="0">
                <a:solidFill>
                  <a:srgbClr val="2B121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23.71 23.74 23.70</a:t>
            </a:r>
            <a:endParaRPr lang="en-US" sz="1800" dirty="0"/>
          </a:p>
        </p:txBody>
      </p:sp>
      <p:sp>
        <p:nvSpPr>
          <p:cNvPr id="22" name="Shape 20"/>
          <p:cNvSpPr/>
          <p:nvPr/>
        </p:nvSpPr>
        <p:spPr>
          <a:xfrm>
            <a:off x="8572500" y="2484090"/>
            <a:ext cx="8572500" cy="6421785"/>
          </a:xfrm>
          <a:prstGeom prst="roundRect">
            <a:avLst>
              <a:gd name="adj" fmla="val 2373"/>
            </a:avLst>
          </a:prstGeom>
          <a:solidFill>
            <a:srgbClr val="2B1216"/>
          </a:solidFill>
          <a:ln/>
        </p:spPr>
      </p:sp>
      <p:sp>
        <p:nvSpPr>
          <p:cNvPr id="23" name="Text 21"/>
          <p:cNvSpPr/>
          <p:nvPr/>
        </p:nvSpPr>
        <p:spPr>
          <a:xfrm>
            <a:off x="8877300" y="2674590"/>
            <a:ext cx="8201787" cy="348928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lnSpc>
                <a:spcPct val="103619"/>
              </a:lnSpc>
              <a:buNone/>
            </a:pPr>
            <a:r>
              <a:rPr lang="en-US" sz="1800" dirty="0">
                <a:solidFill>
                  <a:srgbClr val="FF6F5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#include</a:t>
            </a:r>
            <a:pPr algn="l" indent="0" marL="0">
              <a:lnSpc>
                <a:spcPct val="103619"/>
              </a:lnSpc>
              <a:buNone/>
            </a:pPr>
            <a:r>
              <a:rPr lang="en-US" sz="1800" dirty="0">
                <a:solidFill>
                  <a:srgbClr val="FFF8F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&lt;Wire.h&gt;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8877300" y="2985418"/>
            <a:ext cx="8201787" cy="348928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lnSpc>
                <a:spcPct val="103619"/>
              </a:lnSpc>
              <a:buNone/>
            </a:pPr>
            <a:r>
              <a:rPr lang="en-US" sz="1800" dirty="0">
                <a:solidFill>
                  <a:srgbClr val="FF6F5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const</a:t>
            </a:r>
            <a:pPr algn="l" indent="0" marL="0">
              <a:lnSpc>
                <a:spcPct val="103619"/>
              </a:lnSpc>
              <a:buNone/>
            </a:pPr>
            <a:r>
              <a:rPr lang="en-US" sz="1800" dirty="0">
                <a:solidFill>
                  <a:srgbClr val="FFF8F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uint8_t ADDR = </a:t>
            </a:r>
            <a:pPr algn="l" indent="0" marL="0">
              <a:lnSpc>
                <a:spcPct val="103619"/>
              </a:lnSpc>
              <a:buNone/>
            </a:pPr>
            <a:r>
              <a:rPr lang="en-US" sz="1800" dirty="0">
                <a:solidFill>
                  <a:srgbClr val="FF9E2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0x70</a:t>
            </a:r>
            <a:pPr algn="l" indent="0" marL="0">
              <a:lnSpc>
                <a:spcPct val="103619"/>
              </a:lnSpc>
              <a:buNone/>
            </a:pPr>
            <a:r>
              <a:rPr lang="en-US" sz="1800" dirty="0">
                <a:solidFill>
                  <a:srgbClr val="FFF8F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;  </a:t>
            </a:r>
            <a:pPr algn="l" indent="0" marL="0">
              <a:lnSpc>
                <a:spcPct val="103619"/>
              </a:lnSpc>
              <a:buNone/>
            </a:pPr>
            <a:r>
              <a:rPr lang="en-US" sz="1800" dirty="0">
                <a:solidFill>
                  <a:srgbClr val="7D616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// SHTC3 address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8877300" y="3410545"/>
            <a:ext cx="8201787" cy="348928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lnSpc>
                <a:spcPct val="103619"/>
              </a:lnSpc>
              <a:buNone/>
            </a:pPr>
            <a:r>
              <a:rPr lang="en-US" sz="1800" dirty="0">
                <a:solidFill>
                  <a:srgbClr val="FF6F5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void</a:t>
            </a:r>
            <a:pPr algn="l" indent="0" marL="0">
              <a:lnSpc>
                <a:spcPct val="103619"/>
              </a:lnSpc>
              <a:buNone/>
            </a:pPr>
            <a:r>
              <a:rPr lang="en-US" sz="1800" dirty="0">
                <a:solidFill>
                  <a:srgbClr val="FFF8F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cmd(uint16_t c) {  </a:t>
            </a:r>
            <a:pPr algn="l" indent="0" marL="0">
              <a:lnSpc>
                <a:spcPct val="103619"/>
              </a:lnSpc>
              <a:buNone/>
            </a:pPr>
            <a:r>
              <a:rPr lang="en-US" sz="1800" dirty="0">
                <a:solidFill>
                  <a:srgbClr val="7D616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// 16-bit command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8877300" y="3721373"/>
            <a:ext cx="8201787" cy="348928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lnSpc>
                <a:spcPct val="103619"/>
              </a:lnSpc>
              <a:buNone/>
            </a:pPr>
            <a:r>
              <a:rPr lang="en-US" sz="1800" dirty="0">
                <a:solidFill>
                  <a:srgbClr val="FFF8F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Wire.beginTransmission(ADDR);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8877300" y="4032200"/>
            <a:ext cx="8201787" cy="348928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lnSpc>
                <a:spcPct val="103619"/>
              </a:lnSpc>
              <a:buNone/>
            </a:pPr>
            <a:r>
              <a:rPr lang="en-US" sz="1800" dirty="0">
                <a:solidFill>
                  <a:srgbClr val="FFF8F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Wire.write(c &gt;&gt; </a:t>
            </a:r>
            <a:pPr algn="l" indent="0" marL="0">
              <a:lnSpc>
                <a:spcPct val="103619"/>
              </a:lnSpc>
              <a:buNone/>
            </a:pPr>
            <a:r>
              <a:rPr lang="en-US" sz="1800" dirty="0">
                <a:solidFill>
                  <a:srgbClr val="FF9E2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8</a:t>
            </a:r>
            <a:pPr algn="l" indent="0" marL="0">
              <a:lnSpc>
                <a:spcPct val="103619"/>
              </a:lnSpc>
              <a:buNone/>
            </a:pPr>
            <a:r>
              <a:rPr lang="en-US" sz="1800" dirty="0">
                <a:solidFill>
                  <a:srgbClr val="FFF8F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); Wire.write(c &amp; </a:t>
            </a:r>
            <a:pPr algn="l" indent="0" marL="0">
              <a:lnSpc>
                <a:spcPct val="103619"/>
              </a:lnSpc>
              <a:buNone/>
            </a:pPr>
            <a:r>
              <a:rPr lang="en-US" sz="1800" dirty="0">
                <a:solidFill>
                  <a:srgbClr val="FF9E2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0xFF</a:t>
            </a:r>
            <a:pPr algn="l" indent="0" marL="0">
              <a:lnSpc>
                <a:spcPct val="103619"/>
              </a:lnSpc>
              <a:buNone/>
            </a:pPr>
            <a:r>
              <a:rPr lang="en-US" sz="1800" dirty="0">
                <a:solidFill>
                  <a:srgbClr val="FFF8F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);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8877300" y="4343028"/>
            <a:ext cx="8201787" cy="348928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lnSpc>
                <a:spcPct val="103619"/>
              </a:lnSpc>
              <a:buNone/>
            </a:pPr>
            <a:r>
              <a:rPr lang="en-US" sz="1800" dirty="0">
                <a:solidFill>
                  <a:srgbClr val="FFF8F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Wire.endTransmission();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8877300" y="4653855"/>
            <a:ext cx="8201787" cy="348928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lnSpc>
                <a:spcPct val="103619"/>
              </a:lnSpc>
              <a:buNone/>
            </a:pPr>
            <a:r>
              <a:rPr lang="en-US" sz="1800" dirty="0">
                <a:solidFill>
                  <a:srgbClr val="FFF8F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}</a:t>
            </a:r>
            <a:endParaRPr lang="en-US" sz="1800" dirty="0"/>
          </a:p>
        </p:txBody>
      </p:sp>
      <p:sp>
        <p:nvSpPr>
          <p:cNvPr id="30" name="Text 28"/>
          <p:cNvSpPr/>
          <p:nvPr/>
        </p:nvSpPr>
        <p:spPr>
          <a:xfrm>
            <a:off x="8877300" y="5078983"/>
            <a:ext cx="8201787" cy="348928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lnSpc>
                <a:spcPct val="103619"/>
              </a:lnSpc>
              <a:buNone/>
            </a:pPr>
            <a:r>
              <a:rPr lang="en-US" sz="1800" dirty="0">
                <a:solidFill>
                  <a:srgbClr val="FF6F5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void</a:t>
            </a:r>
            <a:pPr algn="l" indent="0" marL="0">
              <a:lnSpc>
                <a:spcPct val="103619"/>
              </a:lnSpc>
              <a:buNone/>
            </a:pPr>
            <a:r>
              <a:rPr lang="en-US" sz="1800" dirty="0">
                <a:solidFill>
                  <a:srgbClr val="FFF8F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setup() { Serial.begin(</a:t>
            </a:r>
            <a:pPr algn="l" indent="0" marL="0">
              <a:lnSpc>
                <a:spcPct val="103619"/>
              </a:lnSpc>
              <a:buNone/>
            </a:pPr>
            <a:r>
              <a:rPr lang="en-US" sz="1800" dirty="0">
                <a:solidFill>
                  <a:srgbClr val="FF9E2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115200</a:t>
            </a:r>
            <a:pPr algn="l" indent="0" marL="0">
              <a:lnSpc>
                <a:spcPct val="103619"/>
              </a:lnSpc>
              <a:buNone/>
            </a:pPr>
            <a:r>
              <a:rPr lang="en-US" sz="1800" dirty="0">
                <a:solidFill>
                  <a:srgbClr val="FFF8F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); Wire.begin(); }</a:t>
            </a:r>
            <a:endParaRPr lang="en-US" sz="1800" dirty="0"/>
          </a:p>
        </p:txBody>
      </p:sp>
      <p:sp>
        <p:nvSpPr>
          <p:cNvPr id="31" name="Text 29"/>
          <p:cNvSpPr/>
          <p:nvPr/>
        </p:nvSpPr>
        <p:spPr>
          <a:xfrm>
            <a:off x="8877300" y="5504111"/>
            <a:ext cx="8201787" cy="348928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lnSpc>
                <a:spcPct val="103619"/>
              </a:lnSpc>
              <a:buNone/>
            </a:pPr>
            <a:r>
              <a:rPr lang="en-US" sz="1800" dirty="0">
                <a:solidFill>
                  <a:srgbClr val="FF6F5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void</a:t>
            </a:r>
            <a:pPr algn="l" indent="0" marL="0">
              <a:lnSpc>
                <a:spcPct val="103619"/>
              </a:lnSpc>
              <a:buNone/>
            </a:pPr>
            <a:r>
              <a:rPr lang="en-US" sz="1800" dirty="0">
                <a:solidFill>
                  <a:srgbClr val="FFF8F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loop() {</a:t>
            </a:r>
            <a:endParaRPr lang="en-US" sz="1800" dirty="0"/>
          </a:p>
        </p:txBody>
      </p:sp>
      <p:sp>
        <p:nvSpPr>
          <p:cNvPr id="32" name="Text 30"/>
          <p:cNvSpPr/>
          <p:nvPr/>
        </p:nvSpPr>
        <p:spPr>
          <a:xfrm>
            <a:off x="8877300" y="5814938"/>
            <a:ext cx="8201787" cy="348928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lnSpc>
                <a:spcPct val="103619"/>
              </a:lnSpc>
              <a:buNone/>
            </a:pPr>
            <a:r>
              <a:rPr lang="en-US" sz="1800" dirty="0">
                <a:solidFill>
                  <a:srgbClr val="FFF8F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cmd(</a:t>
            </a:r>
            <a:pPr algn="l" indent="0" marL="0">
              <a:lnSpc>
                <a:spcPct val="103619"/>
              </a:lnSpc>
              <a:buNone/>
            </a:pPr>
            <a:r>
              <a:rPr lang="en-US" sz="1800" dirty="0">
                <a:solidFill>
                  <a:srgbClr val="FF9E2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0x3517</a:t>
            </a:r>
            <a:pPr algn="l" indent="0" marL="0">
              <a:lnSpc>
                <a:spcPct val="103619"/>
              </a:lnSpc>
              <a:buNone/>
            </a:pPr>
            <a:r>
              <a:rPr lang="en-US" sz="1800" dirty="0">
                <a:solidFill>
                  <a:srgbClr val="FFF8F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); delay(</a:t>
            </a:r>
            <a:pPr algn="l" indent="0" marL="0">
              <a:lnSpc>
                <a:spcPct val="103619"/>
              </a:lnSpc>
              <a:buNone/>
            </a:pPr>
            <a:r>
              <a:rPr lang="en-US" sz="1800" dirty="0">
                <a:solidFill>
                  <a:srgbClr val="FF9E2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</a:t>
            </a:r>
            <a:pPr algn="l" indent="0" marL="0">
              <a:lnSpc>
                <a:spcPct val="103619"/>
              </a:lnSpc>
              <a:buNone/>
            </a:pPr>
            <a:r>
              <a:rPr lang="en-US" sz="1800" dirty="0">
                <a:solidFill>
                  <a:srgbClr val="FFF8F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);  </a:t>
            </a:r>
            <a:pPr algn="l" indent="0" marL="0">
              <a:lnSpc>
                <a:spcPct val="103619"/>
              </a:lnSpc>
              <a:buNone/>
            </a:pPr>
            <a:r>
              <a:rPr lang="en-US" sz="1800" dirty="0">
                <a:solidFill>
                  <a:srgbClr val="7D616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// wake up</a:t>
            </a:r>
            <a:endParaRPr lang="en-US" sz="1800" dirty="0"/>
          </a:p>
        </p:txBody>
      </p:sp>
      <p:sp>
        <p:nvSpPr>
          <p:cNvPr id="33" name="Text 31"/>
          <p:cNvSpPr/>
          <p:nvPr/>
        </p:nvSpPr>
        <p:spPr>
          <a:xfrm>
            <a:off x="8877300" y="6125766"/>
            <a:ext cx="8201787" cy="348928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lnSpc>
                <a:spcPct val="103619"/>
              </a:lnSpc>
              <a:buNone/>
            </a:pPr>
            <a:r>
              <a:rPr lang="en-US" sz="1800" dirty="0">
                <a:solidFill>
                  <a:srgbClr val="FFF8F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cmd(</a:t>
            </a:r>
            <a:pPr algn="l" indent="0" marL="0">
              <a:lnSpc>
                <a:spcPct val="103619"/>
              </a:lnSpc>
              <a:buNone/>
            </a:pPr>
            <a:r>
              <a:rPr lang="en-US" sz="1800" dirty="0">
                <a:solidFill>
                  <a:srgbClr val="FF9E2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0x7866</a:t>
            </a:r>
            <a:pPr algn="l" indent="0" marL="0">
              <a:lnSpc>
                <a:spcPct val="103619"/>
              </a:lnSpc>
              <a:buNone/>
            </a:pPr>
            <a:r>
              <a:rPr lang="en-US" sz="1800" dirty="0">
                <a:solidFill>
                  <a:srgbClr val="FFF8F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); delay(</a:t>
            </a:r>
            <a:pPr algn="l" indent="0" marL="0">
              <a:lnSpc>
                <a:spcPct val="103619"/>
              </a:lnSpc>
              <a:buNone/>
            </a:pPr>
            <a:r>
              <a:rPr lang="en-US" sz="1800" dirty="0">
                <a:solidFill>
                  <a:srgbClr val="FF9E2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13</a:t>
            </a:r>
            <a:pPr algn="l" indent="0" marL="0">
              <a:lnSpc>
                <a:spcPct val="103619"/>
              </a:lnSpc>
              <a:buNone/>
            </a:pPr>
            <a:r>
              <a:rPr lang="en-US" sz="1800" dirty="0">
                <a:solidFill>
                  <a:srgbClr val="FFF8F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);  </a:t>
            </a:r>
            <a:pPr algn="l" indent="0" marL="0">
              <a:lnSpc>
                <a:spcPct val="103619"/>
              </a:lnSpc>
              <a:buNone/>
            </a:pPr>
            <a:r>
              <a:rPr lang="en-US" sz="1800" dirty="0">
                <a:solidFill>
                  <a:srgbClr val="7D616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// measure, T first</a:t>
            </a:r>
            <a:endParaRPr lang="en-US" sz="1800" dirty="0"/>
          </a:p>
        </p:txBody>
      </p:sp>
      <p:sp>
        <p:nvSpPr>
          <p:cNvPr id="34" name="Text 32"/>
          <p:cNvSpPr/>
          <p:nvPr/>
        </p:nvSpPr>
        <p:spPr>
          <a:xfrm>
            <a:off x="8877300" y="6436593"/>
            <a:ext cx="8201787" cy="348928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lnSpc>
                <a:spcPct val="103619"/>
              </a:lnSpc>
              <a:buNone/>
            </a:pPr>
            <a:r>
              <a:rPr lang="en-US" sz="1800" dirty="0">
                <a:solidFill>
                  <a:srgbClr val="FFF8F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Wire.requestFrom(ADDR, </a:t>
            </a:r>
            <a:pPr algn="l" indent="0" marL="0">
              <a:lnSpc>
                <a:spcPct val="103619"/>
              </a:lnSpc>
              <a:buNone/>
            </a:pPr>
            <a:r>
              <a:rPr lang="en-US" sz="1800" dirty="0">
                <a:solidFill>
                  <a:srgbClr val="FF9E2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2</a:t>
            </a:r>
            <a:pPr algn="l" indent="0" marL="0">
              <a:lnSpc>
                <a:spcPct val="103619"/>
              </a:lnSpc>
              <a:buNone/>
            </a:pPr>
            <a:r>
              <a:rPr lang="en-US" sz="1800" dirty="0">
                <a:solidFill>
                  <a:srgbClr val="FFF8F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);  </a:t>
            </a:r>
            <a:pPr algn="l" indent="0" marL="0">
              <a:lnSpc>
                <a:spcPct val="103619"/>
              </a:lnSpc>
              <a:buNone/>
            </a:pPr>
            <a:r>
              <a:rPr lang="en-US" sz="1800" dirty="0">
                <a:solidFill>
                  <a:srgbClr val="7D616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// read T MSB, LSB</a:t>
            </a:r>
            <a:endParaRPr lang="en-US" sz="1800" dirty="0"/>
          </a:p>
        </p:txBody>
      </p:sp>
      <p:sp>
        <p:nvSpPr>
          <p:cNvPr id="35" name="Text 33"/>
          <p:cNvSpPr/>
          <p:nvPr/>
        </p:nvSpPr>
        <p:spPr>
          <a:xfrm>
            <a:off x="8877300" y="6747421"/>
            <a:ext cx="8201787" cy="348928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lnSpc>
                <a:spcPct val="103619"/>
              </a:lnSpc>
              <a:buNone/>
            </a:pPr>
            <a:r>
              <a:rPr lang="en-US" sz="1800" dirty="0">
                <a:solidFill>
                  <a:srgbClr val="FFF8F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uint16_t raw = Wire.read() &lt;&lt; </a:t>
            </a:r>
            <a:pPr algn="l" indent="0" marL="0">
              <a:lnSpc>
                <a:spcPct val="103619"/>
              </a:lnSpc>
              <a:buNone/>
            </a:pPr>
            <a:r>
              <a:rPr lang="en-US" sz="1800" dirty="0">
                <a:solidFill>
                  <a:srgbClr val="FF9E2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8</a:t>
            </a:r>
            <a:pPr algn="l" indent="0" marL="0">
              <a:lnSpc>
                <a:spcPct val="103619"/>
              </a:lnSpc>
              <a:buNone/>
            </a:pPr>
            <a:r>
              <a:rPr lang="en-US" sz="1800" dirty="0">
                <a:solidFill>
                  <a:srgbClr val="FFF8F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| Wire.read();</a:t>
            </a:r>
            <a:endParaRPr lang="en-US" sz="1800" dirty="0"/>
          </a:p>
        </p:txBody>
      </p:sp>
      <p:sp>
        <p:nvSpPr>
          <p:cNvPr id="36" name="Text 34"/>
          <p:cNvSpPr/>
          <p:nvPr/>
        </p:nvSpPr>
        <p:spPr>
          <a:xfrm>
            <a:off x="8877300" y="7058248"/>
            <a:ext cx="8201787" cy="348928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lnSpc>
                <a:spcPct val="103619"/>
              </a:lnSpc>
              <a:buNone/>
            </a:pPr>
            <a:r>
              <a:rPr lang="en-US" sz="1800" dirty="0">
                <a:solidFill>
                  <a:srgbClr val="FFF8F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cmd(</a:t>
            </a:r>
            <a:pPr algn="l" indent="0" marL="0">
              <a:lnSpc>
                <a:spcPct val="103619"/>
              </a:lnSpc>
              <a:buNone/>
            </a:pPr>
            <a:r>
              <a:rPr lang="en-US" sz="1800" dirty="0">
                <a:solidFill>
                  <a:srgbClr val="FF9E2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0xB098</a:t>
            </a:r>
            <a:pPr algn="l" indent="0" marL="0">
              <a:lnSpc>
                <a:spcPct val="103619"/>
              </a:lnSpc>
              <a:buNone/>
            </a:pPr>
            <a:r>
              <a:rPr lang="en-US" sz="1800" dirty="0">
                <a:solidFill>
                  <a:srgbClr val="FFF8F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);  </a:t>
            </a:r>
            <a:pPr algn="l" indent="0" marL="0">
              <a:lnSpc>
                <a:spcPct val="103619"/>
              </a:lnSpc>
              <a:buNone/>
            </a:pPr>
            <a:r>
              <a:rPr lang="en-US" sz="1800" dirty="0">
                <a:solidFill>
                  <a:srgbClr val="7D616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// sleep</a:t>
            </a:r>
            <a:endParaRPr lang="en-US" sz="1800" dirty="0"/>
          </a:p>
        </p:txBody>
      </p:sp>
      <p:sp>
        <p:nvSpPr>
          <p:cNvPr id="37" name="Text 35"/>
          <p:cNvSpPr/>
          <p:nvPr/>
        </p:nvSpPr>
        <p:spPr>
          <a:xfrm>
            <a:off x="8877300" y="7369076"/>
            <a:ext cx="8201787" cy="348928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lnSpc>
                <a:spcPct val="103619"/>
              </a:lnSpc>
              <a:buNone/>
            </a:pPr>
            <a:r>
              <a:rPr lang="en-US" sz="1800" dirty="0">
                <a:solidFill>
                  <a:srgbClr val="FFF8F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Serial.println(</a:t>
            </a:r>
            <a:pPr algn="l" indent="0" marL="0">
              <a:lnSpc>
                <a:spcPct val="103619"/>
              </a:lnSpc>
              <a:buNone/>
            </a:pPr>
            <a:r>
              <a:rPr lang="en-US" sz="1800" dirty="0">
                <a:solidFill>
                  <a:srgbClr val="FF9E2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-45</a:t>
            </a:r>
            <a:pPr algn="l" indent="0" marL="0">
              <a:lnSpc>
                <a:spcPct val="103619"/>
              </a:lnSpc>
              <a:buNone/>
            </a:pPr>
            <a:r>
              <a:rPr lang="en-US" sz="1800" dirty="0">
                <a:solidFill>
                  <a:srgbClr val="FFF8F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+ </a:t>
            </a:r>
            <a:pPr algn="l" indent="0" marL="0">
              <a:lnSpc>
                <a:spcPct val="103619"/>
              </a:lnSpc>
              <a:buNone/>
            </a:pPr>
            <a:r>
              <a:rPr lang="en-US" sz="1800" dirty="0">
                <a:solidFill>
                  <a:srgbClr val="FF9E2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175.0</a:t>
            </a:r>
            <a:pPr algn="l" indent="0" marL="0">
              <a:lnSpc>
                <a:spcPct val="103619"/>
              </a:lnSpc>
              <a:buNone/>
            </a:pPr>
            <a:r>
              <a:rPr lang="en-US" sz="1800" dirty="0">
                <a:solidFill>
                  <a:srgbClr val="FFF8F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* raw / </a:t>
            </a:r>
            <a:pPr algn="l" indent="0" marL="0">
              <a:lnSpc>
                <a:spcPct val="103619"/>
              </a:lnSpc>
              <a:buNone/>
            </a:pPr>
            <a:r>
              <a:rPr lang="en-US" sz="1800" dirty="0">
                <a:solidFill>
                  <a:srgbClr val="FF9E2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65536</a:t>
            </a:r>
            <a:pPr algn="l" indent="0" marL="0">
              <a:lnSpc>
                <a:spcPct val="103619"/>
              </a:lnSpc>
              <a:buNone/>
            </a:pPr>
            <a:r>
              <a:rPr lang="en-US" sz="1800" dirty="0">
                <a:solidFill>
                  <a:srgbClr val="FFF8F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);</a:t>
            </a:r>
            <a:endParaRPr lang="en-US" sz="1800" dirty="0"/>
          </a:p>
        </p:txBody>
      </p:sp>
      <p:sp>
        <p:nvSpPr>
          <p:cNvPr id="38" name="Text 36"/>
          <p:cNvSpPr/>
          <p:nvPr/>
        </p:nvSpPr>
        <p:spPr>
          <a:xfrm>
            <a:off x="8877300" y="7679903"/>
            <a:ext cx="8201787" cy="348928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lnSpc>
                <a:spcPct val="103619"/>
              </a:lnSpc>
              <a:buNone/>
            </a:pPr>
            <a:r>
              <a:rPr lang="en-US" sz="1800" dirty="0">
                <a:solidFill>
                  <a:srgbClr val="FFF8F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delay(</a:t>
            </a:r>
            <a:pPr algn="l" indent="0" marL="0">
              <a:lnSpc>
                <a:spcPct val="103619"/>
              </a:lnSpc>
              <a:buNone/>
            </a:pPr>
            <a:r>
              <a:rPr lang="en-US" sz="1800" dirty="0">
                <a:solidFill>
                  <a:srgbClr val="FF9E2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1000</a:t>
            </a:r>
            <a:pPr algn="l" indent="0" marL="0">
              <a:lnSpc>
                <a:spcPct val="103619"/>
              </a:lnSpc>
              <a:buNone/>
            </a:pPr>
            <a:r>
              <a:rPr lang="en-US" sz="1800" dirty="0">
                <a:solidFill>
                  <a:srgbClr val="FFF8F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);</a:t>
            </a:r>
            <a:endParaRPr lang="en-US" sz="1800" dirty="0"/>
          </a:p>
        </p:txBody>
      </p:sp>
      <p:sp>
        <p:nvSpPr>
          <p:cNvPr id="39" name="Text 37"/>
          <p:cNvSpPr/>
          <p:nvPr/>
        </p:nvSpPr>
        <p:spPr>
          <a:xfrm>
            <a:off x="8877300" y="7990731"/>
            <a:ext cx="8201787" cy="348928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lnSpc>
                <a:spcPct val="103619"/>
              </a:lnSpc>
              <a:buNone/>
            </a:pPr>
            <a:r>
              <a:rPr lang="en-US" sz="1800" dirty="0">
                <a:solidFill>
                  <a:srgbClr val="FFF8F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}</a:t>
            </a:r>
            <a:endParaRPr lang="en-US" sz="1800" dirty="0"/>
          </a:p>
        </p:txBody>
      </p:sp>
      <p:sp>
        <p:nvSpPr>
          <p:cNvPr id="40" name="Text 38"/>
          <p:cNvSpPr/>
          <p:nvPr/>
        </p:nvSpPr>
        <p:spPr>
          <a:xfrm>
            <a:off x="2286000" y="9096375"/>
            <a:ext cx="16344900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7D6164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Command 0x7866: normal mode, temperature first, no clock stretching. CRC not checked here. Source: SHTC3 datasheet, sections 5.3–5.11.</a:t>
            </a:r>
            <a:endParaRPr lang="en-US" sz="18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8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" cy="10287000"/>
          </a:xfrm>
          <a:prstGeom prst="rect">
            <a:avLst/>
          </a:prstGeom>
          <a:solidFill>
            <a:srgbClr val="D7263D"/>
          </a:solidFill>
          <a:ln/>
        </p:spPr>
      </p:sp>
      <p:sp>
        <p:nvSpPr>
          <p:cNvPr id="3" name="Text 1"/>
          <p:cNvSpPr/>
          <p:nvPr/>
        </p:nvSpPr>
        <p:spPr>
          <a:xfrm>
            <a:off x="341412" y="609600"/>
            <a:ext cx="612502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3019"/>
              </a:lnSpc>
              <a:buNone/>
            </a:pPr>
            <a:r>
              <a:rPr lang="en-US" sz="3300" b="1" dirty="0">
                <a:solidFill>
                  <a:srgbClr val="FFF8F2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06</a:t>
            </a:r>
            <a:endParaRPr lang="en-US" sz="3300" dirty="0"/>
          </a:p>
        </p:txBody>
      </p:sp>
      <p:sp>
        <p:nvSpPr>
          <p:cNvPr id="4" name="Text 2"/>
          <p:cNvSpPr/>
          <p:nvPr/>
        </p:nvSpPr>
        <p:spPr>
          <a:xfrm rot="10800000">
            <a:off x="471488" y="1409700"/>
            <a:ext cx="352425" cy="463451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 vert="eaVert">
            <a:normAutofit/>
          </a:bodyPr>
          <a:lstStyle/>
          <a:p>
            <a:pPr algn="l" indent="0" marL="0">
              <a:buNone/>
            </a:pPr>
            <a:r>
              <a:rPr lang="en-US" sz="1800" b="1" spc="288" kern="0" dirty="0">
                <a:solidFill>
                  <a:srgbClr val="FFD9D2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I²C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419100" y="8767763"/>
            <a:ext cx="381000" cy="381000"/>
          </a:xfrm>
          <a:prstGeom prst="ellipse">
            <a:avLst/>
          </a:prstGeom>
          <a:solidFill>
            <a:srgbClr val="FF6F59"/>
          </a:solidFill>
          <a:ln/>
        </p:spPr>
      </p:sp>
      <p:sp>
        <p:nvSpPr>
          <p:cNvPr id="6" name="Text 4"/>
          <p:cNvSpPr/>
          <p:nvPr/>
        </p:nvSpPr>
        <p:spPr>
          <a:xfrm>
            <a:off x="472380" y="9453563"/>
            <a:ext cx="350565" cy="3381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FFF8F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30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17240250" y="-1047750"/>
            <a:ext cx="2095500" cy="2095500"/>
          </a:xfrm>
          <a:prstGeom prst="ellipse">
            <a:avLst/>
          </a:prstGeom>
          <a:solidFill>
            <a:srgbClr val="FF6F59"/>
          </a:solidFill>
          <a:ln/>
        </p:spPr>
      </p:sp>
      <p:sp>
        <p:nvSpPr>
          <p:cNvPr id="8" name="Shape 6"/>
          <p:cNvSpPr/>
          <p:nvPr/>
        </p:nvSpPr>
        <p:spPr>
          <a:xfrm>
            <a:off x="2286000" y="1052513"/>
            <a:ext cx="152400" cy="152400"/>
          </a:xfrm>
          <a:prstGeom prst="ellipse">
            <a:avLst/>
          </a:prstGeom>
          <a:solidFill>
            <a:srgbClr val="FF6F59"/>
          </a:solidFill>
          <a:ln/>
        </p:spPr>
      </p:sp>
      <p:sp>
        <p:nvSpPr>
          <p:cNvPr id="9" name="Text 7"/>
          <p:cNvSpPr/>
          <p:nvPr/>
        </p:nvSpPr>
        <p:spPr>
          <a:xfrm>
            <a:off x="2590800" y="990600"/>
            <a:ext cx="1681802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288" kern="0" dirty="0">
                <a:solidFill>
                  <a:srgbClr val="B81D35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BUS SPEED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2286000" y="1495425"/>
            <a:ext cx="15716250" cy="79816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7692"/>
              </a:lnSpc>
              <a:buNone/>
            </a:pPr>
            <a:r>
              <a:rPr lang="en-US" sz="5700" b="1" spc="-171" kern="0" dirty="0">
                <a:solidFill>
                  <a:srgbClr val="2B1216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Bus speed sets a theoretical ceiling</a:t>
            </a:r>
            <a:endParaRPr lang="en-US" sz="5700" dirty="0"/>
          </a:p>
        </p:txBody>
      </p:sp>
      <p:sp>
        <p:nvSpPr>
          <p:cNvPr id="11" name="Shape 9"/>
          <p:cNvSpPr/>
          <p:nvPr/>
        </p:nvSpPr>
        <p:spPr>
          <a:xfrm>
            <a:off x="2286000" y="2712690"/>
            <a:ext cx="4698950" cy="3581400"/>
          </a:xfrm>
          <a:prstGeom prst="roundRect">
            <a:avLst>
              <a:gd name="adj" fmla="val 4255"/>
            </a:avLst>
          </a:prstGeom>
          <a:ln w="28575">
            <a:solidFill>
              <a:srgbClr val="2B121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619375" y="3046065"/>
            <a:ext cx="4435420" cy="4476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2B1216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Standard mode</a:t>
            </a:r>
            <a:endParaRPr lang="en-US" sz="2700" dirty="0"/>
          </a:p>
        </p:txBody>
      </p:sp>
      <p:sp>
        <p:nvSpPr>
          <p:cNvPr id="13" name="Text 11"/>
          <p:cNvSpPr/>
          <p:nvPr/>
        </p:nvSpPr>
        <p:spPr>
          <a:xfrm>
            <a:off x="2619375" y="3588990"/>
            <a:ext cx="4435420" cy="800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3333"/>
              </a:lnSpc>
              <a:buNone/>
            </a:pPr>
            <a:r>
              <a:rPr lang="en-US" sz="6000" b="1" spc="-180" kern="0" dirty="0">
                <a:solidFill>
                  <a:srgbClr val="D7263D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100 kHz</a:t>
            </a:r>
            <a:endParaRPr lang="en-US" sz="6000" dirty="0"/>
          </a:p>
        </p:txBody>
      </p:sp>
      <p:sp>
        <p:nvSpPr>
          <p:cNvPr id="14" name="Text 12"/>
          <p:cNvSpPr/>
          <p:nvPr/>
        </p:nvSpPr>
        <p:spPr>
          <a:xfrm>
            <a:off x="2619375" y="4484340"/>
            <a:ext cx="4435420" cy="3381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52323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≈ 1.5 ms on the bus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2619375" y="4917728"/>
            <a:ext cx="4032200" cy="19050"/>
          </a:xfrm>
          <a:prstGeom prst="rect">
            <a:avLst/>
          </a:prstGeom>
          <a:solidFill>
            <a:srgbClr val="EBD6CB"/>
          </a:solidFill>
          <a:ln/>
        </p:spPr>
      </p:sp>
      <p:sp>
        <p:nvSpPr>
          <p:cNvPr id="16" name="Text 14"/>
          <p:cNvSpPr/>
          <p:nvPr/>
        </p:nvSpPr>
        <p:spPr>
          <a:xfrm>
            <a:off x="2619375" y="5070128"/>
            <a:ext cx="4435420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3478"/>
              </a:lnSpc>
              <a:buNone/>
            </a:pPr>
            <a:r>
              <a:rPr lang="en-US" sz="3600" b="1" dirty="0">
                <a:solidFill>
                  <a:srgbClr val="2B1216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~650</a:t>
            </a:r>
            <a:endParaRPr lang="en-US" sz="3600" dirty="0"/>
          </a:p>
        </p:txBody>
      </p:sp>
      <p:sp>
        <p:nvSpPr>
          <p:cNvPr id="17" name="Text 15"/>
          <p:cNvSpPr/>
          <p:nvPr/>
        </p:nvSpPr>
        <p:spPr>
          <a:xfrm>
            <a:off x="2619375" y="5660678"/>
            <a:ext cx="4435420" cy="3381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7D616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measurements / s, bus limit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7365950" y="2712690"/>
            <a:ext cx="4699025" cy="3581400"/>
          </a:xfrm>
          <a:prstGeom prst="roundRect">
            <a:avLst>
              <a:gd name="adj" fmla="val 4255"/>
            </a:avLst>
          </a:prstGeom>
          <a:ln w="28575">
            <a:solidFill>
              <a:srgbClr val="2B121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699325" y="3046065"/>
            <a:ext cx="4435502" cy="4476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2B1216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Fast mode</a:t>
            </a:r>
            <a:endParaRPr lang="en-US" sz="2700" dirty="0"/>
          </a:p>
        </p:txBody>
      </p:sp>
      <p:sp>
        <p:nvSpPr>
          <p:cNvPr id="20" name="Text 18"/>
          <p:cNvSpPr/>
          <p:nvPr/>
        </p:nvSpPr>
        <p:spPr>
          <a:xfrm>
            <a:off x="7699325" y="3588990"/>
            <a:ext cx="4435502" cy="800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3333"/>
              </a:lnSpc>
              <a:buNone/>
            </a:pPr>
            <a:r>
              <a:rPr lang="en-US" sz="6000" b="1" spc="-180" kern="0" dirty="0">
                <a:solidFill>
                  <a:srgbClr val="D7263D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400 kHz</a:t>
            </a:r>
            <a:endParaRPr lang="en-US" sz="6000" dirty="0"/>
          </a:p>
        </p:txBody>
      </p:sp>
      <p:sp>
        <p:nvSpPr>
          <p:cNvPr id="21" name="Text 19"/>
          <p:cNvSpPr/>
          <p:nvPr/>
        </p:nvSpPr>
        <p:spPr>
          <a:xfrm>
            <a:off x="7699325" y="4484340"/>
            <a:ext cx="4435502" cy="3381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52323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≈ 0.39 ms on the bus</a:t>
            </a:r>
            <a:endParaRPr lang="en-US" sz="1800" dirty="0"/>
          </a:p>
        </p:txBody>
      </p:sp>
      <p:sp>
        <p:nvSpPr>
          <p:cNvPr id="22" name="Shape 20"/>
          <p:cNvSpPr/>
          <p:nvPr/>
        </p:nvSpPr>
        <p:spPr>
          <a:xfrm>
            <a:off x="7699325" y="4917728"/>
            <a:ext cx="4032275" cy="19050"/>
          </a:xfrm>
          <a:prstGeom prst="rect">
            <a:avLst/>
          </a:prstGeom>
          <a:solidFill>
            <a:srgbClr val="EBD6CB"/>
          </a:solidFill>
          <a:ln/>
        </p:spPr>
      </p:sp>
      <p:sp>
        <p:nvSpPr>
          <p:cNvPr id="23" name="Text 21"/>
          <p:cNvSpPr/>
          <p:nvPr/>
        </p:nvSpPr>
        <p:spPr>
          <a:xfrm>
            <a:off x="7699325" y="5070128"/>
            <a:ext cx="4435502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3478"/>
              </a:lnSpc>
              <a:buNone/>
            </a:pPr>
            <a:r>
              <a:rPr lang="en-US" sz="3600" b="1" dirty="0">
                <a:solidFill>
                  <a:srgbClr val="2B1216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~2 600</a:t>
            </a:r>
            <a:endParaRPr lang="en-US" sz="3600" dirty="0"/>
          </a:p>
        </p:txBody>
      </p:sp>
      <p:sp>
        <p:nvSpPr>
          <p:cNvPr id="24" name="Text 22"/>
          <p:cNvSpPr/>
          <p:nvPr/>
        </p:nvSpPr>
        <p:spPr>
          <a:xfrm>
            <a:off x="7699325" y="5660678"/>
            <a:ext cx="4435502" cy="3381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7D616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measurements / s, bus limit</a:t>
            </a:r>
            <a:endParaRPr lang="en-US" sz="1800" dirty="0"/>
          </a:p>
        </p:txBody>
      </p:sp>
      <p:sp>
        <p:nvSpPr>
          <p:cNvPr id="25" name="Shape 23"/>
          <p:cNvSpPr/>
          <p:nvPr/>
        </p:nvSpPr>
        <p:spPr>
          <a:xfrm>
            <a:off x="12445975" y="2712690"/>
            <a:ext cx="4699025" cy="3581400"/>
          </a:xfrm>
          <a:prstGeom prst="roundRect">
            <a:avLst>
              <a:gd name="adj" fmla="val 4255"/>
            </a:avLst>
          </a:prstGeom>
          <a:ln w="28575">
            <a:solidFill>
              <a:srgbClr val="2B121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2779350" y="3046065"/>
            <a:ext cx="4435502" cy="4476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2B1216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Fast mode plus</a:t>
            </a:r>
            <a:endParaRPr lang="en-US" sz="2700" dirty="0"/>
          </a:p>
        </p:txBody>
      </p:sp>
      <p:sp>
        <p:nvSpPr>
          <p:cNvPr id="27" name="Text 25"/>
          <p:cNvSpPr/>
          <p:nvPr/>
        </p:nvSpPr>
        <p:spPr>
          <a:xfrm>
            <a:off x="12779350" y="3588990"/>
            <a:ext cx="4435502" cy="800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3333"/>
              </a:lnSpc>
              <a:buNone/>
            </a:pPr>
            <a:r>
              <a:rPr lang="en-US" sz="6000" b="1" spc="-180" kern="0" dirty="0">
                <a:solidFill>
                  <a:srgbClr val="D7263D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1 MHz</a:t>
            </a:r>
            <a:endParaRPr lang="en-US" sz="6000" dirty="0"/>
          </a:p>
        </p:txBody>
      </p:sp>
      <p:sp>
        <p:nvSpPr>
          <p:cNvPr id="28" name="Text 26"/>
          <p:cNvSpPr/>
          <p:nvPr/>
        </p:nvSpPr>
        <p:spPr>
          <a:xfrm>
            <a:off x="12779350" y="4484340"/>
            <a:ext cx="4435502" cy="3381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52323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≈ 0.15 ms on the bus</a:t>
            </a:r>
            <a:endParaRPr lang="en-US" sz="1800" dirty="0"/>
          </a:p>
        </p:txBody>
      </p:sp>
      <p:sp>
        <p:nvSpPr>
          <p:cNvPr id="29" name="Shape 27"/>
          <p:cNvSpPr/>
          <p:nvPr/>
        </p:nvSpPr>
        <p:spPr>
          <a:xfrm>
            <a:off x="12779350" y="4917728"/>
            <a:ext cx="4032275" cy="19050"/>
          </a:xfrm>
          <a:prstGeom prst="rect">
            <a:avLst/>
          </a:prstGeom>
          <a:solidFill>
            <a:srgbClr val="EBD6CB"/>
          </a:solidFill>
          <a:ln/>
        </p:spPr>
      </p:sp>
      <p:sp>
        <p:nvSpPr>
          <p:cNvPr id="30" name="Text 28"/>
          <p:cNvSpPr/>
          <p:nvPr/>
        </p:nvSpPr>
        <p:spPr>
          <a:xfrm>
            <a:off x="12779350" y="5070128"/>
            <a:ext cx="4435502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3478"/>
              </a:lnSpc>
              <a:buNone/>
            </a:pPr>
            <a:r>
              <a:rPr lang="en-US" sz="3600" b="1" dirty="0">
                <a:solidFill>
                  <a:srgbClr val="2B1216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~6 500</a:t>
            </a:r>
            <a:endParaRPr lang="en-US" sz="3600" dirty="0"/>
          </a:p>
        </p:txBody>
      </p:sp>
      <p:sp>
        <p:nvSpPr>
          <p:cNvPr id="31" name="Text 29"/>
          <p:cNvSpPr/>
          <p:nvPr/>
        </p:nvSpPr>
        <p:spPr>
          <a:xfrm>
            <a:off x="12779350" y="5660678"/>
            <a:ext cx="4435502" cy="3381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7D616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measurements / s, bus limit</a:t>
            </a:r>
            <a:endParaRPr lang="en-US" sz="1800" dirty="0"/>
          </a:p>
        </p:txBody>
      </p:sp>
      <p:sp>
        <p:nvSpPr>
          <p:cNvPr id="32" name="Shape 30"/>
          <p:cNvSpPr/>
          <p:nvPr/>
        </p:nvSpPr>
        <p:spPr>
          <a:xfrm>
            <a:off x="2286000" y="8284220"/>
            <a:ext cx="152400" cy="152400"/>
          </a:xfrm>
          <a:prstGeom prst="ellipse">
            <a:avLst/>
          </a:prstGeom>
          <a:solidFill>
            <a:srgbClr val="FF6F59"/>
          </a:solidFill>
          <a:ln/>
        </p:spPr>
      </p:sp>
      <p:sp>
        <p:nvSpPr>
          <p:cNvPr id="33" name="Text 31"/>
          <p:cNvSpPr/>
          <p:nvPr/>
        </p:nvSpPr>
        <p:spPr>
          <a:xfrm>
            <a:off x="2667000" y="8169920"/>
            <a:ext cx="6828282" cy="77405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5343"/>
              </a:lnSpc>
              <a:buNone/>
            </a:pPr>
            <a:r>
              <a:rPr lang="en-US" sz="2100" dirty="0">
                <a:solidFill>
                  <a:srgbClr val="523236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One SHTC3 measurement ≈ 154 clock cycles: 4 exchanges, address, commands, 6 data bytes, ACK bits</a:t>
            </a:r>
            <a:endParaRPr lang="en-US" sz="2100" dirty="0"/>
          </a:p>
        </p:txBody>
      </p:sp>
      <p:sp>
        <p:nvSpPr>
          <p:cNvPr id="34" name="Shape 32"/>
          <p:cNvSpPr/>
          <p:nvPr/>
        </p:nvSpPr>
        <p:spPr>
          <a:xfrm>
            <a:off x="10134600" y="8284220"/>
            <a:ext cx="152400" cy="152400"/>
          </a:xfrm>
          <a:prstGeom prst="ellipse">
            <a:avLst/>
          </a:prstGeom>
          <a:solidFill>
            <a:srgbClr val="FF6F59"/>
          </a:solidFill>
          <a:ln/>
        </p:spPr>
      </p:sp>
      <p:sp>
        <p:nvSpPr>
          <p:cNvPr id="35" name="Text 33"/>
          <p:cNvSpPr/>
          <p:nvPr/>
        </p:nvSpPr>
        <p:spPr>
          <a:xfrm>
            <a:off x="10515600" y="8169920"/>
            <a:ext cx="6828282" cy="77405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5343"/>
              </a:lnSpc>
              <a:buNone/>
            </a:pPr>
            <a:r>
              <a:rPr lang="en-US" sz="2100" dirty="0">
                <a:solidFill>
                  <a:srgbClr val="523236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Max rate ≈ SCL frequency ÷ bits exchanged per measurement</a:t>
            </a:r>
            <a:endParaRPr lang="en-US" sz="2100" dirty="0"/>
          </a:p>
        </p:txBody>
      </p:sp>
      <p:sp>
        <p:nvSpPr>
          <p:cNvPr id="36" name="Text 34"/>
          <p:cNvSpPr/>
          <p:nvPr/>
        </p:nvSpPr>
        <p:spPr>
          <a:xfrm>
            <a:off x="2286000" y="9096375"/>
            <a:ext cx="16344900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7D6164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Bit count from SHTC3 datasheet Figure 7; speeds from Table 6. Bus time only: waiting for the sensor is not included.</a:t>
            </a:r>
            <a:endParaRPr lang="en-US" sz="18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FF8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" cy="10287000"/>
          </a:xfrm>
          <a:prstGeom prst="rect">
            <a:avLst/>
          </a:prstGeom>
          <a:solidFill>
            <a:srgbClr val="D7263D"/>
          </a:solidFill>
          <a:ln/>
        </p:spPr>
      </p:sp>
      <p:sp>
        <p:nvSpPr>
          <p:cNvPr id="3" name="Text 1"/>
          <p:cNvSpPr/>
          <p:nvPr/>
        </p:nvSpPr>
        <p:spPr>
          <a:xfrm>
            <a:off x="341412" y="609600"/>
            <a:ext cx="612502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3019"/>
              </a:lnSpc>
              <a:buNone/>
            </a:pPr>
            <a:r>
              <a:rPr lang="en-US" sz="3300" b="1" dirty="0">
                <a:solidFill>
                  <a:srgbClr val="FFF8F2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06</a:t>
            </a:r>
            <a:endParaRPr lang="en-US" sz="3300" dirty="0"/>
          </a:p>
        </p:txBody>
      </p:sp>
      <p:sp>
        <p:nvSpPr>
          <p:cNvPr id="4" name="Text 2"/>
          <p:cNvSpPr/>
          <p:nvPr/>
        </p:nvSpPr>
        <p:spPr>
          <a:xfrm rot="10800000">
            <a:off x="471488" y="1409700"/>
            <a:ext cx="352425" cy="463451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 vert="eaVert">
            <a:normAutofit/>
          </a:bodyPr>
          <a:lstStyle/>
          <a:p>
            <a:pPr algn="l" indent="0" marL="0">
              <a:buNone/>
            </a:pPr>
            <a:r>
              <a:rPr lang="en-US" sz="1800" b="1" spc="288" kern="0" dirty="0">
                <a:solidFill>
                  <a:srgbClr val="FFD9D2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I²C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419100" y="8767763"/>
            <a:ext cx="381000" cy="381000"/>
          </a:xfrm>
          <a:prstGeom prst="ellipse">
            <a:avLst/>
          </a:prstGeom>
          <a:solidFill>
            <a:srgbClr val="FF6F59"/>
          </a:solidFill>
          <a:ln/>
        </p:spPr>
      </p:sp>
      <p:sp>
        <p:nvSpPr>
          <p:cNvPr id="6" name="Text 4"/>
          <p:cNvSpPr/>
          <p:nvPr/>
        </p:nvSpPr>
        <p:spPr>
          <a:xfrm>
            <a:off x="472380" y="9453563"/>
            <a:ext cx="350565" cy="3381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FFF8F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31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17240250" y="-1047750"/>
            <a:ext cx="2095500" cy="2095500"/>
          </a:xfrm>
          <a:prstGeom prst="ellipse">
            <a:avLst/>
          </a:prstGeom>
          <a:solidFill>
            <a:srgbClr val="FF6F59"/>
          </a:solidFill>
          <a:ln/>
        </p:spPr>
      </p:sp>
      <p:sp>
        <p:nvSpPr>
          <p:cNvPr id="8" name="Shape 6"/>
          <p:cNvSpPr/>
          <p:nvPr/>
        </p:nvSpPr>
        <p:spPr>
          <a:xfrm>
            <a:off x="2286000" y="1052513"/>
            <a:ext cx="152400" cy="152400"/>
          </a:xfrm>
          <a:prstGeom prst="ellipse">
            <a:avLst/>
          </a:prstGeom>
          <a:solidFill>
            <a:srgbClr val="FF6F59"/>
          </a:solidFill>
          <a:ln/>
        </p:spPr>
      </p:sp>
      <p:sp>
        <p:nvSpPr>
          <p:cNvPr id="9" name="Text 7"/>
          <p:cNvSpPr/>
          <p:nvPr/>
        </p:nvSpPr>
        <p:spPr>
          <a:xfrm>
            <a:off x="2590800" y="990600"/>
            <a:ext cx="1990070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288" kern="0" dirty="0">
                <a:solidFill>
                  <a:srgbClr val="B81D35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IN PRACTICE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2286000" y="1495425"/>
            <a:ext cx="15716250" cy="79816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7692"/>
              </a:lnSpc>
              <a:buNone/>
            </a:pPr>
            <a:r>
              <a:rPr lang="en-US" sz="5700" b="1" spc="-171" kern="0" dirty="0">
                <a:solidFill>
                  <a:srgbClr val="2B1216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The sensor, not the bus, sets the pace</a:t>
            </a:r>
            <a:endParaRPr lang="en-US" sz="5700" dirty="0"/>
          </a:p>
        </p:txBody>
      </p:sp>
      <p:sp>
        <p:nvSpPr>
          <p:cNvPr id="11" name="Text 9"/>
          <p:cNvSpPr/>
          <p:nvPr/>
        </p:nvSpPr>
        <p:spPr>
          <a:xfrm>
            <a:off x="2286000" y="2484090"/>
            <a:ext cx="13735050" cy="8800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7805"/>
              </a:lnSpc>
              <a:buNone/>
            </a:pPr>
            <a:r>
              <a:rPr lang="en-US" sz="2550" dirty="0">
                <a:solidFill>
                  <a:srgbClr val="2B1216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At 400 kHz, the bus alone would allow ~2 600 measurements/s. But each measurement also waits for the sensor.</a:t>
            </a:r>
            <a:endParaRPr lang="en-US" sz="2550" dirty="0"/>
          </a:p>
        </p:txBody>
      </p:sp>
      <p:sp>
        <p:nvSpPr>
          <p:cNvPr id="12" name="Text 10"/>
          <p:cNvSpPr/>
          <p:nvPr/>
        </p:nvSpPr>
        <p:spPr>
          <a:xfrm>
            <a:off x="2286000" y="4091360"/>
            <a:ext cx="3143250" cy="3885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5584"/>
              </a:lnSpc>
              <a:buNone/>
            </a:pPr>
            <a:r>
              <a:rPr lang="en-US" sz="2400" b="1" dirty="0">
                <a:solidFill>
                  <a:srgbClr val="2B1216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Normal mode</a:t>
            </a:r>
            <a:endParaRPr lang="en-US" sz="2400" dirty="0"/>
          </a:p>
        </p:txBody>
      </p:sp>
      <p:sp>
        <p:nvSpPr>
          <p:cNvPr id="13" name="Shape 11"/>
          <p:cNvSpPr/>
          <p:nvPr/>
        </p:nvSpPr>
        <p:spPr>
          <a:xfrm>
            <a:off x="5448300" y="3961805"/>
            <a:ext cx="1619250" cy="609600"/>
          </a:xfrm>
          <a:prstGeom prst="rect">
            <a:avLst/>
          </a:prstGeom>
          <a:solidFill>
            <a:srgbClr val="FCEEE4"/>
          </a:solidFill>
          <a:ln/>
        </p:spPr>
      </p:sp>
      <p:sp>
        <p:nvSpPr>
          <p:cNvPr id="14" name="Text 12"/>
          <p:cNvSpPr/>
          <p:nvPr/>
        </p:nvSpPr>
        <p:spPr>
          <a:xfrm>
            <a:off x="5410200" y="3961805"/>
            <a:ext cx="1695450" cy="64770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800" dirty="0">
                <a:solidFill>
                  <a:srgbClr val="2B121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wake 0.24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7105650" y="3961805"/>
            <a:ext cx="1619250" cy="609600"/>
          </a:xfrm>
          <a:prstGeom prst="rect">
            <a:avLst/>
          </a:prstGeom>
          <a:solidFill>
            <a:srgbClr val="2B1216"/>
          </a:solidFill>
          <a:ln/>
        </p:spPr>
      </p:sp>
      <p:sp>
        <p:nvSpPr>
          <p:cNvPr id="16" name="Text 14"/>
          <p:cNvSpPr/>
          <p:nvPr/>
        </p:nvSpPr>
        <p:spPr>
          <a:xfrm>
            <a:off x="7067550" y="3961805"/>
            <a:ext cx="1695450" cy="64770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8F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bus 0.39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8763000" y="3961805"/>
            <a:ext cx="5219700" cy="609600"/>
          </a:xfrm>
          <a:prstGeom prst="rect">
            <a:avLst/>
          </a:prstGeom>
          <a:solidFill>
            <a:srgbClr val="D7263D"/>
          </a:solidFill>
          <a:ln/>
        </p:spPr>
      </p:sp>
      <p:sp>
        <p:nvSpPr>
          <p:cNvPr id="18" name="Text 16"/>
          <p:cNvSpPr/>
          <p:nvPr/>
        </p:nvSpPr>
        <p:spPr>
          <a:xfrm>
            <a:off x="8896350" y="3961805"/>
            <a:ext cx="5109591" cy="64770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FFF8F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measure 12.1 ms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4287500" y="3859411"/>
            <a:ext cx="3143250" cy="533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3200"/>
              </a:lnSpc>
              <a:buNone/>
            </a:pPr>
            <a:r>
              <a:rPr lang="en-US" sz="3900" b="1" dirty="0">
                <a:solidFill>
                  <a:srgbClr val="D7263D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~80 /s</a:t>
            </a:r>
            <a:endParaRPr lang="en-US" sz="3900" dirty="0"/>
          </a:p>
        </p:txBody>
      </p:sp>
      <p:sp>
        <p:nvSpPr>
          <p:cNvPr id="20" name="Text 18"/>
          <p:cNvSpPr/>
          <p:nvPr/>
        </p:nvSpPr>
        <p:spPr>
          <a:xfrm>
            <a:off x="14287500" y="4373761"/>
            <a:ext cx="3143250" cy="3381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7D616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12.7 ms each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2286000" y="5286747"/>
            <a:ext cx="3143250" cy="3885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5584"/>
              </a:lnSpc>
              <a:buNone/>
            </a:pPr>
            <a:r>
              <a:rPr lang="en-US" sz="2400" b="1" dirty="0">
                <a:solidFill>
                  <a:srgbClr val="2B1216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Low-power mode</a:t>
            </a:r>
            <a:endParaRPr lang="en-US" sz="2400" dirty="0"/>
          </a:p>
        </p:txBody>
      </p:sp>
      <p:sp>
        <p:nvSpPr>
          <p:cNvPr id="22" name="Shape 20"/>
          <p:cNvSpPr/>
          <p:nvPr/>
        </p:nvSpPr>
        <p:spPr>
          <a:xfrm>
            <a:off x="5448300" y="5157192"/>
            <a:ext cx="1619250" cy="609600"/>
          </a:xfrm>
          <a:prstGeom prst="rect">
            <a:avLst/>
          </a:prstGeom>
          <a:solidFill>
            <a:srgbClr val="FCEEE4"/>
          </a:solidFill>
          <a:ln/>
        </p:spPr>
      </p:sp>
      <p:sp>
        <p:nvSpPr>
          <p:cNvPr id="23" name="Text 21"/>
          <p:cNvSpPr/>
          <p:nvPr/>
        </p:nvSpPr>
        <p:spPr>
          <a:xfrm>
            <a:off x="5410200" y="5157192"/>
            <a:ext cx="1695450" cy="64770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800" dirty="0">
                <a:solidFill>
                  <a:srgbClr val="2B121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wake 0.24</a:t>
            </a:r>
            <a:endParaRPr lang="en-US" sz="1800" dirty="0"/>
          </a:p>
        </p:txBody>
      </p:sp>
      <p:sp>
        <p:nvSpPr>
          <p:cNvPr id="24" name="Shape 22"/>
          <p:cNvSpPr/>
          <p:nvPr/>
        </p:nvSpPr>
        <p:spPr>
          <a:xfrm>
            <a:off x="7105650" y="5157192"/>
            <a:ext cx="1619250" cy="609600"/>
          </a:xfrm>
          <a:prstGeom prst="rect">
            <a:avLst/>
          </a:prstGeom>
          <a:solidFill>
            <a:srgbClr val="2B1216"/>
          </a:solidFill>
          <a:ln/>
        </p:spPr>
      </p:sp>
      <p:sp>
        <p:nvSpPr>
          <p:cNvPr id="25" name="Text 23"/>
          <p:cNvSpPr/>
          <p:nvPr/>
        </p:nvSpPr>
        <p:spPr>
          <a:xfrm>
            <a:off x="7067550" y="5157192"/>
            <a:ext cx="1695450" cy="64770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8F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bus 0.39</a:t>
            </a:r>
            <a:endParaRPr lang="en-US" sz="1800" dirty="0"/>
          </a:p>
        </p:txBody>
      </p:sp>
      <p:sp>
        <p:nvSpPr>
          <p:cNvPr id="26" name="Shape 24"/>
          <p:cNvSpPr/>
          <p:nvPr/>
        </p:nvSpPr>
        <p:spPr>
          <a:xfrm>
            <a:off x="8763000" y="5157192"/>
            <a:ext cx="2476500" cy="609600"/>
          </a:xfrm>
          <a:prstGeom prst="rect">
            <a:avLst/>
          </a:prstGeom>
          <a:solidFill>
            <a:srgbClr val="D7263D"/>
          </a:solidFill>
          <a:ln/>
        </p:spPr>
      </p:sp>
      <p:sp>
        <p:nvSpPr>
          <p:cNvPr id="27" name="Text 25"/>
          <p:cNvSpPr/>
          <p:nvPr/>
        </p:nvSpPr>
        <p:spPr>
          <a:xfrm>
            <a:off x="8724900" y="5157192"/>
            <a:ext cx="2552700" cy="64770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8F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measure 0.8 ms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14287500" y="5054798"/>
            <a:ext cx="3143250" cy="533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3200"/>
              </a:lnSpc>
              <a:buNone/>
            </a:pPr>
            <a:r>
              <a:rPr lang="en-US" sz="3900" b="1" dirty="0">
                <a:solidFill>
                  <a:srgbClr val="D7263D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~700 /s</a:t>
            </a:r>
            <a:endParaRPr lang="en-US" sz="3900" dirty="0"/>
          </a:p>
        </p:txBody>
      </p:sp>
      <p:sp>
        <p:nvSpPr>
          <p:cNvPr id="29" name="Text 27"/>
          <p:cNvSpPr/>
          <p:nvPr/>
        </p:nvSpPr>
        <p:spPr>
          <a:xfrm>
            <a:off x="14287500" y="5569148"/>
            <a:ext cx="3143250" cy="3381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7D616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1.4 ms each</a:t>
            </a:r>
            <a:endParaRPr lang="en-US" sz="1800" dirty="0"/>
          </a:p>
        </p:txBody>
      </p:sp>
      <p:sp>
        <p:nvSpPr>
          <p:cNvPr id="30" name="Shape 28"/>
          <p:cNvSpPr/>
          <p:nvPr/>
        </p:nvSpPr>
        <p:spPr>
          <a:xfrm>
            <a:off x="5448300" y="6133505"/>
            <a:ext cx="228600" cy="228600"/>
          </a:xfrm>
          <a:prstGeom prst="rect">
            <a:avLst/>
          </a:prstGeom>
          <a:solidFill>
            <a:srgbClr val="2B1216"/>
          </a:solidFill>
          <a:ln/>
        </p:spPr>
      </p:sp>
      <p:sp>
        <p:nvSpPr>
          <p:cNvPr id="31" name="Text 29"/>
          <p:cNvSpPr/>
          <p:nvPr/>
        </p:nvSpPr>
        <p:spPr>
          <a:xfrm>
            <a:off x="5772150" y="6097786"/>
            <a:ext cx="1722165" cy="3381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52323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I²C transfer</a:t>
            </a:r>
            <a:endParaRPr lang="en-US" sz="1800" dirty="0"/>
          </a:p>
        </p:txBody>
      </p:sp>
      <p:sp>
        <p:nvSpPr>
          <p:cNvPr id="32" name="Shape 30"/>
          <p:cNvSpPr/>
          <p:nvPr/>
        </p:nvSpPr>
        <p:spPr>
          <a:xfrm>
            <a:off x="7799115" y="6133505"/>
            <a:ext cx="228600" cy="228600"/>
          </a:xfrm>
          <a:prstGeom prst="rect">
            <a:avLst/>
          </a:prstGeom>
          <a:solidFill>
            <a:srgbClr val="D7263D"/>
          </a:solidFill>
          <a:ln/>
        </p:spPr>
      </p:sp>
      <p:sp>
        <p:nvSpPr>
          <p:cNvPr id="33" name="Text 31"/>
          <p:cNvSpPr/>
          <p:nvPr/>
        </p:nvSpPr>
        <p:spPr>
          <a:xfrm>
            <a:off x="8122965" y="6097786"/>
            <a:ext cx="2966832" cy="3381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52323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sensor busy measuring</a:t>
            </a:r>
            <a:endParaRPr lang="en-US" sz="1800" dirty="0"/>
          </a:p>
        </p:txBody>
      </p:sp>
      <p:sp>
        <p:nvSpPr>
          <p:cNvPr id="34" name="Shape 32"/>
          <p:cNvSpPr/>
          <p:nvPr/>
        </p:nvSpPr>
        <p:spPr>
          <a:xfrm>
            <a:off x="2286000" y="7846070"/>
            <a:ext cx="14859000" cy="19050"/>
          </a:xfrm>
          <a:prstGeom prst="rect">
            <a:avLst/>
          </a:prstGeom>
          <a:solidFill>
            <a:srgbClr val="EBD6CB"/>
          </a:solidFill>
          <a:ln/>
        </p:spPr>
      </p:sp>
      <p:sp>
        <p:nvSpPr>
          <p:cNvPr id="35" name="Shape 33"/>
          <p:cNvSpPr/>
          <p:nvPr/>
        </p:nvSpPr>
        <p:spPr>
          <a:xfrm>
            <a:off x="2286000" y="8284220"/>
            <a:ext cx="152400" cy="152400"/>
          </a:xfrm>
          <a:prstGeom prst="ellipse">
            <a:avLst/>
          </a:prstGeom>
          <a:solidFill>
            <a:srgbClr val="FF6F59"/>
          </a:solidFill>
          <a:ln/>
        </p:spPr>
      </p:sp>
      <p:sp>
        <p:nvSpPr>
          <p:cNvPr id="36" name="Text 34"/>
          <p:cNvSpPr/>
          <p:nvPr/>
        </p:nvSpPr>
        <p:spPr>
          <a:xfrm>
            <a:off x="2667000" y="8169920"/>
            <a:ext cx="6828282" cy="77405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5343"/>
              </a:lnSpc>
              <a:buNone/>
            </a:pPr>
            <a:r>
              <a:rPr lang="en-US" sz="2100" dirty="0">
                <a:solidFill>
                  <a:srgbClr val="523236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Several sensors share the bus: the transfer time is split between them</a:t>
            </a:r>
            <a:endParaRPr lang="en-US" sz="2100" dirty="0"/>
          </a:p>
        </p:txBody>
      </p:sp>
      <p:sp>
        <p:nvSpPr>
          <p:cNvPr id="37" name="Shape 35"/>
          <p:cNvSpPr/>
          <p:nvPr/>
        </p:nvSpPr>
        <p:spPr>
          <a:xfrm>
            <a:off x="10134600" y="8284220"/>
            <a:ext cx="152400" cy="152400"/>
          </a:xfrm>
          <a:prstGeom prst="ellipse">
            <a:avLst/>
          </a:prstGeom>
          <a:solidFill>
            <a:srgbClr val="FF6F59"/>
          </a:solidFill>
          <a:ln/>
        </p:spPr>
      </p:sp>
      <p:sp>
        <p:nvSpPr>
          <p:cNvPr id="38" name="Text 36"/>
          <p:cNvSpPr/>
          <p:nvPr/>
        </p:nvSpPr>
        <p:spPr>
          <a:xfrm>
            <a:off x="10515600" y="8169920"/>
            <a:ext cx="6828282" cy="77405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5343"/>
              </a:lnSpc>
              <a:buNone/>
            </a:pPr>
            <a:r>
              <a:rPr lang="en-US" sz="2100" dirty="0">
                <a:solidFill>
                  <a:srgbClr val="523236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While one sensor measures, the bus is free to talk to the others</a:t>
            </a:r>
            <a:endParaRPr lang="en-US" sz="2100" dirty="0"/>
          </a:p>
        </p:txBody>
      </p:sp>
      <p:sp>
        <p:nvSpPr>
          <p:cNvPr id="39" name="Text 37"/>
          <p:cNvSpPr/>
          <p:nvPr/>
        </p:nvSpPr>
        <p:spPr>
          <a:xfrm>
            <a:off x="2286000" y="9096375"/>
            <a:ext cx="16344900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7D6164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Maximum times from SHTC3 datasheet, Table 5. Bar lengths not to scale for low-power mode.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31</Slides>
  <Notes>31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31</vt:i4>
      </vt:variant>
    </vt:vector>
  </HeadingPairs>
  <TitlesOfParts>
    <vt:vector size="3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2026-10-10T12:22:01Z</dcterms:created>
  <dcterms:modified xsi:type="dcterms:W3CDTF">2026-10-10T12:22:01Z</dcterms:modified>
</cp:coreProperties>
</file>